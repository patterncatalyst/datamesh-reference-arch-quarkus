
<file path=[Content_Types].xml><?xml version="1.0" encoding="utf-8"?>
<Types xmlns="http://schemas.openxmlformats.org/package/2006/content-types">
  <Default Extension="fntdata" ContentType="application/x-fontdata"/>
  <Default Extension="png" ContentType="image/png"/>
  <Default Extension="rels" ContentType="application/vnd.openxmlformats-package.relationships+xml"/>
  <Default Extension="xml" ContentType="application/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heme/theme1.xml" ContentType="application/vnd.openxmlformats-officedocument.theme+xml"/>
  <Override PartName="/ppt/theme/theme2.xml" ContentType="application/vnd.openxmlformats-officedocument.theme+xml"/>
</Types>
</file>

<file path=_rels/.rels><?xml version='1.0' encoding='UTF-8' standalone='yes'?>
<Relationships xmlns="http://schemas.openxmlformats.org/package/2006/relationships"><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autoCompressPictures="0" embedTrueTypeFonts="1" strictFirstAndLastChars="0" saveSubsetFonts="1">
  <p:sldMasterIdLst>
    <p:sldMasterId id="2147483649" r:id="rId3"/>
  </p:sldMasterIdLst>
  <p:notesMasterIdLst>
    <p:notesMasterId r:id="rId4"/>
  </p:notesMasterIdLst>
  <p:sldIdLst>
    <p:sldId id="256" r:id="rId5"/>
    <p:sldId id="257" r:id="rId6"/>
    <p:sldId id="258" r:id="rId7"/>
    <p:sldId id="259" r:id="rId8"/>
    <p:sldId id="260" r:id="rId9"/>
    <p:sldId id="261" r:id="rId10"/>
    <p:sldId id="262" r:id="rId11"/>
    <p:sldId id="263" r:id="rId12"/>
    <p:sldId id="264" r:id="rId13"/>
    <p:sldId id="265" r:id="rId14"/>
    <p:sldId id="266" r:id="rId15"/>
    <p:sldId id="267" r:id="rId16"/>
    <p:sldId id="268" r:id="rId17"/>
    <p:sldId id="269" r:id="rId26"/>
  </p:sldIdLst>
  <p:sldSz cy="6858000" cx="12191675"/>
  <p:notesSz cx="6858000" cy="12191675"/>
  <p:embeddedFontLst>
    <p:embeddedFont>
      <p:font typeface="Overpass SemiBold"/>
      <p:regular r:id="rId18"/>
      <p:bold r:id="rId19"/>
      <p:italic r:id="rId20"/>
      <p:boldItalic r:id="rId21"/>
    </p:embeddedFont>
    <p:embeddedFont>
      <p:font typeface="Red Hat Text"/>
      <p:regular r:id="rId22"/>
      <p:bold r:id="rId23"/>
      <p:italic r:id="rId24"/>
      <p:boldItalic r:id="rId25"/>
    </p:embeddedFont>
  </p:embeddedFontLst>
  <p:defaultText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9pPr>
  </p:defaultTextStyle>
</p:presentation>
</file>

<file path=ppt/presProps.xml><?xml version="1.0" encoding="utf-8"?>
<p:presentationP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file>

<file path=ppt/_rels/presentation.xml.rels><?xml version='1.0' encoding='UTF-8' standalone='yes'?>
<Relationships xmlns="http://schemas.openxmlformats.org/package/2006/relationships"><Relationship Id="rId1" Type="http://schemas.openxmlformats.org/officeDocument/2006/relationships/theme" Target="theme/theme2.xml"/><Relationship Id="rId2" Type="http://schemas.openxmlformats.org/officeDocument/2006/relationships/presProps" Target="presProps.xml"/><Relationship Id="rId3" Type="http://schemas.openxmlformats.org/officeDocument/2006/relationships/slideMaster" Target="slideMasters/slideMaster1.xml"/><Relationship Id="rId4" Type="http://schemas.openxmlformats.org/officeDocument/2006/relationships/notesMaster" Target="notesMasters/notesMaster1.xml"/><Relationship Id="rId5" Type="http://schemas.openxmlformats.org/officeDocument/2006/relationships/slide" Target="slides/slide1.xml"/><Relationship Id="rId6" Type="http://schemas.openxmlformats.org/officeDocument/2006/relationships/slide" Target="slides/slide2.xml"/><Relationship Id="rId7" Type="http://schemas.openxmlformats.org/officeDocument/2006/relationships/slide" Target="slides/slide3.xml"/><Relationship Id="rId8" Type="http://schemas.openxmlformats.org/officeDocument/2006/relationships/slide" Target="slides/slide4.xml"/><Relationship Id="rId9" Type="http://schemas.openxmlformats.org/officeDocument/2006/relationships/slide" Target="slides/slide5.xml"/><Relationship Id="rId10" Type="http://schemas.openxmlformats.org/officeDocument/2006/relationships/slide" Target="slides/slide6.xml"/><Relationship Id="rId11" Type="http://schemas.openxmlformats.org/officeDocument/2006/relationships/slide" Target="slides/slide7.xml"/><Relationship Id="rId12" Type="http://schemas.openxmlformats.org/officeDocument/2006/relationships/slide" Target="slides/slide8.xml"/><Relationship Id="rId13" Type="http://schemas.openxmlformats.org/officeDocument/2006/relationships/slide" Target="slides/slide9.xml"/><Relationship Id="rId14" Type="http://schemas.openxmlformats.org/officeDocument/2006/relationships/slide" Target="slides/slide10.xml"/><Relationship Id="rId15" Type="http://schemas.openxmlformats.org/officeDocument/2006/relationships/slide" Target="slides/slide11.xml"/><Relationship Id="rId16" Type="http://schemas.openxmlformats.org/officeDocument/2006/relationships/slide" Target="slides/slide12.xml"/><Relationship Id="rId17" Type="http://schemas.openxmlformats.org/officeDocument/2006/relationships/slide" Target="slides/slide13.xml"/><Relationship Id="rId18" Type="http://schemas.openxmlformats.org/officeDocument/2006/relationships/font" Target="fonts/OverpassSemiBold-regular.fntdata"/><Relationship Id="rId19" Type="http://schemas.openxmlformats.org/officeDocument/2006/relationships/font" Target="fonts/OverpassSemiBold-bold.fntdata"/><Relationship Id="rId20" Type="http://schemas.openxmlformats.org/officeDocument/2006/relationships/font" Target="fonts/OverpassSemiBold-italic.fntdata"/><Relationship Id="rId21" Type="http://schemas.openxmlformats.org/officeDocument/2006/relationships/font" Target="fonts/OverpassSemiBold-boldItalic.fntdata"/><Relationship Id="rId22" Type="http://schemas.openxmlformats.org/officeDocument/2006/relationships/font" Target="fonts/RedHatText-regular.fntdata"/><Relationship Id="rId23" Type="http://schemas.openxmlformats.org/officeDocument/2006/relationships/font" Target="fonts/RedHatText-bold.fntdata"/><Relationship Id="rId24" Type="http://schemas.openxmlformats.org/officeDocument/2006/relationships/font" Target="fonts/RedHatText-italic.fntdata"/><Relationship Id="rId25" Type="http://schemas.openxmlformats.org/officeDocument/2006/relationships/font" Target="fonts/RedHatText-boldItalic.fntdata"/><Relationship Id="rId26" Type="http://schemas.openxmlformats.org/officeDocument/2006/relationships/slide" Target="slides/slide14.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1.xml"/></Relationships>
</file>

<file path=ppt/notesMasters/notesMaster1.xml><?xml version="1.0" encoding="utf-8"?>
<p:notes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chemeClr val="lt1"/>
        </a:solidFill>
      </p:bgPr>
    </p:bg>
    <p:spTree>
      <p:nvGrpSpPr>
        <p:cNvPr id="2" name="Shape 2"/>
        <p:cNvGrpSpPr/>
        <p:nvPr/>
      </p:nvGrpSpPr>
      <p:grpSpPr>
        <a:xfrm>
          <a:off x="0" y="0"/>
          <a:ext cx="0" cy="0"/>
          <a:chOff x="0" y="0"/>
          <a:chExt cx="0" cy="0"/>
        </a:xfrm>
      </p:grpSpPr>
      <p:sp>
        <p:nvSpPr>
          <p:cNvPr id="3" name="Google Shape;3;n"/>
          <p:cNvSpPr txBox="1"/>
          <p:nvPr>
            <p:ph idx="2" type="hdr"/>
          </p:nvPr>
        </p:nvSpPr>
        <p:spPr>
          <a:xfrm>
            <a:off x="0" y="0"/>
            <a:ext cx="2971800" cy="458788"/>
          </a:xfrm>
          <a:prstGeom prst="rect">
            <a:avLst/>
          </a:prstGeom>
          <a:noFill/>
          <a:ln>
            <a:noFill/>
          </a:ln>
        </p:spPr>
        <p:txBody>
          <a:bodyPr anchorCtr="0" anchor="t" bIns="45700" lIns="91425" spcFirstLastPara="1" rIns="91425" wrap="square" tIns="45700">
            <a:noAutofit/>
          </a:bodyPr>
          <a:lstStyle>
            <a:lvl1pPr lvl="0" marR="0" rtl="0" algn="l">
              <a:spcBef>
                <a:spcPts val="0"/>
              </a:spcBef>
              <a:spcAft>
                <a:spcPts val="0"/>
              </a:spcAft>
              <a:buSzPts val="1400"/>
              <a:buNone/>
              <a:defRPr b="0" i="0" sz="1200" u="none" cap="none" strike="noStrike">
                <a:solidFill>
                  <a:schemeClr val="dk1"/>
                </a:solidFill>
                <a:latin typeface="Calibri"/>
                <a:ea typeface="Calibri"/>
                <a:cs typeface="Calibri"/>
                <a:sym typeface="Calibri"/>
              </a:defRPr>
            </a:lvl1pPr>
            <a:lvl2pPr lvl="1"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2pPr>
            <a:lvl3pPr lvl="2"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3pPr>
            <a:lvl4pPr lvl="3"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4pPr>
            <a:lvl5pPr lvl="4"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5pPr>
            <a:lvl6pPr lvl="5"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6pPr>
            <a:lvl7pPr lvl="6"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7pPr>
            <a:lvl8pPr lvl="7"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8pPr>
            <a:lvl9pPr lvl="8"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9pPr>
          </a:lstStyle>
          <a:p/>
        </p:txBody>
      </p:sp>
      <p:sp>
        <p:nvSpPr>
          <p:cNvPr id="4" name="Google Shape;4;n"/>
          <p:cNvSpPr txBox="1"/>
          <p:nvPr>
            <p:ph idx="10" type="dt"/>
          </p:nvPr>
        </p:nvSpPr>
        <p:spPr>
          <a:xfrm>
            <a:off x="3884613" y="0"/>
            <a:ext cx="2971800" cy="458788"/>
          </a:xfrm>
          <a:prstGeom prst="rect">
            <a:avLst/>
          </a:prstGeom>
          <a:noFill/>
          <a:ln>
            <a:noFill/>
          </a:ln>
        </p:spPr>
        <p:txBody>
          <a:bodyPr anchorCtr="0" anchor="t" bIns="45700" lIns="91425" spcFirstLastPara="1" rIns="91425" wrap="square" tIns="45700">
            <a:noAutofit/>
          </a:bodyPr>
          <a:lstStyle>
            <a:lvl1pPr lvl="0" marR="0" rtl="0" algn="r">
              <a:spcBef>
                <a:spcPts val="0"/>
              </a:spcBef>
              <a:spcAft>
                <a:spcPts val="0"/>
              </a:spcAft>
              <a:buSzPts val="1400"/>
              <a:buNone/>
              <a:defRPr b="0" i="0" sz="1200" u="none" cap="none" strike="noStrike">
                <a:solidFill>
                  <a:schemeClr val="dk1"/>
                </a:solidFill>
                <a:latin typeface="Calibri"/>
                <a:ea typeface="Calibri"/>
                <a:cs typeface="Calibri"/>
                <a:sym typeface="Calibri"/>
              </a:defRPr>
            </a:lvl1pPr>
            <a:lvl2pPr lvl="1"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2pPr>
            <a:lvl3pPr lvl="2"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3pPr>
            <a:lvl4pPr lvl="3"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4pPr>
            <a:lvl5pPr lvl="4"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5pPr>
            <a:lvl6pPr lvl="5"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6pPr>
            <a:lvl7pPr lvl="6"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7pPr>
            <a:lvl8pPr lvl="7"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8pPr>
            <a:lvl9pPr lvl="8"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9pPr>
          </a:lstStyle>
          <a:p/>
        </p:txBody>
      </p:sp>
      <p:sp>
        <p:nvSpPr>
          <p:cNvPr id="5" name="Google Shape;5;n"/>
          <p:cNvSpPr/>
          <p:nvPr>
            <p:ph idx="3"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6" name="Google Shape;6;n"/>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lvl1pPr indent="-228600" lvl="0" marL="457200" marR="0" rtl="0" algn="l">
              <a:spcBef>
                <a:spcPts val="0"/>
              </a:spcBef>
              <a:spcAft>
                <a:spcPts val="0"/>
              </a:spcAft>
              <a:buSzPts val="1400"/>
              <a:buNone/>
              <a:defRPr b="0" i="0" sz="1200" u="none" cap="none" strike="noStrike">
                <a:solidFill>
                  <a:schemeClr val="dk1"/>
                </a:solidFill>
                <a:latin typeface="Calibri"/>
                <a:ea typeface="Calibri"/>
                <a:cs typeface="Calibri"/>
                <a:sym typeface="Calibri"/>
              </a:defRPr>
            </a:lvl1pPr>
            <a:lvl2pPr indent="-228600" lvl="1" marL="914400" marR="0" rtl="0" algn="l">
              <a:spcBef>
                <a:spcPts val="0"/>
              </a:spcBef>
              <a:spcAft>
                <a:spcPts val="0"/>
              </a:spcAft>
              <a:buSzPts val="1400"/>
              <a:buNone/>
              <a:defRPr b="0" i="0" sz="1200" u="none" cap="none" strike="noStrike">
                <a:solidFill>
                  <a:schemeClr val="dk1"/>
                </a:solidFill>
                <a:latin typeface="Calibri"/>
                <a:ea typeface="Calibri"/>
                <a:cs typeface="Calibri"/>
                <a:sym typeface="Calibri"/>
              </a:defRPr>
            </a:lvl2pPr>
            <a:lvl3pPr indent="-228600" lvl="2" marL="1371600" marR="0" rtl="0" algn="l">
              <a:spcBef>
                <a:spcPts val="0"/>
              </a:spcBef>
              <a:spcAft>
                <a:spcPts val="0"/>
              </a:spcAft>
              <a:buSzPts val="1400"/>
              <a:buNone/>
              <a:defRPr b="0" i="0" sz="1200" u="none" cap="none" strike="noStrike">
                <a:solidFill>
                  <a:schemeClr val="dk1"/>
                </a:solidFill>
                <a:latin typeface="Calibri"/>
                <a:ea typeface="Calibri"/>
                <a:cs typeface="Calibri"/>
                <a:sym typeface="Calibri"/>
              </a:defRPr>
            </a:lvl3pPr>
            <a:lvl4pPr indent="-228600" lvl="3" marL="1828800" marR="0" rtl="0" algn="l">
              <a:spcBef>
                <a:spcPts val="0"/>
              </a:spcBef>
              <a:spcAft>
                <a:spcPts val="0"/>
              </a:spcAft>
              <a:buSzPts val="1400"/>
              <a:buNone/>
              <a:defRPr b="0" i="0" sz="1200" u="none" cap="none" strike="noStrike">
                <a:solidFill>
                  <a:schemeClr val="dk1"/>
                </a:solidFill>
                <a:latin typeface="Calibri"/>
                <a:ea typeface="Calibri"/>
                <a:cs typeface="Calibri"/>
                <a:sym typeface="Calibri"/>
              </a:defRPr>
            </a:lvl4pPr>
            <a:lvl5pPr indent="-228600" lvl="4" marL="2286000" marR="0" rtl="0" algn="l">
              <a:spcBef>
                <a:spcPts val="0"/>
              </a:spcBef>
              <a:spcAft>
                <a:spcPts val="0"/>
              </a:spcAft>
              <a:buSzPts val="1400"/>
              <a:buNone/>
              <a:defRPr b="0" i="0" sz="1200" u="none" cap="none" strike="noStrike">
                <a:solidFill>
                  <a:schemeClr val="dk1"/>
                </a:solidFill>
                <a:latin typeface="Calibri"/>
                <a:ea typeface="Calibri"/>
                <a:cs typeface="Calibri"/>
                <a:sym typeface="Calibri"/>
              </a:defRPr>
            </a:lvl5pPr>
            <a:lvl6pPr indent="-228600" lvl="5" marL="2743200" marR="0" rtl="0" algn="l">
              <a:spcBef>
                <a:spcPts val="0"/>
              </a:spcBef>
              <a:spcAft>
                <a:spcPts val="0"/>
              </a:spcAft>
              <a:buSzPts val="1400"/>
              <a:buNone/>
              <a:defRPr b="0" i="0" sz="1200" u="none" cap="none" strike="noStrike">
                <a:solidFill>
                  <a:schemeClr val="dk1"/>
                </a:solidFill>
                <a:latin typeface="Calibri"/>
                <a:ea typeface="Calibri"/>
                <a:cs typeface="Calibri"/>
                <a:sym typeface="Calibri"/>
              </a:defRPr>
            </a:lvl6pPr>
            <a:lvl7pPr indent="-228600" lvl="6" marL="3200400" marR="0" rtl="0" algn="l">
              <a:spcBef>
                <a:spcPts val="0"/>
              </a:spcBef>
              <a:spcAft>
                <a:spcPts val="0"/>
              </a:spcAft>
              <a:buSzPts val="1400"/>
              <a:buNone/>
              <a:defRPr b="0" i="0" sz="1200" u="none" cap="none" strike="noStrike">
                <a:solidFill>
                  <a:schemeClr val="dk1"/>
                </a:solidFill>
                <a:latin typeface="Calibri"/>
                <a:ea typeface="Calibri"/>
                <a:cs typeface="Calibri"/>
                <a:sym typeface="Calibri"/>
              </a:defRPr>
            </a:lvl7pPr>
            <a:lvl8pPr indent="-228600" lvl="7" marL="3657600" marR="0" rtl="0" algn="l">
              <a:spcBef>
                <a:spcPts val="0"/>
              </a:spcBef>
              <a:spcAft>
                <a:spcPts val="0"/>
              </a:spcAft>
              <a:buSzPts val="1400"/>
              <a:buNone/>
              <a:defRPr b="0" i="0" sz="1200" u="none" cap="none" strike="noStrike">
                <a:solidFill>
                  <a:schemeClr val="dk1"/>
                </a:solidFill>
                <a:latin typeface="Calibri"/>
                <a:ea typeface="Calibri"/>
                <a:cs typeface="Calibri"/>
                <a:sym typeface="Calibri"/>
              </a:defRPr>
            </a:lvl8pPr>
            <a:lvl9pPr indent="-228600" lvl="8" marL="4114800" marR="0" rtl="0" algn="l">
              <a:spcBef>
                <a:spcPts val="0"/>
              </a:spcBef>
              <a:spcAft>
                <a:spcPts val="0"/>
              </a:spcAft>
              <a:buSzPts val="1400"/>
              <a:buNone/>
              <a:defRPr b="0" i="0" sz="1200" u="none" cap="none" strike="noStrike">
                <a:solidFill>
                  <a:schemeClr val="dk1"/>
                </a:solidFill>
                <a:latin typeface="Calibri"/>
                <a:ea typeface="Calibri"/>
                <a:cs typeface="Calibri"/>
                <a:sym typeface="Calibri"/>
              </a:defRPr>
            </a:lvl9pPr>
          </a:lstStyle>
          <a:p/>
        </p:txBody>
      </p:sp>
      <p:sp>
        <p:nvSpPr>
          <p:cNvPr id="7" name="Google Shape;7;n"/>
          <p:cNvSpPr txBox="1"/>
          <p:nvPr>
            <p:ph idx="11" type="ftr"/>
          </p:nvPr>
        </p:nvSpPr>
        <p:spPr>
          <a:xfrm>
            <a:off x="0" y="8685213"/>
            <a:ext cx="2971800" cy="458787"/>
          </a:xfrm>
          <a:prstGeom prst="rect">
            <a:avLst/>
          </a:prstGeom>
          <a:noFill/>
          <a:ln>
            <a:noFill/>
          </a:ln>
        </p:spPr>
        <p:txBody>
          <a:bodyPr anchorCtr="0" anchor="b" bIns="45700" lIns="91425" spcFirstLastPara="1" rIns="91425" wrap="square" tIns="45700">
            <a:noAutofit/>
          </a:bodyPr>
          <a:lstStyle>
            <a:lvl1pPr lvl="0" marR="0" rtl="0" algn="l">
              <a:spcBef>
                <a:spcPts val="0"/>
              </a:spcBef>
              <a:spcAft>
                <a:spcPts val="0"/>
              </a:spcAft>
              <a:buSzPts val="1400"/>
              <a:buNone/>
              <a:defRPr b="0" i="0" sz="1200" u="none" cap="none" strike="noStrike">
                <a:solidFill>
                  <a:schemeClr val="dk1"/>
                </a:solidFill>
                <a:latin typeface="Calibri"/>
                <a:ea typeface="Calibri"/>
                <a:cs typeface="Calibri"/>
                <a:sym typeface="Calibri"/>
              </a:defRPr>
            </a:lvl1pPr>
            <a:lvl2pPr lvl="1"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2pPr>
            <a:lvl3pPr lvl="2"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3pPr>
            <a:lvl4pPr lvl="3"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4pPr>
            <a:lvl5pPr lvl="4"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5pPr>
            <a:lvl6pPr lvl="5"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6pPr>
            <a:lvl7pPr lvl="6"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7pPr>
            <a:lvl8pPr lvl="7"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8pPr>
            <a:lvl9pPr lvl="8"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9pPr>
          </a:lstStyle>
          <a:p/>
        </p:txBody>
      </p:sp>
      <p:sp>
        <p:nvSpPr>
          <p:cNvPr id="8" name="Google Shape;8;n"/>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marR="0" rtl="0" algn="r">
              <a:spcBef>
                <a:spcPts val="0"/>
              </a:spcBef>
              <a:spcAft>
                <a:spcPts val="0"/>
              </a:spcAft>
              <a:buNone/>
            </a:pPr>
            <a:fld id="{00000000-1234-1234-1234-123412341234}" type="slidenum">
              <a:rPr b="0" i="0" lang="en-US" sz="1200" u="none" cap="none" strike="noStrike">
                <a:solidFill>
                  <a:schemeClr val="dk1"/>
                </a:solidFill>
                <a:latin typeface="Calibri"/>
                <a:ea typeface="Calibri"/>
                <a:cs typeface="Calibri"/>
                <a:sym typeface="Calibri"/>
              </a:rPr>
              <a:t>‹#›</a:t>
            </a:fld>
            <a:endParaRPr b="0" i="0" sz="1200" u="none" cap="none" strike="noStrike">
              <a:solidFill>
                <a:schemeClr val="dk1"/>
              </a:solidFill>
              <a:latin typeface="Calibri"/>
              <a:ea typeface="Calibri"/>
              <a:cs typeface="Calibri"/>
              <a:sym typeface="Calibri"/>
            </a:endParaRPr>
          </a:p>
        </p:txBody>
      </p:sp>
    </p:spTree>
  </p:cSld>
  <p:clrMap accent1="accent1" accent2="accent2" accent3="accent3" accent4="accent4" accent5="accent5" accent6="accent6" bg1="lt1" bg2="dk2" tx1="dk1" tx2="lt2" folHlink="folHlink" hlink="hlink"/>
  <p:notes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1" name="Shape 11"/>
        <p:cNvGrpSpPr/>
        <p:nvPr/>
      </p:nvGrpSpPr>
      <p:grpSpPr>
        <a:xfrm>
          <a:off x="0" y="0"/>
          <a:ext cx="0" cy="0"/>
          <a:chOff x="0" y="0"/>
          <a:chExt cx="0" cy="0"/>
        </a:xfrm>
      </p:grpSpPr>
      <p:sp>
        <p:nvSpPr>
          <p:cNvPr id="12" name="Google Shape;12;p1: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13" name="Google Shape;13;p1: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rPr lang="en-US"/>
              <a:t>Welcome. This deck makes the case for data mesh by first grounding the audience in the landscape of data architectures that came before it. We'll walk through four patterns — data pipelines, data warehouses, data lakes, and data mesh — and show what each solves, where each stalls, and why the mesh is a different kind of answer. Then we'll define data mesh precisely through Dehghani's four principles.</a:t>
            </a:r>
            <a:endParaRPr/>
          </a:p>
        </p:txBody>
      </p:sp>
      <p:sp>
        <p:nvSpPr>
          <p:cNvPr id="14" name="Google Shape;14;p1: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notesSlides/notesSlide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3" name="Shape 23"/>
        <p:cNvGrpSpPr/>
        <p:nvPr/>
      </p:nvGrpSpPr>
      <p:grpSpPr>
        <a:xfrm>
          <a:off x="0" y="0"/>
          <a:ext cx="0" cy="0"/>
          <a:chOff x="0" y="0"/>
          <a:chExt cx="0" cy="0"/>
        </a:xfrm>
      </p:grpSpPr>
      <p:sp>
        <p:nvSpPr>
          <p:cNvPr id="24" name="Google Shape;24;p2: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25" name="Google Shape;25;p2: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rPr lang="en-US"/>
              <a:t>Section 1 covers the data architecture landscape. The goal is to build the audience's understanding of why data mesh exists by walking through the patterns that came before it. Each pattern solved a real problem; the mesh is not a replacement for all of them but a response to a specific organizational scaling challenge. We'll spend enough time on each to make the mesh's value proposition concrete rather than abstract.</a:t>
            </a:r>
            <a:endParaRPr/>
          </a:p>
        </p:txBody>
      </p:sp>
      <p:sp>
        <p:nvSpPr>
          <p:cNvPr id="26" name="Google Shape;26;p2: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notesSlides/notesSlide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2" name="Shape 32"/>
        <p:cNvGrpSpPr/>
        <p:nvPr/>
      </p:nvGrpSpPr>
      <p:grpSpPr>
        <a:xfrm>
          <a:off x="0" y="0"/>
          <a:ext cx="0" cy="0"/>
          <a:chOff x="0" y="0"/>
          <a:chExt cx="0" cy="0"/>
        </a:xfrm>
      </p:grpSpPr>
      <p:sp>
        <p:nvSpPr>
          <p:cNvPr id="33" name="Google Shape;33;p3: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34" name="Google Shape;34;p3: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rPr lang="en-US"/>
              <a:t>Start with the oldest pattern. Define pipelines concretely: extract-transform-load, or extract-load-transform. The distinction matters (where does the business logic live?) but both are the same shape: linear, bespoke, point-to-point. The limitation is pipeline sprawl — and it's combinatorial. 15 sources times 5 destinations isn't 20 pipelines, it's closer to 75, each with its own schedule, transformation logic, and failure modes. Nobody owns the data in a pipeline — the pipeline is plumbing, not a product. That distinction becomes central when we get to data mesh. The sprawl is what the warehouse was designed to tame.</a:t>
            </a:r>
            <a:endParaRPr/>
          </a:p>
        </p:txBody>
      </p:sp>
      <p:sp>
        <p:nvSpPr>
          <p:cNvPr id="35" name="Google Shape;35;p3: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notesSlides/notesSlide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2" name="Shape 42"/>
        <p:cNvGrpSpPr/>
        <p:nvPr/>
      </p:nvGrpSpPr>
      <p:grpSpPr>
        <a:xfrm>
          <a:off x="0" y="0"/>
          <a:ext cx="0" cy="0"/>
          <a:chOff x="0" y="0"/>
          <a:chExt cx="0" cy="0"/>
        </a:xfrm>
      </p:grpSpPr>
      <p:sp>
        <p:nvSpPr>
          <p:cNvPr id="43" name="Google Shape;43;p4: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44" name="Google Shape;44;p4: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rPr lang="en-US"/>
              <a:t>Walk the diagram left to right. Sources on the left — CRM, ERP, logs, events — each with its own characteristics and cadence. The ETL box in the center is one pipeline, with its own transformation logic, schedule, and failure modes. Two destinations on the right. Now look at the bottom callout: pipeline sprawl. Each new source or destination doesn't just add one pipeline — it adds as many as there are things on the other side. The dashed lines show the fan-out. At organizational scale, this becomes unmanageable: nobody can see the whole picture, nobody owns the data in transit, and when something breaks at 2 a.m., the question 'whose problem is this?' rarely has a clear answer.</a:t>
            </a:r>
            <a:endParaRPr/>
          </a:p>
        </p:txBody>
      </p:sp>
      <p:sp>
        <p:nvSpPr>
          <p:cNvPr id="45" name="Google Shape;45;p4: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notesSlides/notesSlide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3" name="Shape 53"/>
        <p:cNvGrpSpPr/>
        <p:nvPr/>
      </p:nvGrpSpPr>
      <p:grpSpPr>
        <a:xfrm>
          <a:off x="0" y="0"/>
          <a:ext cx="0" cy="0"/>
          <a:chOff x="0" y="0"/>
          <a:chExt cx="0" cy="0"/>
        </a:xfrm>
      </p:grpSpPr>
      <p:sp>
        <p:nvSpPr>
          <p:cNvPr id="54" name="Google Shape;54;p5: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55" name="Google Shape;55;p5: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rPr lang="en-US"/>
              <a:t>The warehouse solved the truth problem that pipeline sprawl created. Instead of every consumer building its own understanding from raw pipeline output, everyone queries the same curated model. Schema-on-write is the defining characteristic — and it's a feature, not a bug: when two teams query 'total revenue last quarter,' they get the same number.</a:t>
            </a:r>
            <a:br>
              <a:rPr lang="en-US"/>
            </a:br>
            <a:br>
              <a:rPr lang="en-US"/>
            </a:br>
            <a:r>
              <a:rPr lang="en-US"/>
              <a:t>The limitation is organizational, not technical. The central data team — sometimes called the BI team, the analytics engineering team, the data platform team — becomes the bottleneck in direct proportion to the organization's growth. They own all the data but understand none of the domains. When the logistics domain needs a new dimension, the request goes to the central team, who must learn enough about logistics to model it correctly, prioritize it against every other domain's requests, and coordinate the schema change without breaking downstream consumers. The analytical view is always stale because the ingestion pipelines run on a schedule, and the central team's capacity to model new data is the real constraint.</a:t>
            </a:r>
            <a:endParaRPr/>
          </a:p>
        </p:txBody>
      </p:sp>
      <p:sp>
        <p:nvSpPr>
          <p:cNvPr id="56" name="Google Shape;56;p5: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notesSlides/notesSlide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63" name="Shape 63"/>
        <p:cNvGrpSpPr/>
        <p:nvPr/>
      </p:nvGrpSpPr>
      <p:grpSpPr>
        <a:xfrm>
          <a:off x="0" y="0"/>
          <a:ext cx="0" cy="0"/>
          <a:chOff x="0" y="0"/>
          <a:chExt cx="0" cy="0"/>
        </a:xfrm>
      </p:grpSpPr>
      <p:sp>
        <p:nvSpPr>
          <p:cNvPr id="64" name="Google Shape;64;p6: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65" name="Google Shape;65;p6: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rPr lang="en-US"/>
              <a:t>Walk the hub-and-spoke. Sources on the left — the same CRM, ERP, logs, events from before — all flowing into one centralized warehouse. The warehouse card in the center lists the defining characteristics: schema-on-write, star schemas, dimensional models, governed and structured. Consumers on the right: BI dashboards, reports, analysts — all querying the same governed store.</a:t>
            </a:r>
            <a:br>
              <a:rPr lang="en-US"/>
            </a:br>
            <a:br>
              <a:rPr lang="en-US"/>
            </a:br>
            <a:r>
              <a:rPr lang="en-US"/>
              <a:t>Now look at the bottom: the Central Data Team card. This is the bottleneck. Every schema change, every new data source, every question funnels through this one team. The dashed arrows connecting them to the warehouse make the coupling visible. They own everything but understand none of the domains. The label says it plainly: 'the bottleneck a mesh exists to remove.' This team — not the technology — is what the mesh reorganizes.</a:t>
            </a:r>
            <a:endParaRPr/>
          </a:p>
        </p:txBody>
      </p:sp>
      <p:sp>
        <p:nvSpPr>
          <p:cNvPr id="66" name="Google Shape;66;p6: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notesSlides/notesSlide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74" name="Shape 74"/>
        <p:cNvGrpSpPr/>
        <p:nvPr/>
      </p:nvGrpSpPr>
      <p:grpSpPr>
        <a:xfrm>
          <a:off x="0" y="0"/>
          <a:ext cx="0" cy="0"/>
          <a:chOff x="0" y="0"/>
          <a:chExt cx="0" cy="0"/>
        </a:xfrm>
      </p:grpSpPr>
      <p:sp>
        <p:nvSpPr>
          <p:cNvPr id="75" name="Google Shape;75;p7: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76" name="Google Shape;76;p7: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rPr lang="en-US"/>
              <a:t>The lake solved the warehouse's most visible problem: format inflexibility. The warehouse can't handle Kafka events, Parquet files, images, sensor data. The lake can. At massive scale with cheap object storage, the lake makes it feasible to keep everything and decide later what's worth querying. That flexibility unlocked workloads — ML, unstructured analytics, exploratory data science — that warehouses were never built for.</a:t>
            </a:r>
            <a:br>
              <a:rPr lang="en-US"/>
            </a:br>
            <a:br>
              <a:rPr lang="en-US"/>
            </a:br>
            <a:r>
              <a:rPr lang="en-US"/>
              <a:t>The zone model is how well-run lakes organize the data: raw (as-is from sources), curated (cleaned, typed), refined (modeled for consumption). The progression from raw to refined represents increasing transformation and decreasing generality.</a:t>
            </a:r>
            <a:br>
              <a:rPr lang="en-US"/>
            </a:br>
            <a:br>
              <a:rPr lang="en-US"/>
            </a:br>
            <a:r>
              <a:rPr lang="en-US"/>
              <a:t>The limitation is governance. Without active curation, the lake becomes the 'data swamp' — undocumented datasets accumulate, nobody knows which version is authoritative, which datasets are stale, which duplicate each other. The curation effort needed to make a lake useful re-creates the warehouse's modeling work, just without the warehouse's enforcement mechanisms. And the organizational problem is unchanged: a central team still owns the lake.</a:t>
            </a:r>
            <a:endParaRPr/>
          </a:p>
        </p:txBody>
      </p:sp>
      <p:sp>
        <p:nvSpPr>
          <p:cNvPr id="77" name="Google Shape;77;p7: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notesSlides/notesSlide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84" name="Shape 84"/>
        <p:cNvGrpSpPr/>
        <p:nvPr/>
      </p:nvGrpSpPr>
      <p:grpSpPr>
        <a:xfrm>
          <a:off x="0" y="0"/>
          <a:ext cx="0" cy="0"/>
          <a:chOff x="0" y="0"/>
          <a:chExt cx="0" cy="0"/>
        </a:xfrm>
      </p:grpSpPr>
      <p:sp>
        <p:nvSpPr>
          <p:cNvPr id="85" name="Google Shape;85;p8: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86" name="Google Shape;86;p8: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rPr lang="en-US"/>
              <a:t>Walk the architecture. Heterogeneous sources on the left — structured, semi-structured, unstructured, streaming — this is the format flexibility the lake provides. The center shows the lake with its three zones in graduated shading: the raw/landing zone (data as-is), the curated zone (cleaned and typed), the refined zone (modeled and ready for consumption). Consumers on the right: analytics, ML/AI, reporting, ad-hoc queries — the diverse workloads the lake enables.</a:t>
            </a:r>
            <a:br>
              <a:rPr lang="en-US"/>
            </a:br>
            <a:br>
              <a:rPr lang="en-US"/>
            </a:br>
            <a:r>
              <a:rPr lang="en-US"/>
              <a:t>Now the red callout at the bottom: 'Without governance, the lake becomes a swamp.' Data lands in the raw zone and never moves. Nobody knows what's valid, what's stale, what duplicates what. Schema-on-read means consumers discover structure at query time — if they can find the data at all. And the final line: the organizational bottleneck is unchanged. A central team still owns the bucket.</a:t>
            </a:r>
            <a:endParaRPr/>
          </a:p>
        </p:txBody>
      </p:sp>
      <p:sp>
        <p:nvSpPr>
          <p:cNvPr id="87" name="Google Shape;87;p8: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notesSlides/notesSlide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95" name="Shape 95"/>
        <p:cNvGrpSpPr/>
        <p:nvPr/>
      </p:nvGrpSpPr>
      <p:grpSpPr>
        <a:xfrm>
          <a:off x="0" y="0"/>
          <a:ext cx="0" cy="0"/>
          <a:chOff x="0" y="0"/>
          <a:chExt cx="0" cy="0"/>
        </a:xfrm>
      </p:grpSpPr>
      <p:sp>
        <p:nvSpPr>
          <p:cNvPr id="96" name="Google Shape;96;p9: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97" name="Google Shape;97;p9: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rPr lang="en-US"/>
              <a:t>This is the pivot slide — from what came before to what the mesh proposes. The key insight: all three prior patterns centralize data and hand ownership to a single team. The technology improves generation by generation — from bespoke pipelines, to a governed warehouse, to a flexible lake — but the organizational shape stays the same. One team at the center, receiving requests from every domain, owning data it did not produce, modeling concepts it does not deeply understand, scaling linearly while demands grow combinatorially.</a:t>
            </a:r>
            <a:br>
              <a:rPr lang="en-US"/>
            </a:br>
            <a:br>
              <a:rPr lang="en-US"/>
            </a:br>
            <a:r>
              <a:rPr lang="en-US"/>
              <a:t>The mesh changes the axis: instead of a better center, decentralize ownership. Each domain owns its data as a product. A shared platform provides streaming, storage, registries, observability — so domains don't each build their own. Federated governance keeps the products interoperable — through platform-enforced standards, not review boards.</a:t>
            </a:r>
            <a:br>
              <a:rPr lang="en-US"/>
            </a:br>
            <a:br>
              <a:rPr lang="en-US"/>
            </a:br>
            <a:r>
              <a:rPr lang="en-US"/>
              <a:t>Critical clarification: the mesh is not a replacement for warehouses or lakes. A domain may use a warehouse internally. The reorganization is about who owns the data — not which database to pick. An important caveat: the mesh earns its complexity in organizations with many domains, many consumers, and the maturity to operate federated ownership. For smaller teams, a well-run warehouse may be exactly right.</a:t>
            </a:r>
            <a:endParaRPr/>
          </a:p>
        </p:txBody>
      </p:sp>
      <p:sp>
        <p:nvSpPr>
          <p:cNvPr id="98" name="Google Shape;98;p9: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notesSlides/notesSlide1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05" name="Shape 105"/>
        <p:cNvGrpSpPr/>
        <p:nvPr/>
      </p:nvGrpSpPr>
      <p:grpSpPr>
        <a:xfrm>
          <a:off x="0" y="0"/>
          <a:ext cx="0" cy="0"/>
          <a:chOff x="0" y="0"/>
          <a:chExt cx="0" cy="0"/>
        </a:xfrm>
      </p:grpSpPr>
      <p:sp>
        <p:nvSpPr>
          <p:cNvPr id="106" name="Google Shape;106;p10: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107" name="Google Shape;107;p10: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rPr lang="en-US"/>
              <a:t>Walk the diagram. Top band: federated computational governance — standards enforced by the platform, automatically. The 2x2 grid shows four domain data products — Orders, Inventory, Payment, Shipping — each a red card because this is the target pattern. Each card shows: the domain name, what it owns, 'owns its data,' three API port pills (REST, gRPC, Events), and 'team-owned' at the bottom. The bidirectional red arrows between domains show inter-domain communication — products talking to products.</a:t>
            </a:r>
            <a:br>
              <a:rPr lang="en-US"/>
            </a:br>
            <a:br>
              <a:rPr lang="en-US"/>
            </a:br>
            <a:r>
              <a:rPr lang="en-US"/>
              <a:t>Bottom band: the self-serve data platform — shared infrastructure every domain consumes: streaming, storage, mesh, observability. This is the organizational shape that's different: no central data team owning everything. Each domain owns its own data; the platform and governance make them interoperable. The contrast with the warehouse slide should be visceral: there's no 'Central Data Team' card here.</a:t>
            </a:r>
            <a:endParaRPr/>
          </a:p>
        </p:txBody>
      </p:sp>
      <p:sp>
        <p:nvSpPr>
          <p:cNvPr id="108" name="Google Shape;108;p10: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notesSlides/notesSlide1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16" name="Shape 116"/>
        <p:cNvGrpSpPr/>
        <p:nvPr/>
      </p:nvGrpSpPr>
      <p:grpSpPr>
        <a:xfrm>
          <a:off x="0" y="0"/>
          <a:ext cx="0" cy="0"/>
          <a:chOff x="0" y="0"/>
          <a:chExt cx="0" cy="0"/>
        </a:xfrm>
      </p:grpSpPr>
      <p:sp>
        <p:nvSpPr>
          <p:cNvPr id="117" name="Google Shape;117;p11: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118" name="Google Shape;118;p11: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rPr lang="en-US"/>
              <a:t>The synthesis slide. Walk left to right through the four columns. Pipelines (blue): solved the movement problem, but the limitation is pipeline sprawl and no ownership model. Warehouses (orange): solved the truth problem — a single governed view — but the limitation is the central team bottleneck. Lakes (green): solved the flexibility problem — any format, any workload — but the limitation is swamp risk and the same organizational bottleneck. Mesh (red): solves the organizational scaling problem — decentralized ownership — but requires organizational maturity.</a:t>
            </a:r>
            <a:br>
              <a:rPr lang="en-US"/>
            </a:br>
            <a:br>
              <a:rPr lang="en-US"/>
            </a:br>
            <a:r>
              <a:rPr lang="en-US"/>
              <a:t>The bottom band makes the organizational dimension explicit: point-to-point → centralized team → centralized team (bigger) → decentralized ownership. The progression isn't 'each is better than the last' — it's 'each solves a different problem.' A pipeline is still right when movement is the problem. A warehouse is still right when truth is the problem. A lake is still right when flexibility is the problem. The mesh is right when the bottleneck is organizational.</a:t>
            </a:r>
            <a:endParaRPr/>
          </a:p>
        </p:txBody>
      </p:sp>
      <p:sp>
        <p:nvSpPr>
          <p:cNvPr id="119" name="Google Shape;119;p11: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notesSlides/notesSlide1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27" name="Shape 127"/>
        <p:cNvGrpSpPr/>
        <p:nvPr/>
      </p:nvGrpSpPr>
      <p:grpSpPr>
        <a:xfrm>
          <a:off x="0" y="0"/>
          <a:ext cx="0" cy="0"/>
          <a:chOff x="0" y="0"/>
          <a:chExt cx="0" cy="0"/>
        </a:xfrm>
      </p:grpSpPr>
      <p:sp>
        <p:nvSpPr>
          <p:cNvPr id="128" name="Google Shape;128;p12: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129" name="Google Shape;129;p12: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rPr lang="en-US"/>
              <a:t>This is the fitness slide. Not every organization needs a mesh. The question is whether the bottleneck is technical (better tools solve it) or organizational (who owns what). Walk each:</a:t>
            </a:r>
            <a:br>
              <a:rPr lang="en-US"/>
            </a:br>
            <a:br>
              <a:rPr lang="en-US"/>
            </a:br>
            <a:r>
              <a:rPr lang="en-US"/>
              <a:t>• Pipelines fit when the plumbing is simple enough that sprawl hasn't started. A handful of integrations, stable flows, known sources and destinations. Don't add complexity before the problem demands it.</a:t>
            </a:r>
            <a:br>
              <a:rPr lang="en-US"/>
            </a:br>
            <a:br>
              <a:rPr lang="en-US"/>
            </a:br>
            <a:r>
              <a:rPr lang="en-US"/>
              <a:t>• Warehouses fit when the organization needs a single source of truth for BI and reporting, and a central team has the capacity to curate the data. If the bottleneck is 'we don't know the truth,' the warehouse is the answer.</a:t>
            </a:r>
            <a:br>
              <a:rPr lang="en-US"/>
            </a:br>
            <a:br>
              <a:rPr lang="en-US"/>
            </a:br>
            <a:r>
              <a:rPr lang="en-US"/>
              <a:t>• Lakes fit when the data is heterogeneous — logs, events, images, ML training sets — and the scale or workload patterns exceed what a warehouse handles. The bottleneck is format rigidity, not organizational ownership.</a:t>
            </a:r>
            <a:br>
              <a:rPr lang="en-US"/>
            </a:br>
            <a:br>
              <a:rPr lang="en-US"/>
            </a:br>
            <a:r>
              <a:rPr lang="en-US"/>
              <a:t>• Mesh fits when the organization has outgrown centralized ownership. Many domains, many consumers, and the central team is the constraint. The bottleneck is organizational — not which tool to buy. The organization also needs the maturity to operate federated ownership: domain teams that can treat data as a product, a platform team that can provide self-serve infrastructure, and governance that works through automation.</a:t>
            </a:r>
            <a:br>
              <a:rPr lang="en-US"/>
            </a:br>
            <a:br>
              <a:rPr lang="en-US"/>
            </a:br>
            <a:r>
              <a:rPr lang="en-US"/>
              <a:t>Telling people when NOT to use a mesh builds credibility for when you say they should.</a:t>
            </a:r>
            <a:endParaRPr/>
          </a:p>
        </p:txBody>
      </p:sp>
      <p:sp>
        <p:nvSpPr>
          <p:cNvPr id="130" name="Google Shape;130;p12: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notesSlides/notesSlide1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37" name="Shape 137"/>
        <p:cNvGrpSpPr/>
        <p:nvPr/>
      </p:nvGrpSpPr>
      <p:grpSpPr>
        <a:xfrm>
          <a:off x="0" y="0"/>
          <a:ext cx="0" cy="0"/>
          <a:chOff x="0" y="0"/>
          <a:chExt cx="0" cy="0"/>
        </a:xfrm>
      </p:grpSpPr>
      <p:sp>
        <p:nvSpPr>
          <p:cNvPr id="138" name="Google Shape;138;p13: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139" name="Google Shape;139;p13: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rPr lang="en-US"/>
              <a:t>Closing slide. The one-sentence definition: a mesh is the network of products plus the platform and standards that let them interoperate. And the grounding from today: each pattern we walked through solved a real problem — the mesh solves the organizational one they all left behind. Open for questions.</a:t>
            </a:r>
            <a:endParaRPr/>
          </a:p>
        </p:txBody>
      </p:sp>
      <p:sp>
        <p:nvSpPr>
          <p:cNvPr id="140" name="Google Shape;140;p13: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DEFAULT">
  <p:cSld name="DEFAULT">
    <p:bg>
      <p:bgPr>
        <a:solidFill>
          <a:schemeClr val="lt1"/>
        </a:solidFill>
      </p:bgPr>
    </p:bg>
    <p:spTree>
      <p:nvGrpSpPr>
        <p:cNvPr id="10" name="Shape 10"/>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theme" Target="../theme/theme2.xml"/></Relationships>
</file>

<file path=ppt/slideMasters/slideMaster1.xml><?xml version="1.0" encoding="utf-8"?>
<p:sld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9" name="Shape 9"/>
        <p:cNvGrpSpPr/>
        <p:nvPr/>
      </p:nvGrpSpPr>
      <p:grpSpPr>
        <a:xfrm>
          <a:off x="0" y="0"/>
          <a:ext cx="0" cy="0"/>
          <a:chOff x="0" y="0"/>
          <a:chExt cx="0" cy="0"/>
        </a:xfrm>
      </p:grpSpPr>
    </p:spTree>
  </p:cSld>
  <p:clrMap accent1="accent1" accent2="accent2" accent3="accent3" accent4="accent4" accent5="accent5" accent6="accent6" bg1="lt1" bg2="dk2" tx1="dk1" tx2="lt2" folHlink="folHlink" hlink="hlink"/>
  <p:sldLayoutIdLst>
    <p:sldLayoutId id="2147483648" r:id="rId1"/>
  </p:sldLayoutIdLst>
  <p:hf dt="0" ftr="0" hdr="0" sldNum="0"/>
  <p:txStyles>
    <p:title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9pPr>
    </p:titleStyle>
    <p:body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9pPr>
    </p:bodyStyle>
    <p:other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 Id="rId3" Type="http://schemas.openxmlformats.org/officeDocument/2006/relationships/image" Target="../media/image13.png"/><Relationship Id="rId4" Type="http://schemas.openxmlformats.org/officeDocument/2006/relationships/image" Target="../media/image5.png"/></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xml"/><Relationship Id="rId3" Type="http://schemas.openxmlformats.org/officeDocument/2006/relationships/image" Target="../media/image13.png"/><Relationship Id="rId4" Type="http://schemas.openxmlformats.org/officeDocument/2006/relationships/image" Target="../media/image21.png"/></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xml"/><Relationship Id="rId3" Type="http://schemas.openxmlformats.org/officeDocument/2006/relationships/image" Target="../media/image5.png"/></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xml"/><Relationship Id="rId3" Type="http://schemas.openxmlformats.org/officeDocument/2006/relationships/image" Target="../media/image1.png"/><Relationship Id="rId4" Type="http://schemas.openxmlformats.org/officeDocument/2006/relationships/image" Target="../media/image5.png"/></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5.xml"/><Relationship Id="rId3" Type="http://schemas.openxmlformats.org/officeDocument/2006/relationships/image" Target="../media/image5.png"/></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6.xml"/><Relationship Id="rId3" Type="http://schemas.openxmlformats.org/officeDocument/2006/relationships/image" Target="../media/image3.png"/><Relationship Id="rId4" Type="http://schemas.openxmlformats.org/officeDocument/2006/relationships/image" Target="../media/image5.png"/></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7.xml"/><Relationship Id="rId3" Type="http://schemas.openxmlformats.org/officeDocument/2006/relationships/image" Target="../media/image5.png"/></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8.xml"/><Relationship Id="rId3" Type="http://schemas.openxmlformats.org/officeDocument/2006/relationships/image" Target="../media/image18.png"/><Relationship Id="rId4" Type="http://schemas.openxmlformats.org/officeDocument/2006/relationships/image" Target="../media/image5.png"/></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9.xml"/><Relationship Id="rId3" Type="http://schemas.openxmlformats.org/officeDocument/2006/relationships/image" Target="../media/image5.png"/></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0.xml"/><Relationship Id="rId3" Type="http://schemas.openxmlformats.org/officeDocument/2006/relationships/image" Target="../media/image2.png"/><Relationship Id="rId4" Type="http://schemas.openxmlformats.org/officeDocument/2006/relationships/image" Target="../media/image5.png"/></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1.xml"/><Relationship Id="rId3" Type="http://schemas.openxmlformats.org/officeDocument/2006/relationships/image" Target="../media/image19.png"/><Relationship Id="rId4" Type="http://schemas.openxmlformats.org/officeDocument/2006/relationships/image" Target="../media/image5.png"/></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2.xml"/><Relationship Id="rId3" Type="http://schemas.openxmlformats.org/officeDocument/2006/relationships/image" Target="../media/image5.png"/></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3.xml"/><Relationship Id="rId3" Type="http://schemas.openxmlformats.org/officeDocument/2006/relationships/image" Target="../media/image13.png"/><Relationship Id="rId4" Type="http://schemas.openxmlformats.org/officeDocument/2006/relationships/image" Target="../media/image21.png"/></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image" Target="../media/image4.png"/><Relationship Id="rId3" Type="http://schemas.openxmlformats.org/officeDocument/2006/relationships/image" Target="../media/image6.png"/><Relationship Id="rId4" Type="http://schemas.openxmlformats.org/officeDocument/2006/relationships/image" Target="../media/image5.png"/></Relationships>
</file>

<file path=ppt/slides/slide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FFFFF"/>
        </a:solidFill>
      </p:bgPr>
    </p:bg>
    <p:spTree>
      <p:nvGrpSpPr>
        <p:cNvPr id="15" name="Shape 15"/>
        <p:cNvGrpSpPr/>
        <p:nvPr/>
      </p:nvGrpSpPr>
      <p:grpSpPr>
        <a:xfrm>
          <a:off x="0" y="0"/>
          <a:ext cx="0" cy="0"/>
          <a:chOff x="0" y="0"/>
          <a:chExt cx="0" cy="0"/>
        </a:xfrm>
      </p:grpSpPr>
      <p:pic>
        <p:nvPicPr>
          <p:cNvPr descr="../data-mesh-openshift/brand-illustration.png" id="16" name="Google Shape;16;p3"/>
          <p:cNvPicPr preferRelativeResize="0"/>
          <p:nvPr/>
        </p:nvPicPr>
        <p:blipFill rotWithShape="1">
          <a:blip r:embed="rId3">
            <a:alphaModFix/>
          </a:blip>
          <a:srcRect b="0" l="0" r="0" t="0"/>
          <a:stretch/>
        </p:blipFill>
        <p:spPr>
          <a:xfrm>
            <a:off x="0" y="0"/>
            <a:ext cx="4510927" cy="6858000"/>
          </a:xfrm>
          <a:prstGeom prst="rect">
            <a:avLst/>
          </a:prstGeom>
          <a:noFill/>
          <a:ln>
            <a:noFill/>
          </a:ln>
        </p:spPr>
      </p:pic>
      <p:sp>
        <p:nvSpPr>
          <p:cNvPr id="17" name="Google Shape;17;p3"/>
          <p:cNvSpPr/>
          <p:nvPr/>
        </p:nvSpPr>
        <p:spPr>
          <a:xfrm>
            <a:off x="5151007" y="1554480"/>
            <a:ext cx="6400608" cy="36576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EE0000"/>
              </a:buClr>
              <a:buSzPts val="1400"/>
              <a:buFont typeface="Overpass SemiBold"/>
              <a:buNone/>
            </a:pPr>
            <a:r>
              <a:rPr b="1" i="0" lang="en-US" sz="1400" u="none" cap="none" strike="noStrike">
                <a:solidFill>
                  <a:srgbClr val="EE0000"/>
                </a:solidFill>
                <a:latin typeface="Overpass SemiBold"/>
                <a:ea typeface="Overpass SemiBold"/>
                <a:cs typeface="Overpass SemiBold"/>
                <a:sym typeface="Overpass SemiBold"/>
              </a:rPr>
              <a:t>DATA MESH · PRIMER</a:t>
            </a:r>
            <a:endParaRPr b="0" i="0" sz="1400" u="none" cap="none" strike="noStrike">
              <a:solidFill>
                <a:schemeClr val="dk1"/>
              </a:solidFill>
              <a:latin typeface="Calibri"/>
              <a:ea typeface="Calibri"/>
              <a:cs typeface="Calibri"/>
              <a:sym typeface="Calibri"/>
            </a:endParaRPr>
          </a:p>
        </p:txBody>
      </p:sp>
      <p:sp>
        <p:nvSpPr>
          <p:cNvPr id="18" name="Google Shape;18;p3"/>
          <p:cNvSpPr/>
          <p:nvPr/>
        </p:nvSpPr>
        <p:spPr>
          <a:xfrm>
            <a:off x="5151007" y="2011680"/>
            <a:ext cx="6400608" cy="1554480"/>
          </a:xfrm>
          <a:prstGeom prst="rect">
            <a:avLst/>
          </a:prstGeom>
          <a:no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151515"/>
              </a:buClr>
              <a:buSzPts val="4200"/>
              <a:buFont typeface="Overpass SemiBold"/>
              <a:buNone/>
            </a:pPr>
            <a:r>
              <a:rPr b="1" i="0" lang="en-US" sz="4200" u="none" cap="none" strike="noStrike">
                <a:solidFill>
                  <a:srgbClr val="151515"/>
                </a:solidFill>
                <a:latin typeface="Overpass SemiBold"/>
                <a:ea typeface="Overpass SemiBold"/>
                <a:cs typeface="Overpass SemiBold"/>
                <a:sym typeface="Overpass SemiBold"/>
              </a:rPr>
              <a:t>The Data Mesh</a:t>
            </a:r>
            <a:endParaRPr b="0" i="0" sz="4200" u="none" cap="none" strike="noStrike">
              <a:solidFill>
                <a:schemeClr val="dk1"/>
              </a:solidFill>
              <a:latin typeface="Calibri"/>
              <a:ea typeface="Calibri"/>
              <a:cs typeface="Calibri"/>
              <a:sym typeface="Calibri"/>
            </a:endParaRPr>
          </a:p>
        </p:txBody>
      </p:sp>
      <p:sp>
        <p:nvSpPr>
          <p:cNvPr id="19" name="Google Shape;19;p3"/>
          <p:cNvSpPr/>
          <p:nvPr/>
        </p:nvSpPr>
        <p:spPr>
          <a:xfrm>
            <a:off x="5151007" y="3703320"/>
            <a:ext cx="6400608" cy="914400"/>
          </a:xfrm>
          <a:prstGeom prst="rect">
            <a:avLst/>
          </a:prstGeom>
          <a:noFill/>
          <a:ln>
            <a:noFill/>
          </a:ln>
        </p:spPr>
        <p:txBody>
          <a:bodyPr anchorCtr="0" anchor="t" bIns="0" lIns="0" spcFirstLastPara="1" rIns="0" wrap="square" tIns="0">
            <a:noAutofit/>
          </a:bodyPr>
          <a:lstStyle/>
          <a:p>
            <a:pPr indent="0" lvl="0" marL="0" marR="0" rtl="0" algn="l">
              <a:spcBef>
                <a:spcPts val="0"/>
              </a:spcBef>
              <a:spcAft>
                <a:spcPts val="0"/>
              </a:spcAft>
              <a:buClr>
                <a:srgbClr val="5A5A5A"/>
              </a:buClr>
              <a:buSzPts val="1700"/>
              <a:buFont typeface="Red Hat Text"/>
              <a:buNone/>
            </a:pPr>
            <a:r>
              <a:rPr b="0" i="1" lang="en-US" sz="1700" u="none" cap="none" strike="noStrike">
                <a:solidFill>
                  <a:srgbClr val="5A5A5A"/>
                </a:solidFill>
                <a:latin typeface="Red Hat Text"/>
                <a:ea typeface="Red Hat Text"/>
                <a:cs typeface="Red Hat Text"/>
                <a:sym typeface="Red Hat Text"/>
              </a:rPr>
              <a:t>From pipelines and warehouses to decentralized, domain-owned data products — the landscape, the principles, and why the mesh is a different kind of answer.</a:t>
            </a:r>
            <a:endParaRPr b="0" i="0" sz="1700" u="none" cap="none" strike="noStrike">
              <a:solidFill>
                <a:schemeClr val="dk1"/>
              </a:solidFill>
              <a:latin typeface="Calibri"/>
              <a:ea typeface="Calibri"/>
              <a:cs typeface="Calibri"/>
              <a:sym typeface="Calibri"/>
            </a:endParaRPr>
          </a:p>
        </p:txBody>
      </p:sp>
      <p:sp>
        <p:nvSpPr>
          <p:cNvPr id="20" name="Google Shape;20;p3"/>
          <p:cNvSpPr/>
          <p:nvPr/>
        </p:nvSpPr>
        <p:spPr>
          <a:xfrm>
            <a:off x="5151007" y="4709160"/>
            <a:ext cx="6400608" cy="365760"/>
          </a:xfrm>
          <a:prstGeom prst="rect">
            <a:avLst/>
          </a:prstGeom>
          <a:noFill/>
          <a:ln>
            <a:noFill/>
          </a:ln>
        </p:spPr>
        <p:txBody>
          <a:bodyPr anchorCtr="0" anchor="t" bIns="0" lIns="0" spcFirstLastPara="1" rIns="0" wrap="square" tIns="0">
            <a:noAutofit/>
          </a:bodyPr>
          <a:lstStyle/>
          <a:p>
            <a:pPr indent="0" lvl="0" marL="0" marR="0" rtl="0" algn="l">
              <a:spcBef>
                <a:spcPts val="0"/>
              </a:spcBef>
              <a:spcAft>
                <a:spcPts val="0"/>
              </a:spcAft>
              <a:buClr>
                <a:srgbClr val="151515"/>
              </a:buClr>
              <a:buSzPts val="1500"/>
              <a:buFont typeface="Red Hat Text"/>
              <a:buNone/>
            </a:pPr>
            <a:r>
              <a:rPr b="1" i="0" lang="en-US" sz="1500" u="none" cap="none" strike="noStrike">
                <a:solidFill>
                  <a:srgbClr val="151515"/>
                </a:solidFill>
                <a:latin typeface="Red Hat Text"/>
                <a:ea typeface="Red Hat Text"/>
                <a:cs typeface="Red Hat Text"/>
                <a:sym typeface="Red Hat Text"/>
              </a:rPr>
              <a:t>A primer on data architectures</a:t>
            </a:r>
            <a:endParaRPr b="0" i="0" sz="1500" u="none" cap="none" strike="noStrike">
              <a:solidFill>
                <a:schemeClr val="dk1"/>
              </a:solidFill>
              <a:latin typeface="Calibri"/>
              <a:ea typeface="Calibri"/>
              <a:cs typeface="Calibri"/>
              <a:sym typeface="Calibri"/>
            </a:endParaRPr>
          </a:p>
        </p:txBody>
      </p:sp>
      <p:sp>
        <p:nvSpPr>
          <p:cNvPr id="21" name="Google Shape;21;p3"/>
          <p:cNvSpPr/>
          <p:nvPr/>
        </p:nvSpPr>
        <p:spPr>
          <a:xfrm>
            <a:off x="5151007" y="5074920"/>
            <a:ext cx="6400608" cy="365760"/>
          </a:xfrm>
          <a:prstGeom prst="rect">
            <a:avLst/>
          </a:prstGeom>
          <a:noFill/>
          <a:ln>
            <a:noFill/>
          </a:ln>
        </p:spPr>
        <p:txBody>
          <a:bodyPr anchorCtr="0" anchor="t" bIns="0" lIns="0" spcFirstLastPara="1" rIns="0" wrap="square" tIns="0">
            <a:noAutofit/>
          </a:bodyPr>
          <a:lstStyle/>
          <a:p>
            <a:pPr indent="0" lvl="0" marL="0" marR="0" rtl="0" algn="l">
              <a:spcBef>
                <a:spcPts val="0"/>
              </a:spcBef>
              <a:spcAft>
                <a:spcPts val="0"/>
              </a:spcAft>
              <a:buClr>
                <a:srgbClr val="8A8A8A"/>
              </a:buClr>
              <a:buSzPts val="1300"/>
              <a:buFont typeface="Red Hat Text"/>
              <a:buNone/>
            </a:pPr>
            <a:r>
              <a:rPr b="0" i="0" lang="en-US" sz="1300" u="none" cap="none" strike="noStrike">
                <a:solidFill>
                  <a:srgbClr val="8A8A8A"/>
                </a:solidFill>
                <a:latin typeface="Red Hat Text"/>
                <a:ea typeface="Red Hat Text"/>
                <a:cs typeface="Red Hat Text"/>
                <a:sym typeface="Red Hat Text"/>
              </a:rPr>
              <a:t>Pipelines · Warehouses · Lakes · Data Mesh · Dehghani's Four Principles</a:t>
            </a:r>
            <a:endParaRPr b="0" i="0" sz="1300" u="none" cap="none" strike="noStrike">
              <a:solidFill>
                <a:schemeClr val="dk1"/>
              </a:solidFill>
              <a:latin typeface="Calibri"/>
              <a:ea typeface="Calibri"/>
              <a:cs typeface="Calibri"/>
              <a:sym typeface="Calibri"/>
            </a:endParaRPr>
          </a:p>
        </p:txBody>
      </p:sp>
      <p:pic>
        <p:nvPicPr>
          <p:cNvPr descr="../data-mesh-openshift/brand-logo-dark.png" id="22" name="Google Shape;22;p3"/>
          <p:cNvPicPr preferRelativeResize="0"/>
          <p:nvPr/>
        </p:nvPicPr>
        <p:blipFill rotWithShape="1">
          <a:blip r:embed="rId4">
            <a:alphaModFix/>
          </a:blip>
          <a:srcRect b="0" l="0" r="0" t="0"/>
          <a:stretch/>
        </p:blipFill>
        <p:spPr>
          <a:xfrm>
            <a:off x="10500055" y="6314061"/>
            <a:ext cx="1143000" cy="269619"/>
          </a:xfrm>
          <a:prstGeom prst="rect">
            <a:avLst/>
          </a:prstGeom>
          <a:noFill/>
          <a:ln>
            <a:noFill/>
          </a:ln>
        </p:spPr>
      </p:pic>
    </p:spTree>
  </p:cSld>
  <p:clrMapOvr>
    <a:masterClrMapping/>
  </p:clrMapOvr>
</p:sld>
</file>

<file path=ppt/slides/slide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7" name="Shape 27"/>
        <p:cNvGrpSpPr/>
        <p:nvPr/>
      </p:nvGrpSpPr>
      <p:grpSpPr>
        <a:xfrm>
          <a:off x="0" y="0"/>
          <a:ext cx="0" cy="0"/>
          <a:chOff x="0" y="0"/>
          <a:chExt cx="0" cy="0"/>
        </a:xfrm>
      </p:grpSpPr>
      <p:pic>
        <p:nvPicPr>
          <p:cNvPr descr="../data-mesh-openshift/brand-illustration.png" id="28" name="Google Shape;28;p4"/>
          <p:cNvPicPr preferRelativeResize="0"/>
          <p:nvPr/>
        </p:nvPicPr>
        <p:blipFill rotWithShape="1">
          <a:blip r:embed="rId3">
            <a:alphaModFix/>
          </a:blip>
          <a:srcRect b="0" l="0" r="0" t="0"/>
          <a:stretch/>
        </p:blipFill>
        <p:spPr>
          <a:xfrm>
            <a:off x="0" y="0"/>
            <a:ext cx="12191695" cy="6858000"/>
          </a:xfrm>
          <a:prstGeom prst="rect">
            <a:avLst/>
          </a:prstGeom>
          <a:noFill/>
          <a:ln>
            <a:noFill/>
          </a:ln>
        </p:spPr>
      </p:pic>
      <p:sp>
        <p:nvSpPr>
          <p:cNvPr id="29" name="Google Shape;29;p4"/>
          <p:cNvSpPr/>
          <p:nvPr/>
        </p:nvSpPr>
        <p:spPr>
          <a:xfrm>
            <a:off x="5120512" y="2926080"/>
            <a:ext cx="6431103" cy="1554480"/>
          </a:xfrm>
          <a:prstGeom prst="rect">
            <a:avLst/>
          </a:prstGeom>
          <a:no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FFFFFF"/>
              </a:buClr>
              <a:buSzPts val="4000"/>
              <a:buFont typeface="Overpass SemiBold"/>
              <a:buNone/>
            </a:pPr>
            <a:r>
              <a:rPr b="1" i="0" lang="en-US" sz="4000" u="none" cap="none" strike="noStrike">
                <a:solidFill>
                  <a:srgbClr val="FFFFFF"/>
                </a:solidFill>
                <a:latin typeface="Overpass SemiBold"/>
                <a:ea typeface="Overpass SemiBold"/>
                <a:cs typeface="Overpass SemiBold"/>
                <a:sym typeface="Overpass SemiBold"/>
              </a:rPr>
              <a:t>The landscape</a:t>
            </a:r>
            <a:endParaRPr b="0" i="0" sz="4000" u="none" cap="none" strike="noStrike">
              <a:solidFill>
                <a:schemeClr val="dk1"/>
              </a:solidFill>
              <a:latin typeface="Calibri"/>
              <a:ea typeface="Calibri"/>
              <a:cs typeface="Calibri"/>
              <a:sym typeface="Calibri"/>
            </a:endParaRPr>
          </a:p>
        </p:txBody>
      </p:sp>
      <p:sp>
        <p:nvSpPr>
          <p:cNvPr id="30" name="Google Shape;30;p4"/>
          <p:cNvSpPr/>
          <p:nvPr/>
        </p:nvSpPr>
        <p:spPr>
          <a:xfrm>
            <a:off x="5120512" y="4526280"/>
            <a:ext cx="6431103" cy="731520"/>
          </a:xfrm>
          <a:prstGeom prst="rect">
            <a:avLst/>
          </a:prstGeom>
          <a:noFill/>
          <a:ln>
            <a:noFill/>
          </a:ln>
        </p:spPr>
        <p:txBody>
          <a:bodyPr anchorCtr="0" anchor="t" bIns="0" lIns="0" spcFirstLastPara="1" rIns="0" wrap="square" tIns="0">
            <a:noAutofit/>
          </a:bodyPr>
          <a:lstStyle/>
          <a:p>
            <a:pPr indent="0" lvl="0" marL="0" marR="0" rtl="0" algn="l">
              <a:spcBef>
                <a:spcPts val="0"/>
              </a:spcBef>
              <a:spcAft>
                <a:spcPts val="0"/>
              </a:spcAft>
              <a:buClr>
                <a:srgbClr val="FFD9D9"/>
              </a:buClr>
              <a:buSzPts val="1600"/>
              <a:buFont typeface="Red Hat Text"/>
              <a:buNone/>
            </a:pPr>
            <a:r>
              <a:rPr b="0" i="1" lang="en-US" sz="1600" u="none" cap="none" strike="noStrike">
                <a:solidFill>
                  <a:srgbClr val="FFD9D9"/>
                </a:solidFill>
                <a:latin typeface="Red Hat Text"/>
                <a:ea typeface="Red Hat Text"/>
                <a:cs typeface="Red Hat Text"/>
                <a:sym typeface="Red Hat Text"/>
              </a:rPr>
              <a:t>Four data architectures — what each pattern solves and the limitation it leaves behind.</a:t>
            </a:r>
            <a:endParaRPr b="0" i="0" sz="1600" u="none" cap="none" strike="noStrike">
              <a:solidFill>
                <a:schemeClr val="dk1"/>
              </a:solidFill>
              <a:latin typeface="Calibri"/>
              <a:ea typeface="Calibri"/>
              <a:cs typeface="Calibri"/>
              <a:sym typeface="Calibri"/>
            </a:endParaRPr>
          </a:p>
        </p:txBody>
      </p:sp>
      <p:pic>
        <p:nvPicPr>
          <p:cNvPr descr="../data-mesh-openshift/brand-logo-light.png" id="31" name="Google Shape;31;p4"/>
          <p:cNvPicPr preferRelativeResize="0"/>
          <p:nvPr/>
        </p:nvPicPr>
        <p:blipFill rotWithShape="1">
          <a:blip r:embed="rId4">
            <a:alphaModFix/>
          </a:blip>
          <a:srcRect b="0" l="0" r="0" t="0"/>
          <a:stretch/>
        </p:blipFill>
        <p:spPr>
          <a:xfrm>
            <a:off x="10500055" y="6314061"/>
            <a:ext cx="1143000" cy="269619"/>
          </a:xfrm>
          <a:prstGeom prst="rect">
            <a:avLst/>
          </a:prstGeom>
          <a:noFill/>
          <a:ln>
            <a:noFill/>
          </a:ln>
        </p:spPr>
      </p:pic>
    </p:spTree>
  </p:cSld>
  <p:clrMapOvr>
    <a:masterClrMapping/>
  </p:clrMapOvr>
</p:sld>
</file>

<file path=ppt/slides/slide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FFFFF"/>
        </a:solidFill>
      </p:bgPr>
    </p:bg>
    <p:spTree>
      <p:nvGrpSpPr>
        <p:cNvPr id="36" name="Shape 36"/>
        <p:cNvGrpSpPr/>
        <p:nvPr/>
      </p:nvGrpSpPr>
      <p:grpSpPr>
        <a:xfrm>
          <a:off x="0" y="0"/>
          <a:ext cx="0" cy="0"/>
          <a:chOff x="0" y="0"/>
          <a:chExt cx="0" cy="0"/>
        </a:xfrm>
      </p:grpSpPr>
      <p:sp>
        <p:nvSpPr>
          <p:cNvPr id="37" name="Google Shape;37;p5"/>
          <p:cNvSpPr/>
          <p:nvPr/>
        </p:nvSpPr>
        <p:spPr>
          <a:xfrm>
            <a:off x="640080" y="411480"/>
            <a:ext cx="10911535" cy="292608"/>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EE0000"/>
              </a:buClr>
              <a:buSzPts val="1200"/>
              <a:buFont typeface="Overpass SemiBold"/>
              <a:buNone/>
            </a:pPr>
            <a:r>
              <a:rPr b="1" i="0" lang="en-US" sz="1200" u="none" cap="none" strike="noStrike">
                <a:solidFill>
                  <a:srgbClr val="EE0000"/>
                </a:solidFill>
                <a:latin typeface="Overpass SemiBold"/>
                <a:ea typeface="Overpass SemiBold"/>
                <a:cs typeface="Overpass SemiBold"/>
                <a:sym typeface="Overpass SemiBold"/>
              </a:rPr>
              <a:t>DATA ARCHITECTURES</a:t>
            </a:r>
            <a:endParaRPr b="0" i="0" sz="1200" u="none" cap="none" strike="noStrike">
              <a:solidFill>
                <a:schemeClr val="dk1"/>
              </a:solidFill>
              <a:latin typeface="Calibri"/>
              <a:ea typeface="Calibri"/>
              <a:cs typeface="Calibri"/>
              <a:sym typeface="Calibri"/>
            </a:endParaRPr>
          </a:p>
        </p:txBody>
      </p:sp>
      <p:sp>
        <p:nvSpPr>
          <p:cNvPr id="38" name="Google Shape;38;p5"/>
          <p:cNvSpPr/>
          <p:nvPr/>
        </p:nvSpPr>
        <p:spPr>
          <a:xfrm>
            <a:off x="640080" y="713232"/>
            <a:ext cx="10911535" cy="868680"/>
          </a:xfrm>
          <a:prstGeom prst="rect">
            <a:avLst/>
          </a:prstGeom>
          <a:noFill/>
          <a:ln>
            <a:noFill/>
          </a:ln>
        </p:spPr>
        <p:txBody>
          <a:bodyPr anchorCtr="0" anchor="t" bIns="0" lIns="0" spcFirstLastPara="1" rIns="0" wrap="square" tIns="0">
            <a:noAutofit/>
          </a:bodyPr>
          <a:lstStyle/>
          <a:p>
            <a:pPr indent="0" lvl="0" marL="0" marR="0" rtl="0" algn="l">
              <a:spcBef>
                <a:spcPts val="0"/>
              </a:spcBef>
              <a:spcAft>
                <a:spcPts val="0"/>
              </a:spcAft>
              <a:buClr>
                <a:srgbClr val="151515"/>
              </a:buClr>
              <a:buSzPts val="3000"/>
              <a:buFont typeface="Overpass SemiBold"/>
              <a:buNone/>
            </a:pPr>
            <a:r>
              <a:rPr b="1" i="0" lang="en-US" sz="3000" u="none" cap="none" strike="noStrike">
                <a:solidFill>
                  <a:srgbClr val="151515"/>
                </a:solidFill>
                <a:latin typeface="Overpass SemiBold"/>
                <a:ea typeface="Overpass SemiBold"/>
                <a:cs typeface="Overpass SemiBold"/>
                <a:sym typeface="Overpass SemiBold"/>
              </a:rPr>
              <a:t>Data pipelines — the plumbing</a:t>
            </a:r>
            <a:endParaRPr b="0" i="0" sz="3000" u="none" cap="none" strike="noStrike">
              <a:solidFill>
                <a:schemeClr val="dk1"/>
              </a:solidFill>
              <a:latin typeface="Calibri"/>
              <a:ea typeface="Calibri"/>
              <a:cs typeface="Calibri"/>
              <a:sym typeface="Calibri"/>
            </a:endParaRPr>
          </a:p>
        </p:txBody>
      </p:sp>
      <p:sp>
        <p:nvSpPr>
          <p:cNvPr id="39" name="Google Shape;39;p5"/>
          <p:cNvSpPr/>
          <p:nvPr/>
        </p:nvSpPr>
        <p:spPr>
          <a:xfrm>
            <a:off x="640080" y="1783080"/>
            <a:ext cx="10911535" cy="4206240"/>
          </a:xfrm>
          <a:prstGeom prst="rect">
            <a:avLst/>
          </a:prstGeom>
          <a:noFill/>
          <a:ln>
            <a:noFill/>
          </a:ln>
        </p:spPr>
        <p:txBody>
          <a:bodyPr anchorCtr="0" anchor="t" bIns="0" lIns="0" spcFirstLastPara="1" rIns="0" wrap="square" tIns="0">
            <a:noAutofit/>
          </a:bodyPr>
          <a:lstStyle/>
          <a:p>
            <a:pPr indent="-228600" lvl="0" marL="228600" marR="0" rtl="0" algn="l">
              <a:spcBef>
                <a:spcPts val="0"/>
              </a:spcBef>
              <a:spcAft>
                <a:spcPts val="0"/>
              </a:spcAft>
              <a:buClr>
                <a:srgbClr val="242424"/>
              </a:buClr>
              <a:buSzPts val="1600"/>
              <a:buFont typeface="Red Hat Text"/>
              <a:buChar char="•"/>
            </a:pPr>
            <a:r>
              <a:rPr b="0" i="0" lang="en-US" sz="1600" u="none" cap="none" strike="noStrike">
                <a:solidFill>
                  <a:srgbClr val="242424"/>
                </a:solidFill>
                <a:latin typeface="Red Hat Text"/>
                <a:ea typeface="Red Hat Text"/>
                <a:cs typeface="Red Hat Text"/>
                <a:sym typeface="Red Hat Text"/>
              </a:rPr>
              <a:t>The oldest data architecture problem is movement: operational systems produce data, analytical systems consume it, and something has to get it from one to the other.</a:t>
            </a:r>
            <a:endParaRPr b="0" i="0" sz="1600" u="none" cap="none" strike="noStrike">
              <a:solidFill>
                <a:schemeClr val="dk1"/>
              </a:solidFill>
              <a:latin typeface="Calibri"/>
              <a:ea typeface="Calibri"/>
              <a:cs typeface="Calibri"/>
              <a:sym typeface="Calibri"/>
            </a:endParaRPr>
          </a:p>
          <a:p>
            <a:pPr indent="-228600" lvl="1" marL="457200" marR="0" rtl="0" algn="l">
              <a:spcBef>
                <a:spcPts val="600"/>
              </a:spcBef>
              <a:spcAft>
                <a:spcPts val="0"/>
              </a:spcAft>
              <a:buClr>
                <a:srgbClr val="5A5A5A"/>
              </a:buClr>
              <a:buSzPts val="1500"/>
              <a:buFont typeface="Red Hat Text"/>
              <a:buChar char="•"/>
            </a:pPr>
            <a:r>
              <a:rPr b="0" i="0" lang="en-US" sz="1500" u="none" cap="none" strike="noStrike">
                <a:solidFill>
                  <a:srgbClr val="5A5A5A"/>
                </a:solidFill>
                <a:latin typeface="Red Hat Text"/>
                <a:ea typeface="Red Hat Text"/>
                <a:cs typeface="Red Hat Text"/>
                <a:sym typeface="Red Hat Text"/>
              </a:rPr>
              <a:t>A data pipeline is that something — a sequence of steps that extracts data from a source, transforms it, and loads it into a target store.</a:t>
            </a:r>
            <a:endParaRPr b="0" i="0" sz="1600" u="none" cap="none" strike="noStrike">
              <a:solidFill>
                <a:schemeClr val="dk1"/>
              </a:solidFill>
              <a:latin typeface="Calibri"/>
              <a:ea typeface="Calibri"/>
              <a:cs typeface="Calibri"/>
              <a:sym typeface="Calibri"/>
            </a:endParaRPr>
          </a:p>
          <a:p>
            <a:pPr indent="0" lvl="0" marL="0" marR="0" rtl="0" algn="l">
              <a:spcBef>
                <a:spcPts val="1400"/>
              </a:spcBef>
              <a:spcAft>
                <a:spcPts val="0"/>
              </a:spcAft>
              <a:buClr>
                <a:srgbClr val="151515"/>
              </a:buClr>
              <a:buSzPts val="1700"/>
              <a:buFont typeface="Overpass SemiBold"/>
              <a:buNone/>
            </a:pPr>
            <a:r>
              <a:rPr b="1" i="0" lang="en-US" sz="1700" u="none" cap="none" strike="noStrike">
                <a:solidFill>
                  <a:srgbClr val="151515"/>
                </a:solidFill>
                <a:latin typeface="Overpass SemiBold"/>
                <a:ea typeface="Overpass SemiBold"/>
                <a:cs typeface="Overpass SemiBold"/>
                <a:sym typeface="Overpass SemiBold"/>
              </a:rPr>
              <a:t>ETL vs. ELT</a:t>
            </a:r>
            <a:endParaRPr b="0" i="0" sz="1600" u="none" cap="none" strike="noStrike">
              <a:solidFill>
                <a:schemeClr val="dk1"/>
              </a:solidFill>
              <a:latin typeface="Calibri"/>
              <a:ea typeface="Calibri"/>
              <a:cs typeface="Calibri"/>
              <a:sym typeface="Calibri"/>
            </a:endParaRPr>
          </a:p>
          <a:p>
            <a:pPr indent="-228600" lvl="0" marL="228600" marR="0" rtl="0" algn="l">
              <a:spcBef>
                <a:spcPts val="300"/>
              </a:spcBef>
              <a:spcAft>
                <a:spcPts val="0"/>
              </a:spcAft>
              <a:buClr>
                <a:srgbClr val="242424"/>
              </a:buClr>
              <a:buSzPts val="1600"/>
              <a:buFont typeface="Red Hat Text"/>
              <a:buChar char="•"/>
            </a:pPr>
            <a:r>
              <a:rPr b="0" i="0" lang="en-US" sz="1600" u="none" cap="none" strike="noStrike">
                <a:solidFill>
                  <a:srgbClr val="242424"/>
                </a:solidFill>
                <a:latin typeface="Red Hat Text"/>
                <a:ea typeface="Red Hat Text"/>
                <a:cs typeface="Red Hat Text"/>
                <a:sym typeface="Red Hat Text"/>
              </a:rPr>
              <a:t>ETL (extract-transform-load): transformation happens in transit, before the data lands. ELT (extract-load-transform): raw data lands first, transformation happens in the target.</a:t>
            </a:r>
            <a:endParaRPr b="0" i="0" sz="1600" u="none" cap="none" strike="noStrike">
              <a:solidFill>
                <a:schemeClr val="dk1"/>
              </a:solidFill>
              <a:latin typeface="Calibri"/>
              <a:ea typeface="Calibri"/>
              <a:cs typeface="Calibri"/>
              <a:sym typeface="Calibri"/>
            </a:endParaRPr>
          </a:p>
          <a:p>
            <a:pPr indent="-228600" lvl="1" marL="457200" marR="0" rtl="0" algn="l">
              <a:spcBef>
                <a:spcPts val="600"/>
              </a:spcBef>
              <a:spcAft>
                <a:spcPts val="0"/>
              </a:spcAft>
              <a:buClr>
                <a:srgbClr val="5A5A5A"/>
              </a:buClr>
              <a:buSzPts val="1500"/>
              <a:buFont typeface="Red Hat Text"/>
              <a:buChar char="•"/>
            </a:pPr>
            <a:r>
              <a:rPr b="0" i="0" lang="en-US" sz="1500" u="none" cap="none" strike="noStrike">
                <a:solidFill>
                  <a:srgbClr val="5A5A5A"/>
                </a:solidFill>
                <a:latin typeface="Red Hat Text"/>
                <a:ea typeface="Red Hat Text"/>
                <a:cs typeface="Red Hat Text"/>
                <a:sym typeface="Red Hat Text"/>
              </a:rPr>
              <a:t>Both are pipelines: linear, bespoke, point-to-point flows from a known source to a known destination.</a:t>
            </a:r>
            <a:endParaRPr b="0" i="0" sz="1600" u="none" cap="none" strike="noStrike">
              <a:solidFill>
                <a:schemeClr val="dk1"/>
              </a:solidFill>
              <a:latin typeface="Calibri"/>
              <a:ea typeface="Calibri"/>
              <a:cs typeface="Calibri"/>
              <a:sym typeface="Calibri"/>
            </a:endParaRPr>
          </a:p>
          <a:p>
            <a:pPr indent="0" lvl="0" marL="0" marR="0" rtl="0" algn="l">
              <a:spcBef>
                <a:spcPts val="1400"/>
              </a:spcBef>
              <a:spcAft>
                <a:spcPts val="0"/>
              </a:spcAft>
              <a:buClr>
                <a:srgbClr val="151515"/>
              </a:buClr>
              <a:buSzPts val="1700"/>
              <a:buFont typeface="Overpass SemiBold"/>
              <a:buNone/>
            </a:pPr>
            <a:r>
              <a:rPr b="1" i="0" lang="en-US" sz="1700" u="none" cap="none" strike="noStrike">
                <a:solidFill>
                  <a:srgbClr val="151515"/>
                </a:solidFill>
                <a:latin typeface="Overpass SemiBold"/>
                <a:ea typeface="Overpass SemiBold"/>
                <a:cs typeface="Overpass SemiBold"/>
                <a:sym typeface="Overpass SemiBold"/>
              </a:rPr>
              <a:t>The limitation: pipeline sprawl</a:t>
            </a:r>
            <a:endParaRPr b="0" i="0" sz="1600" u="none" cap="none" strike="noStrike">
              <a:solidFill>
                <a:schemeClr val="dk1"/>
              </a:solidFill>
              <a:latin typeface="Calibri"/>
              <a:ea typeface="Calibri"/>
              <a:cs typeface="Calibri"/>
              <a:sym typeface="Calibri"/>
            </a:endParaRPr>
          </a:p>
          <a:p>
            <a:pPr indent="-228600" lvl="0" marL="228600" marR="0" rtl="0" algn="l">
              <a:spcBef>
                <a:spcPts val="300"/>
              </a:spcBef>
              <a:spcAft>
                <a:spcPts val="0"/>
              </a:spcAft>
              <a:buClr>
                <a:srgbClr val="151515"/>
              </a:buClr>
              <a:buSzPts val="1600"/>
              <a:buFont typeface="Red Hat Text"/>
              <a:buChar char="•"/>
            </a:pPr>
            <a:r>
              <a:rPr b="0" i="0" lang="en-US" sz="1600" u="none" cap="none" strike="noStrike">
                <a:solidFill>
                  <a:srgbClr val="151515"/>
                </a:solidFill>
                <a:latin typeface="Red Hat Text"/>
                <a:ea typeface="Red Hat Text"/>
                <a:cs typeface="Red Hat Text"/>
                <a:sym typeface="Red Hat Text"/>
              </a:rPr>
              <a:t>Each source-destination pair needs its own pipeline. The total grows as the product of sources and destinations, not the sum. Nobody 'owns' the data flowing through a pipeline — the pipeline is plumbing, not a product.</a:t>
            </a:r>
            <a:endParaRPr b="0" i="0" sz="1600" u="none" cap="none" strike="noStrike">
              <a:solidFill>
                <a:schemeClr val="dk1"/>
              </a:solidFill>
              <a:latin typeface="Calibri"/>
              <a:ea typeface="Calibri"/>
              <a:cs typeface="Calibri"/>
              <a:sym typeface="Calibri"/>
            </a:endParaRPr>
          </a:p>
        </p:txBody>
      </p:sp>
      <p:sp>
        <p:nvSpPr>
          <p:cNvPr id="40" name="Google Shape;40;p5"/>
          <p:cNvSpPr/>
          <p:nvPr/>
        </p:nvSpPr>
        <p:spPr>
          <a:xfrm>
            <a:off x="457200" y="6400800"/>
            <a:ext cx="914400" cy="27432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8A8A8A"/>
              </a:buClr>
              <a:buSzPts val="1000"/>
              <a:buFont typeface="Red Hat Text"/>
              <a:buNone/>
            </a:pPr>
            <a:r>
              <a:rPr b="0" i="0" lang="en-US" sz="1000" u="none" cap="none" strike="noStrike">
                <a:solidFill>
                  <a:srgbClr val="8A8A8A"/>
                </a:solidFill>
                <a:latin typeface="Red Hat Text"/>
                <a:ea typeface="Red Hat Text"/>
                <a:cs typeface="Red Hat Text"/>
                <a:sym typeface="Red Hat Text"/>
              </a:rPr>
              <a:t>2</a:t>
            </a:r>
            <a:endParaRPr b="0" i="0" sz="1000" u="none" cap="none" strike="noStrike">
              <a:solidFill>
                <a:schemeClr val="dk1"/>
              </a:solidFill>
              <a:latin typeface="Calibri"/>
              <a:ea typeface="Calibri"/>
              <a:cs typeface="Calibri"/>
              <a:sym typeface="Calibri"/>
            </a:endParaRPr>
          </a:p>
        </p:txBody>
      </p:sp>
      <p:pic>
        <p:nvPicPr>
          <p:cNvPr descr="../data-mesh-openshift/brand-logo-dark.png" id="41" name="Google Shape;41;p5"/>
          <p:cNvPicPr preferRelativeResize="0"/>
          <p:nvPr/>
        </p:nvPicPr>
        <p:blipFill rotWithShape="1">
          <a:blip r:embed="rId3">
            <a:alphaModFix/>
          </a:blip>
          <a:srcRect b="0" l="0" r="0" t="0"/>
          <a:stretch/>
        </p:blipFill>
        <p:spPr>
          <a:xfrm>
            <a:off x="10591495" y="6353919"/>
            <a:ext cx="1051560" cy="248049"/>
          </a:xfrm>
          <a:prstGeom prst="rect">
            <a:avLst/>
          </a:prstGeom>
          <a:noFill/>
          <a:ln>
            <a:noFill/>
          </a:ln>
        </p:spPr>
      </p:pic>
    </p:spTree>
  </p:cSld>
  <p:clrMapOvr>
    <a:masterClrMapping/>
  </p:clrMapOvr>
</p:sld>
</file>

<file path=ppt/slides/slide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FFFFF"/>
        </a:solidFill>
      </p:bgPr>
    </p:bg>
    <p:spTree>
      <p:nvGrpSpPr>
        <p:cNvPr id="46" name="Shape 46"/>
        <p:cNvGrpSpPr/>
        <p:nvPr/>
      </p:nvGrpSpPr>
      <p:grpSpPr>
        <a:xfrm>
          <a:off x="0" y="0"/>
          <a:ext cx="0" cy="0"/>
          <a:chOff x="0" y="0"/>
          <a:chExt cx="0" cy="0"/>
        </a:xfrm>
      </p:grpSpPr>
      <p:sp>
        <p:nvSpPr>
          <p:cNvPr id="47" name="Google Shape;47;p6"/>
          <p:cNvSpPr/>
          <p:nvPr/>
        </p:nvSpPr>
        <p:spPr>
          <a:xfrm>
            <a:off x="640080" y="411480"/>
            <a:ext cx="10911535" cy="292608"/>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EE0000"/>
              </a:buClr>
              <a:buSzPts val="1200"/>
              <a:buFont typeface="Overpass SemiBold"/>
              <a:buNone/>
            </a:pPr>
            <a:r>
              <a:rPr b="1" i="0" lang="en-US" sz="1200" u="none" cap="none" strike="noStrike">
                <a:solidFill>
                  <a:srgbClr val="EE0000"/>
                </a:solidFill>
                <a:latin typeface="Overpass SemiBold"/>
                <a:ea typeface="Overpass SemiBold"/>
                <a:cs typeface="Overpass SemiBold"/>
                <a:sym typeface="Overpass SemiBold"/>
              </a:rPr>
              <a:t>DATA ARCHITECTURES</a:t>
            </a:r>
            <a:endParaRPr b="0" i="0" sz="1200" u="none" cap="none" strike="noStrike">
              <a:solidFill>
                <a:schemeClr val="dk1"/>
              </a:solidFill>
              <a:latin typeface="Calibri"/>
              <a:ea typeface="Calibri"/>
              <a:cs typeface="Calibri"/>
              <a:sym typeface="Calibri"/>
            </a:endParaRPr>
          </a:p>
        </p:txBody>
      </p:sp>
      <p:sp>
        <p:nvSpPr>
          <p:cNvPr id="48" name="Google Shape;48;p6"/>
          <p:cNvSpPr/>
          <p:nvPr/>
        </p:nvSpPr>
        <p:spPr>
          <a:xfrm>
            <a:off x="640080" y="713232"/>
            <a:ext cx="10911535" cy="868680"/>
          </a:xfrm>
          <a:prstGeom prst="rect">
            <a:avLst/>
          </a:prstGeom>
          <a:noFill/>
          <a:ln>
            <a:noFill/>
          </a:ln>
        </p:spPr>
        <p:txBody>
          <a:bodyPr anchorCtr="0" anchor="t" bIns="0" lIns="0" spcFirstLastPara="1" rIns="0" wrap="square" tIns="0">
            <a:noAutofit/>
          </a:bodyPr>
          <a:lstStyle/>
          <a:p>
            <a:pPr indent="0" lvl="0" marL="0" marR="0" rtl="0" algn="l">
              <a:spcBef>
                <a:spcPts val="0"/>
              </a:spcBef>
              <a:spcAft>
                <a:spcPts val="0"/>
              </a:spcAft>
              <a:buClr>
                <a:srgbClr val="151515"/>
              </a:buClr>
              <a:buSzPts val="3000"/>
              <a:buFont typeface="Overpass SemiBold"/>
              <a:buNone/>
            </a:pPr>
            <a:r>
              <a:rPr b="1" i="0" lang="en-US" sz="3000" u="none" cap="none" strike="noStrike">
                <a:solidFill>
                  <a:srgbClr val="151515"/>
                </a:solidFill>
                <a:latin typeface="Overpass SemiBold"/>
                <a:ea typeface="Overpass SemiBold"/>
                <a:cs typeface="Overpass SemiBold"/>
                <a:sym typeface="Overpass SemiBold"/>
              </a:rPr>
              <a:t>Pipeline architecture — linear, bespoke, multiplying</a:t>
            </a:r>
            <a:endParaRPr b="0" i="0" sz="3000" u="none" cap="none" strike="noStrike">
              <a:solidFill>
                <a:schemeClr val="dk1"/>
              </a:solidFill>
              <a:latin typeface="Calibri"/>
              <a:ea typeface="Calibri"/>
              <a:cs typeface="Calibri"/>
              <a:sym typeface="Calibri"/>
            </a:endParaRPr>
          </a:p>
        </p:txBody>
      </p:sp>
      <p:pic>
        <p:nvPicPr>
          <p:cNvPr descr="dpng/01-data-pipeline-architecture.png" id="49" name="Google Shape;49;p6"/>
          <p:cNvPicPr preferRelativeResize="0"/>
          <p:nvPr/>
        </p:nvPicPr>
        <p:blipFill rotWithShape="1">
          <a:blip r:embed="rId3">
            <a:alphaModFix/>
          </a:blip>
          <a:srcRect b="0" l="0" r="0" t="0"/>
          <a:stretch/>
        </p:blipFill>
        <p:spPr>
          <a:xfrm>
            <a:off x="1954192" y="1645920"/>
            <a:ext cx="8283312" cy="3931920"/>
          </a:xfrm>
          <a:prstGeom prst="rect">
            <a:avLst/>
          </a:prstGeom>
          <a:noFill/>
          <a:ln>
            <a:noFill/>
          </a:ln>
        </p:spPr>
      </p:pic>
      <p:sp>
        <p:nvSpPr>
          <p:cNvPr id="50" name="Google Shape;50;p6"/>
          <p:cNvSpPr/>
          <p:nvPr/>
        </p:nvSpPr>
        <p:spPr>
          <a:xfrm>
            <a:off x="731520" y="5943600"/>
            <a:ext cx="10728655" cy="457200"/>
          </a:xfrm>
          <a:prstGeom prst="rect">
            <a:avLst/>
          </a:prstGeom>
          <a:noFill/>
          <a:ln>
            <a:noFill/>
          </a:ln>
        </p:spPr>
        <p:txBody>
          <a:bodyPr anchorCtr="0" anchor="t" bIns="0" lIns="0" spcFirstLastPara="1" rIns="0" wrap="square" tIns="0">
            <a:noAutofit/>
          </a:bodyPr>
          <a:lstStyle/>
          <a:p>
            <a:pPr indent="0" lvl="0" marL="0" marR="0" rtl="0" algn="ctr">
              <a:spcBef>
                <a:spcPts val="0"/>
              </a:spcBef>
              <a:spcAft>
                <a:spcPts val="0"/>
              </a:spcAft>
              <a:buClr>
                <a:srgbClr val="5A5A5A"/>
              </a:buClr>
              <a:buSzPts val="1250"/>
              <a:buFont typeface="Red Hat Text"/>
              <a:buNone/>
            </a:pPr>
            <a:r>
              <a:rPr b="0" i="1" lang="en-US" sz="1250" u="none" cap="none" strike="noStrike">
                <a:solidFill>
                  <a:srgbClr val="5A5A5A"/>
                </a:solidFill>
                <a:latin typeface="Red Hat Text"/>
                <a:ea typeface="Red Hat Text"/>
                <a:cs typeface="Red Hat Text"/>
                <a:sym typeface="Red Hat Text"/>
              </a:rPr>
              <a:t>Extract-transform-load: each source-destination pair requires its own pipeline, and the total grows as the product of sources and destinations.</a:t>
            </a:r>
            <a:endParaRPr b="0" i="0" sz="1250" u="none" cap="none" strike="noStrike">
              <a:solidFill>
                <a:schemeClr val="dk1"/>
              </a:solidFill>
              <a:latin typeface="Calibri"/>
              <a:ea typeface="Calibri"/>
              <a:cs typeface="Calibri"/>
              <a:sym typeface="Calibri"/>
            </a:endParaRPr>
          </a:p>
        </p:txBody>
      </p:sp>
      <p:sp>
        <p:nvSpPr>
          <p:cNvPr id="51" name="Google Shape;51;p6"/>
          <p:cNvSpPr/>
          <p:nvPr/>
        </p:nvSpPr>
        <p:spPr>
          <a:xfrm>
            <a:off x="457200" y="6400800"/>
            <a:ext cx="914400" cy="27432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8A8A8A"/>
              </a:buClr>
              <a:buSzPts val="1000"/>
              <a:buFont typeface="Red Hat Text"/>
              <a:buNone/>
            </a:pPr>
            <a:r>
              <a:rPr b="0" i="0" lang="en-US" sz="1000" u="none" cap="none" strike="noStrike">
                <a:solidFill>
                  <a:srgbClr val="8A8A8A"/>
                </a:solidFill>
                <a:latin typeface="Red Hat Text"/>
                <a:ea typeface="Red Hat Text"/>
                <a:cs typeface="Red Hat Text"/>
                <a:sym typeface="Red Hat Text"/>
              </a:rPr>
              <a:t>3</a:t>
            </a:r>
            <a:endParaRPr b="0" i="0" sz="1000" u="none" cap="none" strike="noStrike">
              <a:solidFill>
                <a:schemeClr val="dk1"/>
              </a:solidFill>
              <a:latin typeface="Calibri"/>
              <a:ea typeface="Calibri"/>
              <a:cs typeface="Calibri"/>
              <a:sym typeface="Calibri"/>
            </a:endParaRPr>
          </a:p>
        </p:txBody>
      </p:sp>
      <p:pic>
        <p:nvPicPr>
          <p:cNvPr descr="../data-mesh-openshift/brand-logo-dark.png" id="52" name="Google Shape;52;p6"/>
          <p:cNvPicPr preferRelativeResize="0"/>
          <p:nvPr/>
        </p:nvPicPr>
        <p:blipFill rotWithShape="1">
          <a:blip r:embed="rId4">
            <a:alphaModFix/>
          </a:blip>
          <a:srcRect b="0" l="0" r="0" t="0"/>
          <a:stretch/>
        </p:blipFill>
        <p:spPr>
          <a:xfrm>
            <a:off x="10591495" y="6353919"/>
            <a:ext cx="1051560" cy="248049"/>
          </a:xfrm>
          <a:prstGeom prst="rect">
            <a:avLst/>
          </a:prstGeom>
          <a:noFill/>
          <a:ln>
            <a:noFill/>
          </a:ln>
        </p:spPr>
      </p:pic>
    </p:spTree>
  </p:cSld>
  <p:clrMapOvr>
    <a:masterClrMapping/>
  </p:clrMapOvr>
</p:sld>
</file>

<file path=ppt/slides/slide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FFFFF"/>
        </a:solidFill>
      </p:bgPr>
    </p:bg>
    <p:spTree>
      <p:nvGrpSpPr>
        <p:cNvPr id="57" name="Shape 57"/>
        <p:cNvGrpSpPr/>
        <p:nvPr/>
      </p:nvGrpSpPr>
      <p:grpSpPr>
        <a:xfrm>
          <a:off x="0" y="0"/>
          <a:ext cx="0" cy="0"/>
          <a:chOff x="0" y="0"/>
          <a:chExt cx="0" cy="0"/>
        </a:xfrm>
      </p:grpSpPr>
      <p:sp>
        <p:nvSpPr>
          <p:cNvPr id="58" name="Google Shape;58;p7"/>
          <p:cNvSpPr/>
          <p:nvPr/>
        </p:nvSpPr>
        <p:spPr>
          <a:xfrm>
            <a:off x="640080" y="411480"/>
            <a:ext cx="10911535" cy="292608"/>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EE0000"/>
              </a:buClr>
              <a:buSzPts val="1200"/>
              <a:buFont typeface="Overpass SemiBold"/>
              <a:buNone/>
            </a:pPr>
            <a:r>
              <a:rPr b="1" i="0" lang="en-US" sz="1200" u="none" cap="none" strike="noStrike">
                <a:solidFill>
                  <a:srgbClr val="EE0000"/>
                </a:solidFill>
                <a:latin typeface="Overpass SemiBold"/>
                <a:ea typeface="Overpass SemiBold"/>
                <a:cs typeface="Overpass SemiBold"/>
                <a:sym typeface="Overpass SemiBold"/>
              </a:rPr>
              <a:t>DATA ARCHITECTURES</a:t>
            </a:r>
            <a:endParaRPr b="0" i="0" sz="1200" u="none" cap="none" strike="noStrike">
              <a:solidFill>
                <a:schemeClr val="dk1"/>
              </a:solidFill>
              <a:latin typeface="Calibri"/>
              <a:ea typeface="Calibri"/>
              <a:cs typeface="Calibri"/>
              <a:sym typeface="Calibri"/>
            </a:endParaRPr>
          </a:p>
        </p:txBody>
      </p:sp>
      <p:sp>
        <p:nvSpPr>
          <p:cNvPr id="59" name="Google Shape;59;p7"/>
          <p:cNvSpPr/>
          <p:nvPr/>
        </p:nvSpPr>
        <p:spPr>
          <a:xfrm>
            <a:off x="640080" y="713232"/>
            <a:ext cx="10911535" cy="868680"/>
          </a:xfrm>
          <a:prstGeom prst="rect">
            <a:avLst/>
          </a:prstGeom>
          <a:noFill/>
          <a:ln>
            <a:noFill/>
          </a:ln>
        </p:spPr>
        <p:txBody>
          <a:bodyPr anchorCtr="0" anchor="t" bIns="0" lIns="0" spcFirstLastPara="1" rIns="0" wrap="square" tIns="0">
            <a:noAutofit/>
          </a:bodyPr>
          <a:lstStyle/>
          <a:p>
            <a:pPr indent="0" lvl="0" marL="0" marR="0" rtl="0" algn="l">
              <a:spcBef>
                <a:spcPts val="0"/>
              </a:spcBef>
              <a:spcAft>
                <a:spcPts val="0"/>
              </a:spcAft>
              <a:buClr>
                <a:srgbClr val="151515"/>
              </a:buClr>
              <a:buSzPts val="3000"/>
              <a:buFont typeface="Overpass SemiBold"/>
              <a:buNone/>
            </a:pPr>
            <a:r>
              <a:rPr b="1" i="0" lang="en-US" sz="3000" u="none" cap="none" strike="noStrike">
                <a:solidFill>
                  <a:srgbClr val="151515"/>
                </a:solidFill>
                <a:latin typeface="Overpass SemiBold"/>
                <a:ea typeface="Overpass SemiBold"/>
                <a:cs typeface="Overpass SemiBold"/>
                <a:sym typeface="Overpass SemiBold"/>
              </a:rPr>
              <a:t>Data warehouses — the single source of truth</a:t>
            </a:r>
            <a:endParaRPr b="0" i="0" sz="3000" u="none" cap="none" strike="noStrike">
              <a:solidFill>
                <a:schemeClr val="dk1"/>
              </a:solidFill>
              <a:latin typeface="Calibri"/>
              <a:ea typeface="Calibri"/>
              <a:cs typeface="Calibri"/>
              <a:sym typeface="Calibri"/>
            </a:endParaRPr>
          </a:p>
        </p:txBody>
      </p:sp>
      <p:sp>
        <p:nvSpPr>
          <p:cNvPr id="60" name="Google Shape;60;p7"/>
          <p:cNvSpPr/>
          <p:nvPr/>
        </p:nvSpPr>
        <p:spPr>
          <a:xfrm>
            <a:off x="640080" y="1783080"/>
            <a:ext cx="10911535" cy="4206240"/>
          </a:xfrm>
          <a:prstGeom prst="rect">
            <a:avLst/>
          </a:prstGeom>
          <a:noFill/>
          <a:ln>
            <a:noFill/>
          </a:ln>
        </p:spPr>
        <p:txBody>
          <a:bodyPr anchorCtr="0" anchor="t" bIns="0" lIns="0" spcFirstLastPara="1" rIns="0" wrap="square" tIns="0">
            <a:noAutofit/>
          </a:bodyPr>
          <a:lstStyle/>
          <a:p>
            <a:pPr indent="-228600" lvl="0" marL="228600" marR="0" rtl="0" algn="l">
              <a:spcBef>
                <a:spcPts val="0"/>
              </a:spcBef>
              <a:spcAft>
                <a:spcPts val="0"/>
              </a:spcAft>
              <a:buClr>
                <a:srgbClr val="242424"/>
              </a:buClr>
              <a:buSzPts val="1600"/>
              <a:buFont typeface="Red Hat Text"/>
              <a:buChar char="•"/>
            </a:pPr>
            <a:r>
              <a:rPr b="0" i="0" lang="en-US" sz="1600" u="none" cap="none" strike="noStrike">
                <a:solidFill>
                  <a:srgbClr val="242424"/>
                </a:solidFill>
                <a:latin typeface="Red Hat Text"/>
                <a:ea typeface="Red Hat Text"/>
                <a:cs typeface="Red Hat Text"/>
                <a:sym typeface="Red Hat Text"/>
              </a:rPr>
              <a:t>A data warehouse is a centralized analytical store, purpose-built for structured queries across the entire business. Where pipelines are plumbing, the warehouse is a destination.</a:t>
            </a:r>
            <a:endParaRPr b="0" i="0" sz="1600" u="none" cap="none" strike="noStrike">
              <a:solidFill>
                <a:schemeClr val="dk1"/>
              </a:solidFill>
              <a:latin typeface="Calibri"/>
              <a:ea typeface="Calibri"/>
              <a:cs typeface="Calibri"/>
              <a:sym typeface="Calibri"/>
            </a:endParaRPr>
          </a:p>
          <a:p>
            <a:pPr indent="-228600" lvl="1" marL="457200" marR="0" rtl="0" algn="l">
              <a:spcBef>
                <a:spcPts val="600"/>
              </a:spcBef>
              <a:spcAft>
                <a:spcPts val="0"/>
              </a:spcAft>
              <a:buClr>
                <a:srgbClr val="5A5A5A"/>
              </a:buClr>
              <a:buSzPts val="1500"/>
              <a:buFont typeface="Red Hat Text"/>
              <a:buChar char="•"/>
            </a:pPr>
            <a:r>
              <a:rPr b="0" i="0" lang="en-US" sz="1500" u="none" cap="none" strike="noStrike">
                <a:solidFill>
                  <a:srgbClr val="5A5A5A"/>
                </a:solidFill>
                <a:latin typeface="Red Hat Text"/>
                <a:ea typeface="Red Hat Text"/>
                <a:cs typeface="Red Hat Text"/>
                <a:sym typeface="Red Hat Text"/>
              </a:rPr>
              <a:t>Star schemas, fact tables, dimension tables — all optimized for the aggregations and joins that BI tools need.</a:t>
            </a:r>
            <a:endParaRPr b="0" i="0" sz="1600" u="none" cap="none" strike="noStrike">
              <a:solidFill>
                <a:schemeClr val="dk1"/>
              </a:solidFill>
              <a:latin typeface="Calibri"/>
              <a:ea typeface="Calibri"/>
              <a:cs typeface="Calibri"/>
              <a:sym typeface="Calibri"/>
            </a:endParaRPr>
          </a:p>
          <a:p>
            <a:pPr indent="0" lvl="0" marL="0" marR="0" rtl="0" algn="l">
              <a:spcBef>
                <a:spcPts val="1400"/>
              </a:spcBef>
              <a:spcAft>
                <a:spcPts val="0"/>
              </a:spcAft>
              <a:buClr>
                <a:srgbClr val="151515"/>
              </a:buClr>
              <a:buSzPts val="1700"/>
              <a:buFont typeface="Overpass SemiBold"/>
              <a:buNone/>
            </a:pPr>
            <a:r>
              <a:rPr b="1" i="0" lang="en-US" sz="1700" u="none" cap="none" strike="noStrike">
                <a:solidFill>
                  <a:srgbClr val="151515"/>
                </a:solidFill>
                <a:latin typeface="Overpass SemiBold"/>
                <a:ea typeface="Overpass SemiBold"/>
                <a:cs typeface="Overpass SemiBold"/>
                <a:sym typeface="Overpass SemiBold"/>
              </a:rPr>
              <a:t>Schema-on-write</a:t>
            </a:r>
            <a:endParaRPr b="0" i="0" sz="1600" u="none" cap="none" strike="noStrike">
              <a:solidFill>
                <a:schemeClr val="dk1"/>
              </a:solidFill>
              <a:latin typeface="Calibri"/>
              <a:ea typeface="Calibri"/>
              <a:cs typeface="Calibri"/>
              <a:sym typeface="Calibri"/>
            </a:endParaRPr>
          </a:p>
          <a:p>
            <a:pPr indent="-228600" lvl="0" marL="228600" marR="0" rtl="0" algn="l">
              <a:spcBef>
                <a:spcPts val="300"/>
              </a:spcBef>
              <a:spcAft>
                <a:spcPts val="0"/>
              </a:spcAft>
              <a:buClr>
                <a:srgbClr val="242424"/>
              </a:buClr>
              <a:buSzPts val="1600"/>
              <a:buFont typeface="Red Hat Text"/>
              <a:buChar char="•"/>
            </a:pPr>
            <a:r>
              <a:rPr b="0" i="0" lang="en-US" sz="1600" u="none" cap="none" strike="noStrike">
                <a:solidFill>
                  <a:srgbClr val="242424"/>
                </a:solidFill>
                <a:latin typeface="Red Hat Text"/>
                <a:ea typeface="Red Hat Text"/>
                <a:cs typeface="Red Hat Text"/>
                <a:sym typeface="Red Hat Text"/>
              </a:rPr>
              <a:t>Data is modeled and validated before it's stored. The rigidity is a feature: it forces consistency and creates a governed single source of truth.</a:t>
            </a:r>
            <a:endParaRPr b="0" i="0" sz="1600" u="none" cap="none" strike="noStrike">
              <a:solidFill>
                <a:schemeClr val="dk1"/>
              </a:solidFill>
              <a:latin typeface="Calibri"/>
              <a:ea typeface="Calibri"/>
              <a:cs typeface="Calibri"/>
              <a:sym typeface="Calibri"/>
            </a:endParaRPr>
          </a:p>
          <a:p>
            <a:pPr indent="0" lvl="0" marL="0" marR="0" rtl="0" algn="l">
              <a:spcBef>
                <a:spcPts val="1400"/>
              </a:spcBef>
              <a:spcAft>
                <a:spcPts val="0"/>
              </a:spcAft>
              <a:buClr>
                <a:srgbClr val="151515"/>
              </a:buClr>
              <a:buSzPts val="1700"/>
              <a:buFont typeface="Overpass SemiBold"/>
              <a:buNone/>
            </a:pPr>
            <a:r>
              <a:rPr b="1" i="0" lang="en-US" sz="1700" u="none" cap="none" strike="noStrike">
                <a:solidFill>
                  <a:srgbClr val="151515"/>
                </a:solidFill>
                <a:latin typeface="Overpass SemiBold"/>
                <a:ea typeface="Overpass SemiBold"/>
                <a:cs typeface="Overpass SemiBold"/>
                <a:sym typeface="Overpass SemiBold"/>
              </a:rPr>
              <a:t>The limitation: central-team bottleneck</a:t>
            </a:r>
            <a:endParaRPr b="0" i="0" sz="1600" u="none" cap="none" strike="noStrike">
              <a:solidFill>
                <a:schemeClr val="dk1"/>
              </a:solidFill>
              <a:latin typeface="Calibri"/>
              <a:ea typeface="Calibri"/>
              <a:cs typeface="Calibri"/>
              <a:sym typeface="Calibri"/>
            </a:endParaRPr>
          </a:p>
          <a:p>
            <a:pPr indent="-228600" lvl="0" marL="228600" marR="0" rtl="0" algn="l">
              <a:spcBef>
                <a:spcPts val="300"/>
              </a:spcBef>
              <a:spcAft>
                <a:spcPts val="0"/>
              </a:spcAft>
              <a:buClr>
                <a:srgbClr val="151515"/>
              </a:buClr>
              <a:buSzPts val="1600"/>
              <a:buFont typeface="Red Hat Text"/>
              <a:buChar char="•"/>
            </a:pPr>
            <a:r>
              <a:rPr b="0" i="0" lang="en-US" sz="1600" u="none" cap="none" strike="noStrike">
                <a:solidFill>
                  <a:srgbClr val="151515"/>
                </a:solidFill>
                <a:latin typeface="Red Hat Text"/>
                <a:ea typeface="Red Hat Text"/>
                <a:cs typeface="Red Hat Text"/>
                <a:sym typeface="Red Hat Text"/>
              </a:rPr>
              <a:t>The warehouse is owned by a central data team that owns all the data but understands none of the domains. Schema changes require central coordination. The analytical view is always hours or days behind the operational truth.</a:t>
            </a:r>
            <a:endParaRPr b="0" i="0" sz="1600" u="none" cap="none" strike="noStrike">
              <a:solidFill>
                <a:schemeClr val="dk1"/>
              </a:solidFill>
              <a:latin typeface="Calibri"/>
              <a:ea typeface="Calibri"/>
              <a:cs typeface="Calibri"/>
              <a:sym typeface="Calibri"/>
            </a:endParaRPr>
          </a:p>
          <a:p>
            <a:pPr indent="-228600" lvl="1" marL="457200" marR="0" rtl="0" algn="l">
              <a:spcBef>
                <a:spcPts val="600"/>
              </a:spcBef>
              <a:spcAft>
                <a:spcPts val="0"/>
              </a:spcAft>
              <a:buClr>
                <a:srgbClr val="5A5A5A"/>
              </a:buClr>
              <a:buSzPts val="1500"/>
              <a:buFont typeface="Red Hat Text"/>
              <a:buChar char="•"/>
            </a:pPr>
            <a:r>
              <a:rPr b="0" i="0" lang="en-US" sz="1500" u="none" cap="none" strike="noStrike">
                <a:solidFill>
                  <a:srgbClr val="5A5A5A"/>
                </a:solidFill>
                <a:latin typeface="Red Hat Text"/>
                <a:ea typeface="Red Hat Text"/>
                <a:cs typeface="Red Hat Text"/>
                <a:sym typeface="Red Hat Text"/>
              </a:rPr>
              <a:t>As the organization grows, the central team processes more requests than it can understand — the queue becomes the bottleneck.</a:t>
            </a:r>
            <a:endParaRPr b="0" i="0" sz="1600" u="none" cap="none" strike="noStrike">
              <a:solidFill>
                <a:schemeClr val="dk1"/>
              </a:solidFill>
              <a:latin typeface="Calibri"/>
              <a:ea typeface="Calibri"/>
              <a:cs typeface="Calibri"/>
              <a:sym typeface="Calibri"/>
            </a:endParaRPr>
          </a:p>
        </p:txBody>
      </p:sp>
      <p:sp>
        <p:nvSpPr>
          <p:cNvPr id="61" name="Google Shape;61;p7"/>
          <p:cNvSpPr/>
          <p:nvPr/>
        </p:nvSpPr>
        <p:spPr>
          <a:xfrm>
            <a:off x="457200" y="6400800"/>
            <a:ext cx="914400" cy="27432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8A8A8A"/>
              </a:buClr>
              <a:buSzPts val="1000"/>
              <a:buFont typeface="Red Hat Text"/>
              <a:buNone/>
            </a:pPr>
            <a:r>
              <a:rPr b="0" i="0" lang="en-US" sz="1000" u="none" cap="none" strike="noStrike">
                <a:solidFill>
                  <a:srgbClr val="8A8A8A"/>
                </a:solidFill>
                <a:latin typeface="Red Hat Text"/>
                <a:ea typeface="Red Hat Text"/>
                <a:cs typeface="Red Hat Text"/>
                <a:sym typeface="Red Hat Text"/>
              </a:rPr>
              <a:t>4</a:t>
            </a:r>
            <a:endParaRPr b="0" i="0" sz="1000" u="none" cap="none" strike="noStrike">
              <a:solidFill>
                <a:schemeClr val="dk1"/>
              </a:solidFill>
              <a:latin typeface="Calibri"/>
              <a:ea typeface="Calibri"/>
              <a:cs typeface="Calibri"/>
              <a:sym typeface="Calibri"/>
            </a:endParaRPr>
          </a:p>
        </p:txBody>
      </p:sp>
      <p:pic>
        <p:nvPicPr>
          <p:cNvPr descr="../data-mesh-openshift/brand-logo-dark.png" id="62" name="Google Shape;62;p7"/>
          <p:cNvPicPr preferRelativeResize="0"/>
          <p:nvPr/>
        </p:nvPicPr>
        <p:blipFill rotWithShape="1">
          <a:blip r:embed="rId3">
            <a:alphaModFix/>
          </a:blip>
          <a:srcRect b="0" l="0" r="0" t="0"/>
          <a:stretch/>
        </p:blipFill>
        <p:spPr>
          <a:xfrm>
            <a:off x="10591495" y="6353919"/>
            <a:ext cx="1051560" cy="248049"/>
          </a:xfrm>
          <a:prstGeom prst="rect">
            <a:avLst/>
          </a:prstGeom>
          <a:noFill/>
          <a:ln>
            <a:noFill/>
          </a:ln>
        </p:spPr>
      </p:pic>
    </p:spTree>
  </p:cSld>
  <p:clrMapOvr>
    <a:masterClrMapping/>
  </p:clrMapOvr>
</p:sld>
</file>

<file path=ppt/slides/slide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FFFFF"/>
        </a:solidFill>
      </p:bgPr>
    </p:bg>
    <p:spTree>
      <p:nvGrpSpPr>
        <p:cNvPr id="67" name="Shape 67"/>
        <p:cNvGrpSpPr/>
        <p:nvPr/>
      </p:nvGrpSpPr>
      <p:grpSpPr>
        <a:xfrm>
          <a:off x="0" y="0"/>
          <a:ext cx="0" cy="0"/>
          <a:chOff x="0" y="0"/>
          <a:chExt cx="0" cy="0"/>
        </a:xfrm>
      </p:grpSpPr>
      <p:sp>
        <p:nvSpPr>
          <p:cNvPr id="68" name="Google Shape;68;p8"/>
          <p:cNvSpPr/>
          <p:nvPr/>
        </p:nvSpPr>
        <p:spPr>
          <a:xfrm>
            <a:off x="640080" y="411480"/>
            <a:ext cx="10911535" cy="292608"/>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EE0000"/>
              </a:buClr>
              <a:buSzPts val="1200"/>
              <a:buFont typeface="Overpass SemiBold"/>
              <a:buNone/>
            </a:pPr>
            <a:r>
              <a:rPr b="1" i="0" lang="en-US" sz="1200" u="none" cap="none" strike="noStrike">
                <a:solidFill>
                  <a:srgbClr val="EE0000"/>
                </a:solidFill>
                <a:latin typeface="Overpass SemiBold"/>
                <a:ea typeface="Overpass SemiBold"/>
                <a:cs typeface="Overpass SemiBold"/>
                <a:sym typeface="Overpass SemiBold"/>
              </a:rPr>
              <a:t>DATA ARCHITECTURES</a:t>
            </a:r>
            <a:endParaRPr b="0" i="0" sz="1200" u="none" cap="none" strike="noStrike">
              <a:solidFill>
                <a:schemeClr val="dk1"/>
              </a:solidFill>
              <a:latin typeface="Calibri"/>
              <a:ea typeface="Calibri"/>
              <a:cs typeface="Calibri"/>
              <a:sym typeface="Calibri"/>
            </a:endParaRPr>
          </a:p>
        </p:txBody>
      </p:sp>
      <p:sp>
        <p:nvSpPr>
          <p:cNvPr id="69" name="Google Shape;69;p8"/>
          <p:cNvSpPr/>
          <p:nvPr/>
        </p:nvSpPr>
        <p:spPr>
          <a:xfrm>
            <a:off x="640080" y="713232"/>
            <a:ext cx="10911535" cy="868680"/>
          </a:xfrm>
          <a:prstGeom prst="rect">
            <a:avLst/>
          </a:prstGeom>
          <a:noFill/>
          <a:ln>
            <a:noFill/>
          </a:ln>
        </p:spPr>
        <p:txBody>
          <a:bodyPr anchorCtr="0" anchor="t" bIns="0" lIns="0" spcFirstLastPara="1" rIns="0" wrap="square" tIns="0">
            <a:noAutofit/>
          </a:bodyPr>
          <a:lstStyle/>
          <a:p>
            <a:pPr indent="0" lvl="0" marL="0" marR="0" rtl="0" algn="l">
              <a:spcBef>
                <a:spcPts val="0"/>
              </a:spcBef>
              <a:spcAft>
                <a:spcPts val="0"/>
              </a:spcAft>
              <a:buClr>
                <a:srgbClr val="151515"/>
              </a:buClr>
              <a:buSzPts val="3000"/>
              <a:buFont typeface="Overpass SemiBold"/>
              <a:buNone/>
            </a:pPr>
            <a:r>
              <a:rPr b="1" i="0" lang="en-US" sz="3000" u="none" cap="none" strike="noStrike">
                <a:solidFill>
                  <a:srgbClr val="151515"/>
                </a:solidFill>
                <a:latin typeface="Overpass SemiBold"/>
                <a:ea typeface="Overpass SemiBold"/>
                <a:cs typeface="Overpass SemiBold"/>
                <a:sym typeface="Overpass SemiBold"/>
              </a:rPr>
              <a:t>Warehouse architecture — many sources, one team, one store</a:t>
            </a:r>
            <a:endParaRPr b="0" i="0" sz="3000" u="none" cap="none" strike="noStrike">
              <a:solidFill>
                <a:schemeClr val="dk1"/>
              </a:solidFill>
              <a:latin typeface="Calibri"/>
              <a:ea typeface="Calibri"/>
              <a:cs typeface="Calibri"/>
              <a:sym typeface="Calibri"/>
            </a:endParaRPr>
          </a:p>
        </p:txBody>
      </p:sp>
      <p:pic>
        <p:nvPicPr>
          <p:cNvPr descr="dpng/01-data-warehouse-architecture.png" id="70" name="Google Shape;70;p8"/>
          <p:cNvPicPr preferRelativeResize="0"/>
          <p:nvPr/>
        </p:nvPicPr>
        <p:blipFill rotWithShape="1">
          <a:blip r:embed="rId3">
            <a:alphaModFix/>
          </a:blip>
          <a:srcRect b="0" l="0" r="0" t="0"/>
          <a:stretch/>
        </p:blipFill>
        <p:spPr>
          <a:xfrm>
            <a:off x="1632955" y="1645920"/>
            <a:ext cx="8925785" cy="3931920"/>
          </a:xfrm>
          <a:prstGeom prst="rect">
            <a:avLst/>
          </a:prstGeom>
          <a:noFill/>
          <a:ln>
            <a:noFill/>
          </a:ln>
        </p:spPr>
      </p:pic>
      <p:sp>
        <p:nvSpPr>
          <p:cNvPr id="71" name="Google Shape;71;p8"/>
          <p:cNvSpPr/>
          <p:nvPr/>
        </p:nvSpPr>
        <p:spPr>
          <a:xfrm>
            <a:off x="731520" y="5943600"/>
            <a:ext cx="10728655" cy="457200"/>
          </a:xfrm>
          <a:prstGeom prst="rect">
            <a:avLst/>
          </a:prstGeom>
          <a:noFill/>
          <a:ln>
            <a:noFill/>
          </a:ln>
        </p:spPr>
        <p:txBody>
          <a:bodyPr anchorCtr="0" anchor="t" bIns="0" lIns="0" spcFirstLastPara="1" rIns="0" wrap="square" tIns="0">
            <a:noAutofit/>
          </a:bodyPr>
          <a:lstStyle/>
          <a:p>
            <a:pPr indent="0" lvl="0" marL="0" marR="0" rtl="0" algn="ctr">
              <a:spcBef>
                <a:spcPts val="0"/>
              </a:spcBef>
              <a:spcAft>
                <a:spcPts val="0"/>
              </a:spcAft>
              <a:buClr>
                <a:srgbClr val="5A5A5A"/>
              </a:buClr>
              <a:buSzPts val="1250"/>
              <a:buFont typeface="Red Hat Text"/>
              <a:buNone/>
            </a:pPr>
            <a:r>
              <a:rPr b="0" i="1" lang="en-US" sz="1250" u="none" cap="none" strike="noStrike">
                <a:solidFill>
                  <a:srgbClr val="5A5A5A"/>
                </a:solidFill>
                <a:latin typeface="Red Hat Text"/>
                <a:ea typeface="Red Hat Text"/>
                <a:cs typeface="Red Hat Text"/>
                <a:sym typeface="Red Hat Text"/>
              </a:rPr>
              <a:t>Many sources, one warehouse, one team — the single source of truth, and the single point of contention.</a:t>
            </a:r>
            <a:endParaRPr b="0" i="0" sz="1250" u="none" cap="none" strike="noStrike">
              <a:solidFill>
                <a:schemeClr val="dk1"/>
              </a:solidFill>
              <a:latin typeface="Calibri"/>
              <a:ea typeface="Calibri"/>
              <a:cs typeface="Calibri"/>
              <a:sym typeface="Calibri"/>
            </a:endParaRPr>
          </a:p>
        </p:txBody>
      </p:sp>
      <p:sp>
        <p:nvSpPr>
          <p:cNvPr id="72" name="Google Shape;72;p8"/>
          <p:cNvSpPr/>
          <p:nvPr/>
        </p:nvSpPr>
        <p:spPr>
          <a:xfrm>
            <a:off x="457200" y="6400800"/>
            <a:ext cx="914400" cy="27432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8A8A8A"/>
              </a:buClr>
              <a:buSzPts val="1000"/>
              <a:buFont typeface="Red Hat Text"/>
              <a:buNone/>
            </a:pPr>
            <a:r>
              <a:rPr b="0" i="0" lang="en-US" sz="1000" u="none" cap="none" strike="noStrike">
                <a:solidFill>
                  <a:srgbClr val="8A8A8A"/>
                </a:solidFill>
                <a:latin typeface="Red Hat Text"/>
                <a:ea typeface="Red Hat Text"/>
                <a:cs typeface="Red Hat Text"/>
                <a:sym typeface="Red Hat Text"/>
              </a:rPr>
              <a:t>5</a:t>
            </a:r>
            <a:endParaRPr b="0" i="0" sz="1000" u="none" cap="none" strike="noStrike">
              <a:solidFill>
                <a:schemeClr val="dk1"/>
              </a:solidFill>
              <a:latin typeface="Calibri"/>
              <a:ea typeface="Calibri"/>
              <a:cs typeface="Calibri"/>
              <a:sym typeface="Calibri"/>
            </a:endParaRPr>
          </a:p>
        </p:txBody>
      </p:sp>
      <p:pic>
        <p:nvPicPr>
          <p:cNvPr descr="../data-mesh-openshift/brand-logo-dark.png" id="73" name="Google Shape;73;p8"/>
          <p:cNvPicPr preferRelativeResize="0"/>
          <p:nvPr/>
        </p:nvPicPr>
        <p:blipFill rotWithShape="1">
          <a:blip r:embed="rId4">
            <a:alphaModFix/>
          </a:blip>
          <a:srcRect b="0" l="0" r="0" t="0"/>
          <a:stretch/>
        </p:blipFill>
        <p:spPr>
          <a:xfrm>
            <a:off x="10591495" y="6353919"/>
            <a:ext cx="1051560" cy="248049"/>
          </a:xfrm>
          <a:prstGeom prst="rect">
            <a:avLst/>
          </a:prstGeom>
          <a:noFill/>
          <a:ln>
            <a:noFill/>
          </a:ln>
        </p:spPr>
      </p:pic>
    </p:spTree>
  </p:cSld>
  <p:clrMapOvr>
    <a:masterClrMapping/>
  </p:clrMapOvr>
</p:sld>
</file>

<file path=ppt/slides/slide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FFFFF"/>
        </a:solidFill>
      </p:bgPr>
    </p:bg>
    <p:spTree>
      <p:nvGrpSpPr>
        <p:cNvPr id="78" name="Shape 78"/>
        <p:cNvGrpSpPr/>
        <p:nvPr/>
      </p:nvGrpSpPr>
      <p:grpSpPr>
        <a:xfrm>
          <a:off x="0" y="0"/>
          <a:ext cx="0" cy="0"/>
          <a:chOff x="0" y="0"/>
          <a:chExt cx="0" cy="0"/>
        </a:xfrm>
      </p:grpSpPr>
      <p:sp>
        <p:nvSpPr>
          <p:cNvPr id="79" name="Google Shape;79;p9"/>
          <p:cNvSpPr/>
          <p:nvPr/>
        </p:nvSpPr>
        <p:spPr>
          <a:xfrm>
            <a:off x="640080" y="411480"/>
            <a:ext cx="10911535" cy="292608"/>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EE0000"/>
              </a:buClr>
              <a:buSzPts val="1200"/>
              <a:buFont typeface="Overpass SemiBold"/>
              <a:buNone/>
            </a:pPr>
            <a:r>
              <a:rPr b="1" i="0" lang="en-US" sz="1200" u="none" cap="none" strike="noStrike">
                <a:solidFill>
                  <a:srgbClr val="EE0000"/>
                </a:solidFill>
                <a:latin typeface="Overpass SemiBold"/>
                <a:ea typeface="Overpass SemiBold"/>
                <a:cs typeface="Overpass SemiBold"/>
                <a:sym typeface="Overpass SemiBold"/>
              </a:rPr>
              <a:t>DATA ARCHITECTURES</a:t>
            </a:r>
            <a:endParaRPr b="0" i="0" sz="1200" u="none" cap="none" strike="noStrike">
              <a:solidFill>
                <a:schemeClr val="dk1"/>
              </a:solidFill>
              <a:latin typeface="Calibri"/>
              <a:ea typeface="Calibri"/>
              <a:cs typeface="Calibri"/>
              <a:sym typeface="Calibri"/>
            </a:endParaRPr>
          </a:p>
        </p:txBody>
      </p:sp>
      <p:sp>
        <p:nvSpPr>
          <p:cNvPr id="80" name="Google Shape;80;p9"/>
          <p:cNvSpPr/>
          <p:nvPr/>
        </p:nvSpPr>
        <p:spPr>
          <a:xfrm>
            <a:off x="640080" y="713232"/>
            <a:ext cx="10911535" cy="868680"/>
          </a:xfrm>
          <a:prstGeom prst="rect">
            <a:avLst/>
          </a:prstGeom>
          <a:noFill/>
          <a:ln>
            <a:noFill/>
          </a:ln>
        </p:spPr>
        <p:txBody>
          <a:bodyPr anchorCtr="0" anchor="t" bIns="0" lIns="0" spcFirstLastPara="1" rIns="0" wrap="square" tIns="0">
            <a:noAutofit/>
          </a:bodyPr>
          <a:lstStyle/>
          <a:p>
            <a:pPr indent="0" lvl="0" marL="0" marR="0" rtl="0" algn="l">
              <a:spcBef>
                <a:spcPts val="0"/>
              </a:spcBef>
              <a:spcAft>
                <a:spcPts val="0"/>
              </a:spcAft>
              <a:buClr>
                <a:srgbClr val="151515"/>
              </a:buClr>
              <a:buSzPts val="3000"/>
              <a:buFont typeface="Overpass SemiBold"/>
              <a:buNone/>
            </a:pPr>
            <a:r>
              <a:rPr b="1" i="0" lang="en-US" sz="3000" u="none" cap="none" strike="noStrike">
                <a:solidFill>
                  <a:srgbClr val="151515"/>
                </a:solidFill>
                <a:latin typeface="Overpass SemiBold"/>
                <a:ea typeface="Overpass SemiBold"/>
                <a:cs typeface="Overpass SemiBold"/>
                <a:sym typeface="Overpass SemiBold"/>
              </a:rPr>
              <a:t>Data lakes — accept everything, sort it out later</a:t>
            </a:r>
            <a:endParaRPr b="0" i="0" sz="3000" u="none" cap="none" strike="noStrike">
              <a:solidFill>
                <a:schemeClr val="dk1"/>
              </a:solidFill>
              <a:latin typeface="Calibri"/>
              <a:ea typeface="Calibri"/>
              <a:cs typeface="Calibri"/>
              <a:sym typeface="Calibri"/>
            </a:endParaRPr>
          </a:p>
        </p:txBody>
      </p:sp>
      <p:sp>
        <p:nvSpPr>
          <p:cNvPr id="81" name="Google Shape;81;p9"/>
          <p:cNvSpPr/>
          <p:nvPr/>
        </p:nvSpPr>
        <p:spPr>
          <a:xfrm>
            <a:off x="640080" y="1783080"/>
            <a:ext cx="10911535" cy="4206240"/>
          </a:xfrm>
          <a:prstGeom prst="rect">
            <a:avLst/>
          </a:prstGeom>
          <a:noFill/>
          <a:ln>
            <a:noFill/>
          </a:ln>
        </p:spPr>
        <p:txBody>
          <a:bodyPr anchorCtr="0" anchor="t" bIns="0" lIns="0" spcFirstLastPara="1" rIns="0" wrap="square" tIns="0">
            <a:noAutofit/>
          </a:bodyPr>
          <a:lstStyle/>
          <a:p>
            <a:pPr indent="-228600" lvl="0" marL="228600" marR="0" rtl="0" algn="l">
              <a:spcBef>
                <a:spcPts val="0"/>
              </a:spcBef>
              <a:spcAft>
                <a:spcPts val="0"/>
              </a:spcAft>
              <a:buClr>
                <a:srgbClr val="242424"/>
              </a:buClr>
              <a:buSzPts val="1600"/>
              <a:buFont typeface="Red Hat Text"/>
              <a:buChar char="•"/>
            </a:pPr>
            <a:r>
              <a:rPr b="0" i="0" lang="en-US" sz="1600" u="none" cap="none" strike="noStrike">
                <a:solidFill>
                  <a:srgbClr val="242424"/>
                </a:solidFill>
                <a:latin typeface="Red Hat Text"/>
                <a:ea typeface="Red Hat Text"/>
                <a:cs typeface="Red Hat Text"/>
                <a:sym typeface="Red Hat Text"/>
              </a:rPr>
              <a:t>A data lake accepts data in any format — structured, semi-structured, unstructured, streaming — and defers schema decisions to the point of consumption. This is schema-on-read.</a:t>
            </a:r>
            <a:endParaRPr b="0" i="0" sz="1600" u="none" cap="none" strike="noStrike">
              <a:solidFill>
                <a:schemeClr val="dk1"/>
              </a:solidFill>
              <a:latin typeface="Calibri"/>
              <a:ea typeface="Calibri"/>
              <a:cs typeface="Calibri"/>
              <a:sym typeface="Calibri"/>
            </a:endParaRPr>
          </a:p>
          <a:p>
            <a:pPr indent="0" lvl="0" marL="0" marR="0" rtl="0" algn="l">
              <a:spcBef>
                <a:spcPts val="1400"/>
              </a:spcBef>
              <a:spcAft>
                <a:spcPts val="0"/>
              </a:spcAft>
              <a:buClr>
                <a:srgbClr val="151515"/>
              </a:buClr>
              <a:buSzPts val="1700"/>
              <a:buFont typeface="Overpass SemiBold"/>
              <a:buNone/>
            </a:pPr>
            <a:r>
              <a:rPr b="1" i="0" lang="en-US" sz="1700" u="none" cap="none" strike="noStrike">
                <a:solidFill>
                  <a:srgbClr val="151515"/>
                </a:solidFill>
                <a:latin typeface="Overpass SemiBold"/>
                <a:ea typeface="Overpass SemiBold"/>
                <a:cs typeface="Overpass SemiBold"/>
                <a:sym typeface="Overpass SemiBold"/>
              </a:rPr>
              <a:t>Zone-based organization</a:t>
            </a:r>
            <a:endParaRPr b="0" i="0" sz="1600" u="none" cap="none" strike="noStrike">
              <a:solidFill>
                <a:schemeClr val="dk1"/>
              </a:solidFill>
              <a:latin typeface="Calibri"/>
              <a:ea typeface="Calibri"/>
              <a:cs typeface="Calibri"/>
              <a:sym typeface="Calibri"/>
            </a:endParaRPr>
          </a:p>
          <a:p>
            <a:pPr indent="-228600" lvl="1" marL="457200" marR="0" rtl="0" algn="l">
              <a:spcBef>
                <a:spcPts val="300"/>
              </a:spcBef>
              <a:spcAft>
                <a:spcPts val="0"/>
              </a:spcAft>
              <a:buClr>
                <a:srgbClr val="5A5A5A"/>
              </a:buClr>
              <a:buSzPts val="1500"/>
              <a:buFont typeface="Red Hat Text"/>
              <a:buChar char="•"/>
            </a:pPr>
            <a:r>
              <a:rPr b="0" i="0" lang="en-US" sz="1500" u="none" cap="none" strike="noStrike">
                <a:solidFill>
                  <a:srgbClr val="5A5A5A"/>
                </a:solidFill>
                <a:latin typeface="Red Hat Text"/>
                <a:ea typeface="Red Hat Text"/>
                <a:cs typeface="Red Hat Text"/>
                <a:sym typeface="Red Hat Text"/>
              </a:rPr>
              <a:t>Raw zone: data exactly as it arrived. Curated zone: cleaned, validated, enriched. Refined zone: modeled and aggregated for specific consumption patterns.</a:t>
            </a:r>
            <a:endParaRPr b="0" i="0" sz="1600" u="none" cap="none" strike="noStrike">
              <a:solidFill>
                <a:schemeClr val="dk1"/>
              </a:solidFill>
              <a:latin typeface="Calibri"/>
              <a:ea typeface="Calibri"/>
              <a:cs typeface="Calibri"/>
              <a:sym typeface="Calibri"/>
            </a:endParaRPr>
          </a:p>
          <a:p>
            <a:pPr indent="0" lvl="0" marL="0" marR="0" rtl="0" algn="l">
              <a:spcBef>
                <a:spcPts val="1400"/>
              </a:spcBef>
              <a:spcAft>
                <a:spcPts val="0"/>
              </a:spcAft>
              <a:buClr>
                <a:srgbClr val="151515"/>
              </a:buClr>
              <a:buSzPts val="1700"/>
              <a:buFont typeface="Overpass SemiBold"/>
              <a:buNone/>
            </a:pPr>
            <a:r>
              <a:rPr b="1" i="0" lang="en-US" sz="1700" u="none" cap="none" strike="noStrike">
                <a:solidFill>
                  <a:srgbClr val="151515"/>
                </a:solidFill>
                <a:latin typeface="Overpass SemiBold"/>
                <a:ea typeface="Overpass SemiBold"/>
                <a:cs typeface="Overpass SemiBold"/>
                <a:sym typeface="Overpass SemiBold"/>
              </a:rPr>
              <a:t>What it solved</a:t>
            </a:r>
            <a:endParaRPr b="0" i="0" sz="1600" u="none" cap="none" strike="noStrike">
              <a:solidFill>
                <a:schemeClr val="dk1"/>
              </a:solidFill>
              <a:latin typeface="Calibri"/>
              <a:ea typeface="Calibri"/>
              <a:cs typeface="Calibri"/>
              <a:sym typeface="Calibri"/>
            </a:endParaRPr>
          </a:p>
          <a:p>
            <a:pPr indent="-228600" lvl="0" marL="228600" marR="0" rtl="0" algn="l">
              <a:spcBef>
                <a:spcPts val="300"/>
              </a:spcBef>
              <a:spcAft>
                <a:spcPts val="0"/>
              </a:spcAft>
              <a:buClr>
                <a:srgbClr val="242424"/>
              </a:buClr>
              <a:buSzPts val="1600"/>
              <a:buFont typeface="Red Hat Text"/>
              <a:buChar char="•"/>
            </a:pPr>
            <a:r>
              <a:rPr b="0" i="0" lang="en-US" sz="1600" u="none" cap="none" strike="noStrike">
                <a:solidFill>
                  <a:srgbClr val="242424"/>
                </a:solidFill>
                <a:latin typeface="Red Hat Text"/>
                <a:ea typeface="Red Hat Text"/>
                <a:cs typeface="Red Hat Text"/>
                <a:sym typeface="Red Hat Text"/>
              </a:rPr>
              <a:t>The warehouse's format rigidity. A warehouse can't easily accommodate a Kafka topic of JSON events, a directory of Parquet files, or a bucket of images for computer vision. The lake can.</a:t>
            </a:r>
            <a:endParaRPr b="0" i="0" sz="1600" u="none" cap="none" strike="noStrike">
              <a:solidFill>
                <a:schemeClr val="dk1"/>
              </a:solidFill>
              <a:latin typeface="Calibri"/>
              <a:ea typeface="Calibri"/>
              <a:cs typeface="Calibri"/>
              <a:sym typeface="Calibri"/>
            </a:endParaRPr>
          </a:p>
          <a:p>
            <a:pPr indent="0" lvl="0" marL="0" marR="0" rtl="0" algn="l">
              <a:spcBef>
                <a:spcPts val="1400"/>
              </a:spcBef>
              <a:spcAft>
                <a:spcPts val="0"/>
              </a:spcAft>
              <a:buClr>
                <a:srgbClr val="151515"/>
              </a:buClr>
              <a:buSzPts val="1700"/>
              <a:buFont typeface="Overpass SemiBold"/>
              <a:buNone/>
            </a:pPr>
            <a:r>
              <a:rPr b="1" i="0" lang="en-US" sz="1700" u="none" cap="none" strike="noStrike">
                <a:solidFill>
                  <a:srgbClr val="151515"/>
                </a:solidFill>
                <a:latin typeface="Overpass SemiBold"/>
                <a:ea typeface="Overpass SemiBold"/>
                <a:cs typeface="Overpass SemiBold"/>
                <a:sym typeface="Overpass SemiBold"/>
              </a:rPr>
              <a:t>The limitation: the swamp</a:t>
            </a:r>
            <a:endParaRPr b="0" i="0" sz="1600" u="none" cap="none" strike="noStrike">
              <a:solidFill>
                <a:schemeClr val="dk1"/>
              </a:solidFill>
              <a:latin typeface="Calibri"/>
              <a:ea typeface="Calibri"/>
              <a:cs typeface="Calibri"/>
              <a:sym typeface="Calibri"/>
            </a:endParaRPr>
          </a:p>
          <a:p>
            <a:pPr indent="-228600" lvl="0" marL="228600" marR="0" rtl="0" algn="l">
              <a:spcBef>
                <a:spcPts val="300"/>
              </a:spcBef>
              <a:spcAft>
                <a:spcPts val="0"/>
              </a:spcAft>
              <a:buClr>
                <a:srgbClr val="151515"/>
              </a:buClr>
              <a:buSzPts val="1600"/>
              <a:buFont typeface="Red Hat Text"/>
              <a:buChar char="•"/>
            </a:pPr>
            <a:r>
              <a:rPr b="0" i="0" lang="en-US" sz="1600" u="none" cap="none" strike="noStrike">
                <a:solidFill>
                  <a:srgbClr val="151515"/>
                </a:solidFill>
                <a:latin typeface="Red Hat Text"/>
                <a:ea typeface="Red Hat Text"/>
                <a:cs typeface="Red Hat Text"/>
                <a:sym typeface="Red Hat Text"/>
              </a:rPr>
              <a:t>Without governance, the lake becomes a data swamp — undocumented, stale, duplicated datasets nobody trusts. The curation effort re-creates warehouse work, and a central team still owns the bucket.</a:t>
            </a:r>
            <a:endParaRPr b="0" i="0" sz="1600" u="none" cap="none" strike="noStrike">
              <a:solidFill>
                <a:schemeClr val="dk1"/>
              </a:solidFill>
              <a:latin typeface="Calibri"/>
              <a:ea typeface="Calibri"/>
              <a:cs typeface="Calibri"/>
              <a:sym typeface="Calibri"/>
            </a:endParaRPr>
          </a:p>
        </p:txBody>
      </p:sp>
      <p:sp>
        <p:nvSpPr>
          <p:cNvPr id="82" name="Google Shape;82;p9"/>
          <p:cNvSpPr/>
          <p:nvPr/>
        </p:nvSpPr>
        <p:spPr>
          <a:xfrm>
            <a:off x="457200" y="6400800"/>
            <a:ext cx="914400" cy="27432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8A8A8A"/>
              </a:buClr>
              <a:buSzPts val="1000"/>
              <a:buFont typeface="Red Hat Text"/>
              <a:buNone/>
            </a:pPr>
            <a:r>
              <a:rPr b="0" i="0" lang="en-US" sz="1000" u="none" cap="none" strike="noStrike">
                <a:solidFill>
                  <a:srgbClr val="8A8A8A"/>
                </a:solidFill>
                <a:latin typeface="Red Hat Text"/>
                <a:ea typeface="Red Hat Text"/>
                <a:cs typeface="Red Hat Text"/>
                <a:sym typeface="Red Hat Text"/>
              </a:rPr>
              <a:t>6</a:t>
            </a:r>
            <a:endParaRPr b="0" i="0" sz="1000" u="none" cap="none" strike="noStrike">
              <a:solidFill>
                <a:schemeClr val="dk1"/>
              </a:solidFill>
              <a:latin typeface="Calibri"/>
              <a:ea typeface="Calibri"/>
              <a:cs typeface="Calibri"/>
              <a:sym typeface="Calibri"/>
            </a:endParaRPr>
          </a:p>
        </p:txBody>
      </p:sp>
      <p:pic>
        <p:nvPicPr>
          <p:cNvPr descr="../data-mesh-openshift/brand-logo-dark.png" id="83" name="Google Shape;83;p9"/>
          <p:cNvPicPr preferRelativeResize="0"/>
          <p:nvPr/>
        </p:nvPicPr>
        <p:blipFill rotWithShape="1">
          <a:blip r:embed="rId3">
            <a:alphaModFix/>
          </a:blip>
          <a:srcRect b="0" l="0" r="0" t="0"/>
          <a:stretch/>
        </p:blipFill>
        <p:spPr>
          <a:xfrm>
            <a:off x="10591495" y="6353919"/>
            <a:ext cx="1051560" cy="248049"/>
          </a:xfrm>
          <a:prstGeom prst="rect">
            <a:avLst/>
          </a:prstGeom>
          <a:noFill/>
          <a:ln>
            <a:noFill/>
          </a:ln>
        </p:spPr>
      </p:pic>
    </p:spTree>
  </p:cSld>
  <p:clrMapOvr>
    <a:masterClrMapping/>
  </p:clrMapOvr>
</p:sld>
</file>

<file path=ppt/slides/slide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FFFFF"/>
        </a:solidFill>
      </p:bgPr>
    </p:bg>
    <p:spTree>
      <p:nvGrpSpPr>
        <p:cNvPr id="88" name="Shape 88"/>
        <p:cNvGrpSpPr/>
        <p:nvPr/>
      </p:nvGrpSpPr>
      <p:grpSpPr>
        <a:xfrm>
          <a:off x="0" y="0"/>
          <a:ext cx="0" cy="0"/>
          <a:chOff x="0" y="0"/>
          <a:chExt cx="0" cy="0"/>
        </a:xfrm>
      </p:grpSpPr>
      <p:sp>
        <p:nvSpPr>
          <p:cNvPr id="89" name="Google Shape;89;p10"/>
          <p:cNvSpPr/>
          <p:nvPr/>
        </p:nvSpPr>
        <p:spPr>
          <a:xfrm>
            <a:off x="640080" y="411480"/>
            <a:ext cx="10911535" cy="292608"/>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EE0000"/>
              </a:buClr>
              <a:buSzPts val="1200"/>
              <a:buFont typeface="Overpass SemiBold"/>
              <a:buNone/>
            </a:pPr>
            <a:r>
              <a:rPr b="1" i="0" lang="en-US" sz="1200" u="none" cap="none" strike="noStrike">
                <a:solidFill>
                  <a:srgbClr val="EE0000"/>
                </a:solidFill>
                <a:latin typeface="Overpass SemiBold"/>
                <a:ea typeface="Overpass SemiBold"/>
                <a:cs typeface="Overpass SemiBold"/>
                <a:sym typeface="Overpass SemiBold"/>
              </a:rPr>
              <a:t>DATA ARCHITECTURES</a:t>
            </a:r>
            <a:endParaRPr b="0" i="0" sz="1200" u="none" cap="none" strike="noStrike">
              <a:solidFill>
                <a:schemeClr val="dk1"/>
              </a:solidFill>
              <a:latin typeface="Calibri"/>
              <a:ea typeface="Calibri"/>
              <a:cs typeface="Calibri"/>
              <a:sym typeface="Calibri"/>
            </a:endParaRPr>
          </a:p>
        </p:txBody>
      </p:sp>
      <p:sp>
        <p:nvSpPr>
          <p:cNvPr id="90" name="Google Shape;90;p10"/>
          <p:cNvSpPr/>
          <p:nvPr/>
        </p:nvSpPr>
        <p:spPr>
          <a:xfrm>
            <a:off x="640080" y="713232"/>
            <a:ext cx="10911535" cy="868680"/>
          </a:xfrm>
          <a:prstGeom prst="rect">
            <a:avLst/>
          </a:prstGeom>
          <a:noFill/>
          <a:ln>
            <a:noFill/>
          </a:ln>
        </p:spPr>
        <p:txBody>
          <a:bodyPr anchorCtr="0" anchor="t" bIns="0" lIns="0" spcFirstLastPara="1" rIns="0" wrap="square" tIns="0">
            <a:noAutofit/>
          </a:bodyPr>
          <a:lstStyle/>
          <a:p>
            <a:pPr indent="0" lvl="0" marL="0" marR="0" rtl="0" algn="l">
              <a:spcBef>
                <a:spcPts val="0"/>
              </a:spcBef>
              <a:spcAft>
                <a:spcPts val="0"/>
              </a:spcAft>
              <a:buClr>
                <a:srgbClr val="151515"/>
              </a:buClr>
              <a:buSzPts val="3000"/>
              <a:buFont typeface="Overpass SemiBold"/>
              <a:buNone/>
            </a:pPr>
            <a:r>
              <a:rPr b="1" i="0" lang="en-US" sz="3000" u="none" cap="none" strike="noStrike">
                <a:solidFill>
                  <a:srgbClr val="151515"/>
                </a:solidFill>
                <a:latin typeface="Overpass SemiBold"/>
                <a:ea typeface="Overpass SemiBold"/>
                <a:cs typeface="Overpass SemiBold"/>
                <a:sym typeface="Overpass SemiBold"/>
              </a:rPr>
              <a:t>Lake architecture — zones, flexibility, and the swamp risk</a:t>
            </a:r>
            <a:endParaRPr b="0" i="0" sz="3000" u="none" cap="none" strike="noStrike">
              <a:solidFill>
                <a:schemeClr val="dk1"/>
              </a:solidFill>
              <a:latin typeface="Calibri"/>
              <a:ea typeface="Calibri"/>
              <a:cs typeface="Calibri"/>
              <a:sym typeface="Calibri"/>
            </a:endParaRPr>
          </a:p>
        </p:txBody>
      </p:sp>
      <p:pic>
        <p:nvPicPr>
          <p:cNvPr descr="dpng/01-data-lake-architecture.png" id="91" name="Google Shape;91;p10"/>
          <p:cNvPicPr preferRelativeResize="0"/>
          <p:nvPr/>
        </p:nvPicPr>
        <p:blipFill rotWithShape="1">
          <a:blip r:embed="rId3">
            <a:alphaModFix/>
          </a:blip>
          <a:srcRect b="0" l="0" r="0" t="0"/>
          <a:stretch/>
        </p:blipFill>
        <p:spPr>
          <a:xfrm>
            <a:off x="1632955" y="1645920"/>
            <a:ext cx="8925785" cy="3931920"/>
          </a:xfrm>
          <a:prstGeom prst="rect">
            <a:avLst/>
          </a:prstGeom>
          <a:noFill/>
          <a:ln>
            <a:noFill/>
          </a:ln>
        </p:spPr>
      </p:pic>
      <p:sp>
        <p:nvSpPr>
          <p:cNvPr id="92" name="Google Shape;92;p10"/>
          <p:cNvSpPr/>
          <p:nvPr/>
        </p:nvSpPr>
        <p:spPr>
          <a:xfrm>
            <a:off x="731520" y="5943600"/>
            <a:ext cx="10728655" cy="457200"/>
          </a:xfrm>
          <a:prstGeom prst="rect">
            <a:avLst/>
          </a:prstGeom>
          <a:noFill/>
          <a:ln>
            <a:noFill/>
          </a:ln>
        </p:spPr>
        <p:txBody>
          <a:bodyPr anchorCtr="0" anchor="t" bIns="0" lIns="0" spcFirstLastPara="1" rIns="0" wrap="square" tIns="0">
            <a:noAutofit/>
          </a:bodyPr>
          <a:lstStyle/>
          <a:p>
            <a:pPr indent="0" lvl="0" marL="0" marR="0" rtl="0" algn="ctr">
              <a:spcBef>
                <a:spcPts val="0"/>
              </a:spcBef>
              <a:spcAft>
                <a:spcPts val="0"/>
              </a:spcAft>
              <a:buClr>
                <a:srgbClr val="5A5A5A"/>
              </a:buClr>
              <a:buSzPts val="1250"/>
              <a:buFont typeface="Red Hat Text"/>
              <a:buNone/>
            </a:pPr>
            <a:r>
              <a:rPr b="0" i="1" lang="en-US" sz="1250" u="none" cap="none" strike="noStrike">
                <a:solidFill>
                  <a:srgbClr val="5A5A5A"/>
                </a:solidFill>
                <a:latin typeface="Red Hat Text"/>
                <a:ea typeface="Red Hat Text"/>
                <a:cs typeface="Red Hat Text"/>
                <a:sym typeface="Red Hat Text"/>
              </a:rPr>
              <a:t>Raw, curated, refined — flexible on the way in, but without governance the lake becomes a swamp, and the central-team bottleneck remains.</a:t>
            </a:r>
            <a:endParaRPr b="0" i="0" sz="1250" u="none" cap="none" strike="noStrike">
              <a:solidFill>
                <a:schemeClr val="dk1"/>
              </a:solidFill>
              <a:latin typeface="Calibri"/>
              <a:ea typeface="Calibri"/>
              <a:cs typeface="Calibri"/>
              <a:sym typeface="Calibri"/>
            </a:endParaRPr>
          </a:p>
        </p:txBody>
      </p:sp>
      <p:sp>
        <p:nvSpPr>
          <p:cNvPr id="93" name="Google Shape;93;p10"/>
          <p:cNvSpPr/>
          <p:nvPr/>
        </p:nvSpPr>
        <p:spPr>
          <a:xfrm>
            <a:off x="457200" y="6400800"/>
            <a:ext cx="914400" cy="27432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8A8A8A"/>
              </a:buClr>
              <a:buSzPts val="1000"/>
              <a:buFont typeface="Red Hat Text"/>
              <a:buNone/>
            </a:pPr>
            <a:r>
              <a:rPr b="0" i="0" lang="en-US" sz="1000" u="none" cap="none" strike="noStrike">
                <a:solidFill>
                  <a:srgbClr val="8A8A8A"/>
                </a:solidFill>
                <a:latin typeface="Red Hat Text"/>
                <a:ea typeface="Red Hat Text"/>
                <a:cs typeface="Red Hat Text"/>
                <a:sym typeface="Red Hat Text"/>
              </a:rPr>
              <a:t>7</a:t>
            </a:r>
            <a:endParaRPr b="0" i="0" sz="1000" u="none" cap="none" strike="noStrike">
              <a:solidFill>
                <a:schemeClr val="dk1"/>
              </a:solidFill>
              <a:latin typeface="Calibri"/>
              <a:ea typeface="Calibri"/>
              <a:cs typeface="Calibri"/>
              <a:sym typeface="Calibri"/>
            </a:endParaRPr>
          </a:p>
        </p:txBody>
      </p:sp>
      <p:pic>
        <p:nvPicPr>
          <p:cNvPr descr="../data-mesh-openshift/brand-logo-dark.png" id="94" name="Google Shape;94;p10"/>
          <p:cNvPicPr preferRelativeResize="0"/>
          <p:nvPr/>
        </p:nvPicPr>
        <p:blipFill rotWithShape="1">
          <a:blip r:embed="rId4">
            <a:alphaModFix/>
          </a:blip>
          <a:srcRect b="0" l="0" r="0" t="0"/>
          <a:stretch/>
        </p:blipFill>
        <p:spPr>
          <a:xfrm>
            <a:off x="10591495" y="6353919"/>
            <a:ext cx="1051560" cy="248049"/>
          </a:xfrm>
          <a:prstGeom prst="rect">
            <a:avLst/>
          </a:prstGeom>
          <a:noFill/>
          <a:ln>
            <a:noFill/>
          </a:ln>
        </p:spPr>
      </p:pic>
    </p:spTree>
  </p:cSld>
  <p:clrMapOvr>
    <a:masterClrMapping/>
  </p:clrMapOvr>
</p:sld>
</file>

<file path=ppt/slides/slide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FFFFF"/>
        </a:solidFill>
      </p:bgPr>
    </p:bg>
    <p:spTree>
      <p:nvGrpSpPr>
        <p:cNvPr id="99" name="Shape 99"/>
        <p:cNvGrpSpPr/>
        <p:nvPr/>
      </p:nvGrpSpPr>
      <p:grpSpPr>
        <a:xfrm>
          <a:off x="0" y="0"/>
          <a:ext cx="0" cy="0"/>
          <a:chOff x="0" y="0"/>
          <a:chExt cx="0" cy="0"/>
        </a:xfrm>
      </p:grpSpPr>
      <p:sp>
        <p:nvSpPr>
          <p:cNvPr id="100" name="Google Shape;100;p11"/>
          <p:cNvSpPr/>
          <p:nvPr/>
        </p:nvSpPr>
        <p:spPr>
          <a:xfrm>
            <a:off x="640080" y="411480"/>
            <a:ext cx="10911535" cy="292608"/>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EE0000"/>
              </a:buClr>
              <a:buSzPts val="1200"/>
              <a:buFont typeface="Overpass SemiBold"/>
              <a:buNone/>
            </a:pPr>
            <a:r>
              <a:rPr b="1" i="0" lang="en-US" sz="1200" u="none" cap="none" strike="noStrike">
                <a:solidFill>
                  <a:srgbClr val="EE0000"/>
                </a:solidFill>
                <a:latin typeface="Overpass SemiBold"/>
                <a:ea typeface="Overpass SemiBold"/>
                <a:cs typeface="Overpass SemiBold"/>
                <a:sym typeface="Overpass SemiBold"/>
              </a:rPr>
              <a:t>DATA ARCHITECTURES</a:t>
            </a:r>
            <a:endParaRPr b="0" i="0" sz="1200" u="none" cap="none" strike="noStrike">
              <a:solidFill>
                <a:schemeClr val="dk1"/>
              </a:solidFill>
              <a:latin typeface="Calibri"/>
              <a:ea typeface="Calibri"/>
              <a:cs typeface="Calibri"/>
              <a:sym typeface="Calibri"/>
            </a:endParaRPr>
          </a:p>
        </p:txBody>
      </p:sp>
      <p:sp>
        <p:nvSpPr>
          <p:cNvPr id="101" name="Google Shape;101;p11"/>
          <p:cNvSpPr/>
          <p:nvPr/>
        </p:nvSpPr>
        <p:spPr>
          <a:xfrm>
            <a:off x="640080" y="713232"/>
            <a:ext cx="10911535" cy="868680"/>
          </a:xfrm>
          <a:prstGeom prst="rect">
            <a:avLst/>
          </a:prstGeom>
          <a:noFill/>
          <a:ln>
            <a:noFill/>
          </a:ln>
        </p:spPr>
        <p:txBody>
          <a:bodyPr anchorCtr="0" anchor="t" bIns="0" lIns="0" spcFirstLastPara="1" rIns="0" wrap="square" tIns="0">
            <a:noAutofit/>
          </a:bodyPr>
          <a:lstStyle/>
          <a:p>
            <a:pPr indent="0" lvl="0" marL="0" marR="0" rtl="0" algn="l">
              <a:spcBef>
                <a:spcPts val="0"/>
              </a:spcBef>
              <a:spcAft>
                <a:spcPts val="0"/>
              </a:spcAft>
              <a:buClr>
                <a:srgbClr val="151515"/>
              </a:buClr>
              <a:buSzPts val="3000"/>
              <a:buFont typeface="Overpass SemiBold"/>
              <a:buNone/>
            </a:pPr>
            <a:r>
              <a:rPr b="1" i="0" lang="en-US" sz="3000" u="none" cap="none" strike="noStrike">
                <a:solidFill>
                  <a:srgbClr val="151515"/>
                </a:solidFill>
                <a:latin typeface="Overpass SemiBold"/>
                <a:ea typeface="Overpass SemiBold"/>
                <a:cs typeface="Overpass SemiBold"/>
                <a:sym typeface="Overpass SemiBold"/>
              </a:rPr>
              <a:t>Data mesh — a different kind of answer</a:t>
            </a:r>
            <a:endParaRPr b="0" i="0" sz="3000" u="none" cap="none" strike="noStrike">
              <a:solidFill>
                <a:schemeClr val="dk1"/>
              </a:solidFill>
              <a:latin typeface="Calibri"/>
              <a:ea typeface="Calibri"/>
              <a:cs typeface="Calibri"/>
              <a:sym typeface="Calibri"/>
            </a:endParaRPr>
          </a:p>
        </p:txBody>
      </p:sp>
      <p:sp>
        <p:nvSpPr>
          <p:cNvPr id="102" name="Google Shape;102;p11"/>
          <p:cNvSpPr/>
          <p:nvPr/>
        </p:nvSpPr>
        <p:spPr>
          <a:xfrm>
            <a:off x="640080" y="1783080"/>
            <a:ext cx="10911535" cy="4206240"/>
          </a:xfrm>
          <a:prstGeom prst="rect">
            <a:avLst/>
          </a:prstGeom>
          <a:noFill/>
          <a:ln>
            <a:noFill/>
          </a:ln>
        </p:spPr>
        <p:txBody>
          <a:bodyPr anchorCtr="0" anchor="t" bIns="0" lIns="0" spcFirstLastPara="1" rIns="0" wrap="square" tIns="0">
            <a:noAutofit/>
          </a:bodyPr>
          <a:lstStyle/>
          <a:p>
            <a:pPr indent="-228600" lvl="0" marL="228600" marR="0" rtl="0" algn="l">
              <a:spcBef>
                <a:spcPts val="0"/>
              </a:spcBef>
              <a:spcAft>
                <a:spcPts val="0"/>
              </a:spcAft>
              <a:buClr>
                <a:srgbClr val="242424"/>
              </a:buClr>
              <a:buSzPts val="1600"/>
              <a:buFont typeface="Red Hat Text"/>
              <a:buChar char="•"/>
            </a:pPr>
            <a:r>
              <a:rPr b="0" i="0" lang="en-US" sz="1600" u="none" cap="none" strike="noStrike">
                <a:solidFill>
                  <a:srgbClr val="242424"/>
                </a:solidFill>
                <a:latin typeface="Red Hat Text"/>
                <a:ea typeface="Red Hat Text"/>
                <a:cs typeface="Red Hat Text"/>
                <a:sym typeface="Red Hat Text"/>
              </a:rPr>
              <a:t>All three patterns — pipelines, warehouses, lakes — centralize data and hand ownership to a single team. The technology improves; the organizational shape stays the same: one team at the center.</a:t>
            </a:r>
            <a:endParaRPr b="0" i="0" sz="1600" u="none" cap="none" strike="noStrike">
              <a:solidFill>
                <a:schemeClr val="dk1"/>
              </a:solidFill>
              <a:latin typeface="Calibri"/>
              <a:ea typeface="Calibri"/>
              <a:cs typeface="Calibri"/>
              <a:sym typeface="Calibri"/>
            </a:endParaRPr>
          </a:p>
          <a:p>
            <a:pPr indent="0" lvl="0" marL="0" marR="0" rtl="0" algn="l">
              <a:spcBef>
                <a:spcPts val="1400"/>
              </a:spcBef>
              <a:spcAft>
                <a:spcPts val="0"/>
              </a:spcAft>
              <a:buClr>
                <a:srgbClr val="151515"/>
              </a:buClr>
              <a:buSzPts val="1700"/>
              <a:buFont typeface="Overpass SemiBold"/>
              <a:buNone/>
            </a:pPr>
            <a:r>
              <a:rPr b="1" i="0" lang="en-US" sz="1700" u="none" cap="none" strike="noStrike">
                <a:solidFill>
                  <a:srgbClr val="151515"/>
                </a:solidFill>
                <a:latin typeface="Overpass SemiBold"/>
                <a:ea typeface="Overpass SemiBold"/>
                <a:cs typeface="Overpass SemiBold"/>
                <a:sym typeface="Overpass SemiBold"/>
              </a:rPr>
              <a:t>The mesh changes the organizational shape</a:t>
            </a:r>
            <a:endParaRPr b="0" i="0" sz="1600" u="none" cap="none" strike="noStrike">
              <a:solidFill>
                <a:schemeClr val="dk1"/>
              </a:solidFill>
              <a:latin typeface="Calibri"/>
              <a:ea typeface="Calibri"/>
              <a:cs typeface="Calibri"/>
              <a:sym typeface="Calibri"/>
            </a:endParaRPr>
          </a:p>
          <a:p>
            <a:pPr indent="-228600" lvl="0" marL="228600" marR="0" rtl="0" algn="l">
              <a:spcBef>
                <a:spcPts val="300"/>
              </a:spcBef>
              <a:spcAft>
                <a:spcPts val="0"/>
              </a:spcAft>
              <a:buClr>
                <a:srgbClr val="242424"/>
              </a:buClr>
              <a:buSzPts val="1600"/>
              <a:buFont typeface="Red Hat Text"/>
              <a:buChar char="•"/>
            </a:pPr>
            <a:r>
              <a:rPr b="0" i="0" lang="en-US" sz="1600" u="none" cap="none" strike="noStrike">
                <a:solidFill>
                  <a:srgbClr val="242424"/>
                </a:solidFill>
                <a:latin typeface="Red Hat Text"/>
                <a:ea typeface="Red Hat Text"/>
                <a:cs typeface="Red Hat Text"/>
                <a:sym typeface="Red Hat Text"/>
              </a:rPr>
              <a:t>Instead of building a better center, decentralize ownership to the domain teams that produce the data. Each domain owns its data as a product — discoverable, addressable, trustworthy, self-describing.</a:t>
            </a:r>
            <a:endParaRPr b="0" i="0" sz="1600" u="none" cap="none" strike="noStrike">
              <a:solidFill>
                <a:schemeClr val="dk1"/>
              </a:solidFill>
              <a:latin typeface="Calibri"/>
              <a:ea typeface="Calibri"/>
              <a:cs typeface="Calibri"/>
              <a:sym typeface="Calibri"/>
            </a:endParaRPr>
          </a:p>
          <a:p>
            <a:pPr indent="-228600" lvl="1" marL="457200" marR="0" rtl="0" algn="l">
              <a:spcBef>
                <a:spcPts val="600"/>
              </a:spcBef>
              <a:spcAft>
                <a:spcPts val="0"/>
              </a:spcAft>
              <a:buClr>
                <a:srgbClr val="5A5A5A"/>
              </a:buClr>
              <a:buSzPts val="1500"/>
              <a:buFont typeface="Red Hat Text"/>
              <a:buChar char="•"/>
            </a:pPr>
            <a:r>
              <a:rPr b="0" i="0" lang="en-US" sz="1500" u="none" cap="none" strike="noStrike">
                <a:solidFill>
                  <a:srgbClr val="5A5A5A"/>
                </a:solidFill>
                <a:latin typeface="Red Hat Text"/>
                <a:ea typeface="Red Hat Text"/>
                <a:cs typeface="Red Hat Text"/>
                <a:sym typeface="Red Hat Text"/>
              </a:rPr>
              <a:t>A shared self-serve platform provides the infrastructure. Federated computational governance keeps the independently-owned products interoperable.</a:t>
            </a:r>
            <a:endParaRPr b="0" i="0" sz="1600" u="none" cap="none" strike="noStrike">
              <a:solidFill>
                <a:schemeClr val="dk1"/>
              </a:solidFill>
              <a:latin typeface="Calibri"/>
              <a:ea typeface="Calibri"/>
              <a:cs typeface="Calibri"/>
              <a:sym typeface="Calibri"/>
            </a:endParaRPr>
          </a:p>
          <a:p>
            <a:pPr indent="0" lvl="0" marL="0" marR="0" rtl="0" algn="l">
              <a:spcBef>
                <a:spcPts val="1400"/>
              </a:spcBef>
              <a:spcAft>
                <a:spcPts val="0"/>
              </a:spcAft>
              <a:buClr>
                <a:srgbClr val="151515"/>
              </a:buClr>
              <a:buSzPts val="1700"/>
              <a:buFont typeface="Overpass SemiBold"/>
              <a:buNone/>
            </a:pPr>
            <a:r>
              <a:rPr b="1" i="0" lang="en-US" sz="1700" u="none" cap="none" strike="noStrike">
                <a:solidFill>
                  <a:srgbClr val="151515"/>
                </a:solidFill>
                <a:latin typeface="Overpass SemiBold"/>
                <a:ea typeface="Overpass SemiBold"/>
                <a:cs typeface="Overpass SemiBold"/>
                <a:sym typeface="Overpass SemiBold"/>
              </a:rPr>
              <a:t>Not a replacement</a:t>
            </a:r>
            <a:endParaRPr b="0" i="0" sz="1600" u="none" cap="none" strike="noStrike">
              <a:solidFill>
                <a:schemeClr val="dk1"/>
              </a:solidFill>
              <a:latin typeface="Calibri"/>
              <a:ea typeface="Calibri"/>
              <a:cs typeface="Calibri"/>
              <a:sym typeface="Calibri"/>
            </a:endParaRPr>
          </a:p>
          <a:p>
            <a:pPr indent="-228600" lvl="0" marL="228600" marR="0" rtl="0" algn="l">
              <a:spcBef>
                <a:spcPts val="300"/>
              </a:spcBef>
              <a:spcAft>
                <a:spcPts val="0"/>
              </a:spcAft>
              <a:buClr>
                <a:srgbClr val="151515"/>
              </a:buClr>
              <a:buSzPts val="1600"/>
              <a:buFont typeface="Red Hat Text"/>
              <a:buChar char="•"/>
            </a:pPr>
            <a:r>
              <a:rPr b="0" i="0" lang="en-US" sz="1600" u="none" cap="none" strike="noStrike">
                <a:solidFill>
                  <a:srgbClr val="151515"/>
                </a:solidFill>
                <a:latin typeface="Red Hat Text"/>
                <a:ea typeface="Red Hat Text"/>
                <a:cs typeface="Red Hat Text"/>
                <a:sym typeface="Red Hat Text"/>
              </a:rPr>
              <a:t>A domain may still use a warehouse or a lake internally. The reorganization is about who owns the data, not which storage technology to use.</a:t>
            </a:r>
            <a:endParaRPr b="0" i="0" sz="1600" u="none" cap="none" strike="noStrike">
              <a:solidFill>
                <a:schemeClr val="dk1"/>
              </a:solidFill>
              <a:latin typeface="Calibri"/>
              <a:ea typeface="Calibri"/>
              <a:cs typeface="Calibri"/>
              <a:sym typeface="Calibri"/>
            </a:endParaRPr>
          </a:p>
          <a:p>
            <a:pPr indent="-228600" lvl="1" marL="457200" marR="0" rtl="0" algn="l">
              <a:spcBef>
                <a:spcPts val="600"/>
              </a:spcBef>
              <a:spcAft>
                <a:spcPts val="0"/>
              </a:spcAft>
              <a:buClr>
                <a:srgbClr val="5A5A5A"/>
              </a:buClr>
              <a:buSzPts val="1500"/>
              <a:buFont typeface="Red Hat Text"/>
              <a:buChar char="•"/>
            </a:pPr>
            <a:r>
              <a:rPr b="0" i="0" lang="en-US" sz="1500" u="none" cap="none" strike="noStrike">
                <a:solidFill>
                  <a:srgbClr val="5A5A5A"/>
                </a:solidFill>
                <a:latin typeface="Red Hat Text"/>
                <a:ea typeface="Red Hat Text"/>
                <a:cs typeface="Red Hat Text"/>
                <a:sym typeface="Red Hat Text"/>
              </a:rPr>
              <a:t>The mesh earns its complexity in organizations with many domains, many consumers, and the maturity to operate federated ownership.</a:t>
            </a:r>
            <a:endParaRPr b="0" i="0" sz="1600" u="none" cap="none" strike="noStrike">
              <a:solidFill>
                <a:schemeClr val="dk1"/>
              </a:solidFill>
              <a:latin typeface="Calibri"/>
              <a:ea typeface="Calibri"/>
              <a:cs typeface="Calibri"/>
              <a:sym typeface="Calibri"/>
            </a:endParaRPr>
          </a:p>
        </p:txBody>
      </p:sp>
      <p:sp>
        <p:nvSpPr>
          <p:cNvPr id="103" name="Google Shape;103;p11"/>
          <p:cNvSpPr/>
          <p:nvPr/>
        </p:nvSpPr>
        <p:spPr>
          <a:xfrm>
            <a:off x="457200" y="6400800"/>
            <a:ext cx="914400" cy="27432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8A8A8A"/>
              </a:buClr>
              <a:buSzPts val="1000"/>
              <a:buFont typeface="Red Hat Text"/>
              <a:buNone/>
            </a:pPr>
            <a:r>
              <a:rPr b="0" i="0" lang="en-US" sz="1000" u="none" cap="none" strike="noStrike">
                <a:solidFill>
                  <a:srgbClr val="8A8A8A"/>
                </a:solidFill>
                <a:latin typeface="Red Hat Text"/>
                <a:ea typeface="Red Hat Text"/>
                <a:cs typeface="Red Hat Text"/>
                <a:sym typeface="Red Hat Text"/>
              </a:rPr>
              <a:t>8</a:t>
            </a:r>
            <a:endParaRPr b="0" i="0" sz="1000" u="none" cap="none" strike="noStrike">
              <a:solidFill>
                <a:schemeClr val="dk1"/>
              </a:solidFill>
              <a:latin typeface="Calibri"/>
              <a:ea typeface="Calibri"/>
              <a:cs typeface="Calibri"/>
              <a:sym typeface="Calibri"/>
            </a:endParaRPr>
          </a:p>
        </p:txBody>
      </p:sp>
      <p:pic>
        <p:nvPicPr>
          <p:cNvPr descr="../data-mesh-openshift/brand-logo-dark.png" id="104" name="Google Shape;104;p11"/>
          <p:cNvPicPr preferRelativeResize="0"/>
          <p:nvPr/>
        </p:nvPicPr>
        <p:blipFill rotWithShape="1">
          <a:blip r:embed="rId3">
            <a:alphaModFix/>
          </a:blip>
          <a:srcRect b="0" l="0" r="0" t="0"/>
          <a:stretch/>
        </p:blipFill>
        <p:spPr>
          <a:xfrm>
            <a:off x="10591495" y="6353919"/>
            <a:ext cx="1051560" cy="248049"/>
          </a:xfrm>
          <a:prstGeom prst="rect">
            <a:avLst/>
          </a:prstGeom>
          <a:noFill/>
          <a:ln>
            <a:noFill/>
          </a:ln>
        </p:spPr>
      </p:pic>
    </p:spTree>
  </p:cSld>
  <p:clrMapOvr>
    <a:masterClrMapping/>
  </p:clrMapOvr>
</p:sld>
</file>

<file path=ppt/slides/slide1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FFFFF"/>
        </a:solidFill>
      </p:bgPr>
    </p:bg>
    <p:spTree>
      <p:nvGrpSpPr>
        <p:cNvPr id="109" name="Shape 109"/>
        <p:cNvGrpSpPr/>
        <p:nvPr/>
      </p:nvGrpSpPr>
      <p:grpSpPr>
        <a:xfrm>
          <a:off x="0" y="0"/>
          <a:ext cx="0" cy="0"/>
          <a:chOff x="0" y="0"/>
          <a:chExt cx="0" cy="0"/>
        </a:xfrm>
      </p:grpSpPr>
      <p:sp>
        <p:nvSpPr>
          <p:cNvPr id="110" name="Google Shape;110;p12"/>
          <p:cNvSpPr/>
          <p:nvPr/>
        </p:nvSpPr>
        <p:spPr>
          <a:xfrm>
            <a:off x="640080" y="411480"/>
            <a:ext cx="10911535" cy="292608"/>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EE0000"/>
              </a:buClr>
              <a:buSzPts val="1200"/>
              <a:buFont typeface="Overpass SemiBold"/>
              <a:buNone/>
            </a:pPr>
            <a:r>
              <a:rPr b="1" i="0" lang="en-US" sz="1200" u="none" cap="none" strike="noStrike">
                <a:solidFill>
                  <a:srgbClr val="EE0000"/>
                </a:solidFill>
                <a:latin typeface="Overpass SemiBold"/>
                <a:ea typeface="Overpass SemiBold"/>
                <a:cs typeface="Overpass SemiBold"/>
                <a:sym typeface="Overpass SemiBold"/>
              </a:rPr>
              <a:t>DATA ARCHITECTURES</a:t>
            </a:r>
            <a:endParaRPr b="0" i="0" sz="1200" u="none" cap="none" strike="noStrike">
              <a:solidFill>
                <a:schemeClr val="dk1"/>
              </a:solidFill>
              <a:latin typeface="Calibri"/>
              <a:ea typeface="Calibri"/>
              <a:cs typeface="Calibri"/>
              <a:sym typeface="Calibri"/>
            </a:endParaRPr>
          </a:p>
        </p:txBody>
      </p:sp>
      <p:sp>
        <p:nvSpPr>
          <p:cNvPr id="111" name="Google Shape;111;p12"/>
          <p:cNvSpPr/>
          <p:nvPr/>
        </p:nvSpPr>
        <p:spPr>
          <a:xfrm>
            <a:off x="640080" y="713232"/>
            <a:ext cx="10911535" cy="868680"/>
          </a:xfrm>
          <a:prstGeom prst="rect">
            <a:avLst/>
          </a:prstGeom>
          <a:noFill/>
          <a:ln>
            <a:noFill/>
          </a:ln>
        </p:spPr>
        <p:txBody>
          <a:bodyPr anchorCtr="0" anchor="t" bIns="0" lIns="0" spcFirstLastPara="1" rIns="0" wrap="square" tIns="0">
            <a:noAutofit/>
          </a:bodyPr>
          <a:lstStyle/>
          <a:p>
            <a:pPr indent="0" lvl="0" marL="0" marR="0" rtl="0" algn="l">
              <a:spcBef>
                <a:spcPts val="0"/>
              </a:spcBef>
              <a:spcAft>
                <a:spcPts val="0"/>
              </a:spcAft>
              <a:buClr>
                <a:srgbClr val="151515"/>
              </a:buClr>
              <a:buSzPts val="3000"/>
              <a:buFont typeface="Overpass SemiBold"/>
              <a:buNone/>
            </a:pPr>
            <a:r>
              <a:rPr b="1" i="0" lang="en-US" sz="3000" u="none" cap="none" strike="noStrike">
                <a:solidFill>
                  <a:srgbClr val="151515"/>
                </a:solidFill>
                <a:latin typeface="Overpass SemiBold"/>
                <a:ea typeface="Overpass SemiBold"/>
                <a:cs typeface="Overpass SemiBold"/>
                <a:sym typeface="Overpass SemiBold"/>
              </a:rPr>
              <a:t>The mesh — decentralized, domain-owned data products</a:t>
            </a:r>
            <a:endParaRPr b="0" i="0" sz="3000" u="none" cap="none" strike="noStrike">
              <a:solidFill>
                <a:schemeClr val="dk1"/>
              </a:solidFill>
              <a:latin typeface="Calibri"/>
              <a:ea typeface="Calibri"/>
              <a:cs typeface="Calibri"/>
              <a:sym typeface="Calibri"/>
            </a:endParaRPr>
          </a:p>
        </p:txBody>
      </p:sp>
      <p:pic>
        <p:nvPicPr>
          <p:cNvPr descr="dpng/01-data-mesh-decentralized.png" id="112" name="Google Shape;112;p12"/>
          <p:cNvPicPr preferRelativeResize="0"/>
          <p:nvPr/>
        </p:nvPicPr>
        <p:blipFill rotWithShape="1">
          <a:blip r:embed="rId3">
            <a:alphaModFix/>
          </a:blip>
          <a:srcRect b="0" l="0" r="0" t="0"/>
          <a:stretch/>
        </p:blipFill>
        <p:spPr>
          <a:xfrm>
            <a:off x="1632955" y="1645920"/>
            <a:ext cx="8925785" cy="3931920"/>
          </a:xfrm>
          <a:prstGeom prst="rect">
            <a:avLst/>
          </a:prstGeom>
          <a:noFill/>
          <a:ln>
            <a:noFill/>
          </a:ln>
        </p:spPr>
      </p:pic>
      <p:sp>
        <p:nvSpPr>
          <p:cNvPr id="113" name="Google Shape;113;p12"/>
          <p:cNvSpPr/>
          <p:nvPr/>
        </p:nvSpPr>
        <p:spPr>
          <a:xfrm>
            <a:off x="731520" y="5943600"/>
            <a:ext cx="10728655" cy="457200"/>
          </a:xfrm>
          <a:prstGeom prst="rect">
            <a:avLst/>
          </a:prstGeom>
          <a:noFill/>
          <a:ln>
            <a:noFill/>
          </a:ln>
        </p:spPr>
        <p:txBody>
          <a:bodyPr anchorCtr="0" anchor="t" bIns="0" lIns="0" spcFirstLastPara="1" rIns="0" wrap="square" tIns="0">
            <a:noAutofit/>
          </a:bodyPr>
          <a:lstStyle/>
          <a:p>
            <a:pPr indent="0" lvl="0" marL="0" marR="0" rtl="0" algn="ctr">
              <a:spcBef>
                <a:spcPts val="0"/>
              </a:spcBef>
              <a:spcAft>
                <a:spcPts val="0"/>
              </a:spcAft>
              <a:buClr>
                <a:srgbClr val="5A5A5A"/>
              </a:buClr>
              <a:buSzPts val="1250"/>
              <a:buFont typeface="Red Hat Text"/>
              <a:buNone/>
            </a:pPr>
            <a:r>
              <a:rPr b="0" i="1" lang="en-US" sz="1250" u="none" cap="none" strike="noStrike">
                <a:solidFill>
                  <a:srgbClr val="5A5A5A"/>
                </a:solidFill>
                <a:latin typeface="Red Hat Text"/>
                <a:ea typeface="Red Hat Text"/>
                <a:cs typeface="Red Hat Text"/>
                <a:sym typeface="Red Hat Text"/>
              </a:rPr>
              <a:t>Each domain owns its data as a product, on a shared platform under federated governance — the organizational answer.</a:t>
            </a:r>
            <a:endParaRPr b="0" i="0" sz="1250" u="none" cap="none" strike="noStrike">
              <a:solidFill>
                <a:schemeClr val="dk1"/>
              </a:solidFill>
              <a:latin typeface="Calibri"/>
              <a:ea typeface="Calibri"/>
              <a:cs typeface="Calibri"/>
              <a:sym typeface="Calibri"/>
            </a:endParaRPr>
          </a:p>
        </p:txBody>
      </p:sp>
      <p:sp>
        <p:nvSpPr>
          <p:cNvPr id="114" name="Google Shape;114;p12"/>
          <p:cNvSpPr/>
          <p:nvPr/>
        </p:nvSpPr>
        <p:spPr>
          <a:xfrm>
            <a:off x="457200" y="6400800"/>
            <a:ext cx="914400" cy="27432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8A8A8A"/>
              </a:buClr>
              <a:buSzPts val="1000"/>
              <a:buFont typeface="Red Hat Text"/>
              <a:buNone/>
            </a:pPr>
            <a:r>
              <a:rPr b="0" i="0" lang="en-US" sz="1000" u="none" cap="none" strike="noStrike">
                <a:solidFill>
                  <a:srgbClr val="8A8A8A"/>
                </a:solidFill>
                <a:latin typeface="Red Hat Text"/>
                <a:ea typeface="Red Hat Text"/>
                <a:cs typeface="Red Hat Text"/>
                <a:sym typeface="Red Hat Text"/>
              </a:rPr>
              <a:t>9</a:t>
            </a:r>
            <a:endParaRPr b="0" i="0" sz="1000" u="none" cap="none" strike="noStrike">
              <a:solidFill>
                <a:schemeClr val="dk1"/>
              </a:solidFill>
              <a:latin typeface="Calibri"/>
              <a:ea typeface="Calibri"/>
              <a:cs typeface="Calibri"/>
              <a:sym typeface="Calibri"/>
            </a:endParaRPr>
          </a:p>
        </p:txBody>
      </p:sp>
      <p:pic>
        <p:nvPicPr>
          <p:cNvPr descr="../data-mesh-openshift/brand-logo-dark.png" id="115" name="Google Shape;115;p12"/>
          <p:cNvPicPr preferRelativeResize="0"/>
          <p:nvPr/>
        </p:nvPicPr>
        <p:blipFill rotWithShape="1">
          <a:blip r:embed="rId4">
            <a:alphaModFix/>
          </a:blip>
          <a:srcRect b="0" l="0" r="0" t="0"/>
          <a:stretch/>
        </p:blipFill>
        <p:spPr>
          <a:xfrm>
            <a:off x="10591495" y="6353919"/>
            <a:ext cx="1051560" cy="248049"/>
          </a:xfrm>
          <a:prstGeom prst="rect">
            <a:avLst/>
          </a:prstGeom>
          <a:noFill/>
          <a:ln>
            <a:noFill/>
          </a:ln>
        </p:spPr>
      </p:pic>
    </p:spTree>
  </p:cSld>
  <p:clrMapOvr>
    <a:masterClrMapping/>
  </p:clrMapOvr>
</p:sld>
</file>

<file path=ppt/slides/slide1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FFFFF"/>
        </a:solidFill>
      </p:bgPr>
    </p:bg>
    <p:spTree>
      <p:nvGrpSpPr>
        <p:cNvPr id="120" name="Shape 120"/>
        <p:cNvGrpSpPr/>
        <p:nvPr/>
      </p:nvGrpSpPr>
      <p:grpSpPr>
        <a:xfrm>
          <a:off x="0" y="0"/>
          <a:ext cx="0" cy="0"/>
          <a:chOff x="0" y="0"/>
          <a:chExt cx="0" cy="0"/>
        </a:xfrm>
      </p:grpSpPr>
      <p:sp>
        <p:nvSpPr>
          <p:cNvPr id="121" name="Google Shape;121;p13"/>
          <p:cNvSpPr/>
          <p:nvPr/>
        </p:nvSpPr>
        <p:spPr>
          <a:xfrm>
            <a:off x="640080" y="411480"/>
            <a:ext cx="10911535" cy="292608"/>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EE0000"/>
              </a:buClr>
              <a:buSzPts val="1200"/>
              <a:buFont typeface="Overpass SemiBold"/>
              <a:buNone/>
            </a:pPr>
            <a:r>
              <a:rPr b="1" i="0" lang="en-US" sz="1200" u="none" cap="none" strike="noStrike">
                <a:solidFill>
                  <a:srgbClr val="EE0000"/>
                </a:solidFill>
                <a:latin typeface="Overpass SemiBold"/>
                <a:ea typeface="Overpass SemiBold"/>
                <a:cs typeface="Overpass SemiBold"/>
                <a:sym typeface="Overpass SemiBold"/>
              </a:rPr>
              <a:t>DATA ARCHITECTURES</a:t>
            </a:r>
            <a:endParaRPr b="0" i="0" sz="1200" u="none" cap="none" strike="noStrike">
              <a:solidFill>
                <a:schemeClr val="dk1"/>
              </a:solidFill>
              <a:latin typeface="Calibri"/>
              <a:ea typeface="Calibri"/>
              <a:cs typeface="Calibri"/>
              <a:sym typeface="Calibri"/>
            </a:endParaRPr>
          </a:p>
        </p:txBody>
      </p:sp>
      <p:sp>
        <p:nvSpPr>
          <p:cNvPr id="122" name="Google Shape;122;p13"/>
          <p:cNvSpPr/>
          <p:nvPr/>
        </p:nvSpPr>
        <p:spPr>
          <a:xfrm>
            <a:off x="640080" y="713232"/>
            <a:ext cx="10911535" cy="868680"/>
          </a:xfrm>
          <a:prstGeom prst="rect">
            <a:avLst/>
          </a:prstGeom>
          <a:noFill/>
          <a:ln>
            <a:noFill/>
          </a:ln>
        </p:spPr>
        <p:txBody>
          <a:bodyPr anchorCtr="0" anchor="t" bIns="0" lIns="0" spcFirstLastPara="1" rIns="0" wrap="square" tIns="0">
            <a:noAutofit/>
          </a:bodyPr>
          <a:lstStyle/>
          <a:p>
            <a:pPr indent="0" lvl="0" marL="0" marR="0" rtl="0" algn="l">
              <a:spcBef>
                <a:spcPts val="0"/>
              </a:spcBef>
              <a:spcAft>
                <a:spcPts val="0"/>
              </a:spcAft>
              <a:buClr>
                <a:srgbClr val="151515"/>
              </a:buClr>
              <a:buSzPts val="3000"/>
              <a:buFont typeface="Overpass SemiBold"/>
              <a:buNone/>
            </a:pPr>
            <a:r>
              <a:rPr b="1" i="0" lang="en-US" sz="3000" u="none" cap="none" strike="noStrike">
                <a:solidFill>
                  <a:srgbClr val="151515"/>
                </a:solidFill>
                <a:latin typeface="Overpass SemiBold"/>
                <a:ea typeface="Overpass SemiBold"/>
                <a:cs typeface="Overpass SemiBold"/>
                <a:sym typeface="Overpass SemiBold"/>
              </a:rPr>
              <a:t>The evolution — from pipelines to mesh</a:t>
            </a:r>
            <a:endParaRPr b="0" i="0" sz="3000" u="none" cap="none" strike="noStrike">
              <a:solidFill>
                <a:schemeClr val="dk1"/>
              </a:solidFill>
              <a:latin typeface="Calibri"/>
              <a:ea typeface="Calibri"/>
              <a:cs typeface="Calibri"/>
              <a:sym typeface="Calibri"/>
            </a:endParaRPr>
          </a:p>
        </p:txBody>
      </p:sp>
      <p:pic>
        <p:nvPicPr>
          <p:cNvPr descr="dpng/01-architecture-evolution.png" id="123" name="Google Shape;123;p13"/>
          <p:cNvPicPr preferRelativeResize="0"/>
          <p:nvPr/>
        </p:nvPicPr>
        <p:blipFill rotWithShape="1">
          <a:blip r:embed="rId3">
            <a:alphaModFix/>
          </a:blip>
          <a:srcRect b="0" l="0" r="0" t="0"/>
          <a:stretch/>
        </p:blipFill>
        <p:spPr>
          <a:xfrm>
            <a:off x="1954192" y="1645920"/>
            <a:ext cx="8283312" cy="3931920"/>
          </a:xfrm>
          <a:prstGeom prst="rect">
            <a:avLst/>
          </a:prstGeom>
          <a:noFill/>
          <a:ln>
            <a:noFill/>
          </a:ln>
        </p:spPr>
      </p:pic>
      <p:sp>
        <p:nvSpPr>
          <p:cNvPr id="124" name="Google Shape;124;p13"/>
          <p:cNvSpPr/>
          <p:nvPr/>
        </p:nvSpPr>
        <p:spPr>
          <a:xfrm>
            <a:off x="731520" y="5943600"/>
            <a:ext cx="10728655" cy="457200"/>
          </a:xfrm>
          <a:prstGeom prst="rect">
            <a:avLst/>
          </a:prstGeom>
          <a:noFill/>
          <a:ln>
            <a:noFill/>
          </a:ln>
        </p:spPr>
        <p:txBody>
          <a:bodyPr anchorCtr="0" anchor="t" bIns="0" lIns="0" spcFirstLastPara="1" rIns="0" wrap="square" tIns="0">
            <a:noAutofit/>
          </a:bodyPr>
          <a:lstStyle/>
          <a:p>
            <a:pPr indent="0" lvl="0" marL="0" marR="0" rtl="0" algn="ctr">
              <a:spcBef>
                <a:spcPts val="0"/>
              </a:spcBef>
              <a:spcAft>
                <a:spcPts val="0"/>
              </a:spcAft>
              <a:buClr>
                <a:srgbClr val="5A5A5A"/>
              </a:buClr>
              <a:buSzPts val="1250"/>
              <a:buFont typeface="Red Hat Text"/>
              <a:buNone/>
            </a:pPr>
            <a:r>
              <a:rPr b="0" i="1" lang="en-US" sz="1250" u="none" cap="none" strike="noStrike">
                <a:solidFill>
                  <a:srgbClr val="5A5A5A"/>
                </a:solidFill>
                <a:latin typeface="Red Hat Text"/>
                <a:ea typeface="Red Hat Text"/>
                <a:cs typeface="Red Hat Text"/>
                <a:sym typeface="Red Hat Text"/>
              </a:rPr>
              <a:t>Each pattern solved the problem the previous one left; the mesh solves the organizational scaling problem they all share.</a:t>
            </a:r>
            <a:endParaRPr b="0" i="0" sz="1250" u="none" cap="none" strike="noStrike">
              <a:solidFill>
                <a:schemeClr val="dk1"/>
              </a:solidFill>
              <a:latin typeface="Calibri"/>
              <a:ea typeface="Calibri"/>
              <a:cs typeface="Calibri"/>
              <a:sym typeface="Calibri"/>
            </a:endParaRPr>
          </a:p>
        </p:txBody>
      </p:sp>
      <p:sp>
        <p:nvSpPr>
          <p:cNvPr id="125" name="Google Shape;125;p13"/>
          <p:cNvSpPr/>
          <p:nvPr/>
        </p:nvSpPr>
        <p:spPr>
          <a:xfrm>
            <a:off x="457200" y="6400800"/>
            <a:ext cx="914400" cy="27432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8A8A8A"/>
              </a:buClr>
              <a:buSzPts val="1000"/>
              <a:buFont typeface="Red Hat Text"/>
              <a:buNone/>
            </a:pPr>
            <a:r>
              <a:rPr b="0" i="0" lang="en-US" sz="1000" u="none" cap="none" strike="noStrike">
                <a:solidFill>
                  <a:srgbClr val="8A8A8A"/>
                </a:solidFill>
                <a:latin typeface="Red Hat Text"/>
                <a:ea typeface="Red Hat Text"/>
                <a:cs typeface="Red Hat Text"/>
                <a:sym typeface="Red Hat Text"/>
              </a:rPr>
              <a:t>10</a:t>
            </a:r>
            <a:endParaRPr b="0" i="0" sz="1000" u="none" cap="none" strike="noStrike">
              <a:solidFill>
                <a:schemeClr val="dk1"/>
              </a:solidFill>
              <a:latin typeface="Calibri"/>
              <a:ea typeface="Calibri"/>
              <a:cs typeface="Calibri"/>
              <a:sym typeface="Calibri"/>
            </a:endParaRPr>
          </a:p>
        </p:txBody>
      </p:sp>
      <p:pic>
        <p:nvPicPr>
          <p:cNvPr descr="../data-mesh-openshift/brand-logo-dark.png" id="126" name="Google Shape;126;p13"/>
          <p:cNvPicPr preferRelativeResize="0"/>
          <p:nvPr/>
        </p:nvPicPr>
        <p:blipFill rotWithShape="1">
          <a:blip r:embed="rId4">
            <a:alphaModFix/>
          </a:blip>
          <a:srcRect b="0" l="0" r="0" t="0"/>
          <a:stretch/>
        </p:blipFill>
        <p:spPr>
          <a:xfrm>
            <a:off x="10591495" y="6353919"/>
            <a:ext cx="1051560" cy="248049"/>
          </a:xfrm>
          <a:prstGeom prst="rect">
            <a:avLst/>
          </a:prstGeom>
          <a:noFill/>
          <a:ln>
            <a:noFill/>
          </a:ln>
        </p:spPr>
      </p:pic>
    </p:spTree>
  </p:cSld>
  <p:clrMapOvr>
    <a:masterClrMapping/>
  </p:clrMapOvr>
</p:sld>
</file>

<file path=ppt/slides/slide1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FFFFF"/>
        </a:solidFill>
      </p:bgPr>
    </p:bg>
    <p:spTree>
      <p:nvGrpSpPr>
        <p:cNvPr id="131" name="Shape 131"/>
        <p:cNvGrpSpPr/>
        <p:nvPr/>
      </p:nvGrpSpPr>
      <p:grpSpPr>
        <a:xfrm>
          <a:off x="0" y="0"/>
          <a:ext cx="0" cy="0"/>
          <a:chOff x="0" y="0"/>
          <a:chExt cx="0" cy="0"/>
        </a:xfrm>
      </p:grpSpPr>
      <p:sp>
        <p:nvSpPr>
          <p:cNvPr id="132" name="Google Shape;132;p14"/>
          <p:cNvSpPr/>
          <p:nvPr/>
        </p:nvSpPr>
        <p:spPr>
          <a:xfrm>
            <a:off x="640080" y="411480"/>
            <a:ext cx="10911535" cy="292608"/>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EE0000"/>
              </a:buClr>
              <a:buSzPts val="1200"/>
              <a:buFont typeface="Overpass SemiBold"/>
              <a:buNone/>
            </a:pPr>
            <a:r>
              <a:rPr b="1" i="0" lang="en-US" sz="1200" u="none" cap="none" strike="noStrike">
                <a:solidFill>
                  <a:srgbClr val="EE0000"/>
                </a:solidFill>
                <a:latin typeface="Overpass SemiBold"/>
                <a:ea typeface="Overpass SemiBold"/>
                <a:cs typeface="Overpass SemiBold"/>
                <a:sym typeface="Overpass SemiBold"/>
              </a:rPr>
              <a:t>DATA ARCHITECTURES</a:t>
            </a:r>
            <a:endParaRPr b="0" i="0" sz="1200" u="none" cap="none" strike="noStrike">
              <a:solidFill>
                <a:schemeClr val="dk1"/>
              </a:solidFill>
              <a:latin typeface="Calibri"/>
              <a:ea typeface="Calibri"/>
              <a:cs typeface="Calibri"/>
              <a:sym typeface="Calibri"/>
            </a:endParaRPr>
          </a:p>
        </p:txBody>
      </p:sp>
      <p:sp>
        <p:nvSpPr>
          <p:cNvPr id="133" name="Google Shape;133;p14"/>
          <p:cNvSpPr/>
          <p:nvPr/>
        </p:nvSpPr>
        <p:spPr>
          <a:xfrm>
            <a:off x="640080" y="713232"/>
            <a:ext cx="10911535" cy="868680"/>
          </a:xfrm>
          <a:prstGeom prst="rect">
            <a:avLst/>
          </a:prstGeom>
          <a:noFill/>
          <a:ln>
            <a:noFill/>
          </a:ln>
        </p:spPr>
        <p:txBody>
          <a:bodyPr anchorCtr="0" anchor="t" bIns="0" lIns="0" spcFirstLastPara="1" rIns="0" wrap="square" tIns="0">
            <a:noAutofit/>
          </a:bodyPr>
          <a:lstStyle/>
          <a:p>
            <a:pPr indent="0" lvl="0" marL="0" marR="0" rtl="0" algn="l">
              <a:spcBef>
                <a:spcPts val="0"/>
              </a:spcBef>
              <a:spcAft>
                <a:spcPts val="0"/>
              </a:spcAft>
              <a:buClr>
                <a:srgbClr val="151515"/>
              </a:buClr>
              <a:buSzPts val="3000"/>
              <a:buFont typeface="Overpass SemiBold"/>
              <a:buNone/>
            </a:pPr>
            <a:r>
              <a:rPr b="1" i="0" lang="en-US" sz="3000" u="none" cap="none" strike="noStrike">
                <a:solidFill>
                  <a:srgbClr val="151515"/>
                </a:solidFill>
                <a:latin typeface="Overpass SemiBold"/>
                <a:ea typeface="Overpass SemiBold"/>
                <a:cs typeface="Overpass SemiBold"/>
                <a:sym typeface="Overpass SemiBold"/>
              </a:rPr>
              <a:t>When each pattern fits</a:t>
            </a:r>
            <a:endParaRPr b="0" i="0" sz="3000" u="none" cap="none" strike="noStrike">
              <a:solidFill>
                <a:schemeClr val="dk1"/>
              </a:solidFill>
              <a:latin typeface="Calibri"/>
              <a:ea typeface="Calibri"/>
              <a:cs typeface="Calibri"/>
              <a:sym typeface="Calibri"/>
            </a:endParaRPr>
          </a:p>
        </p:txBody>
      </p:sp>
      <p:sp>
        <p:nvSpPr>
          <p:cNvPr id="134" name="Google Shape;134;p14"/>
          <p:cNvSpPr/>
          <p:nvPr/>
        </p:nvSpPr>
        <p:spPr>
          <a:xfrm>
            <a:off x="640080" y="1783080"/>
            <a:ext cx="10911535" cy="4206240"/>
          </a:xfrm>
          <a:prstGeom prst="rect">
            <a:avLst/>
          </a:prstGeom>
          <a:noFill/>
          <a:ln>
            <a:noFill/>
          </a:ln>
        </p:spPr>
        <p:txBody>
          <a:bodyPr anchorCtr="0" anchor="t" bIns="0" lIns="0" spcFirstLastPara="1" rIns="0" wrap="square" tIns="0">
            <a:noAutofit/>
          </a:bodyPr>
          <a:lstStyle/>
          <a:p>
            <a:pPr indent="-228600" lvl="0" marL="228600" marR="0" rtl="0" algn="l">
              <a:spcBef>
                <a:spcPts val="0"/>
              </a:spcBef>
              <a:spcAft>
                <a:spcPts val="0"/>
              </a:spcAft>
              <a:buClr>
                <a:srgbClr val="242424"/>
              </a:buClr>
              <a:buSzPts val="1600"/>
              <a:buFont typeface="Red Hat Text"/>
              <a:buChar char="•"/>
            </a:pPr>
            <a:r>
              <a:rPr b="0" i="0" lang="en-US" sz="1600" u="none" cap="none" strike="noStrike">
                <a:solidFill>
                  <a:srgbClr val="242424"/>
                </a:solidFill>
                <a:latin typeface="Red Hat Text"/>
                <a:ea typeface="Red Hat Text"/>
                <a:cs typeface="Red Hat Text"/>
                <a:sym typeface="Red Hat Text"/>
              </a:rPr>
              <a:t>The choice depends on scale, data landscape, and where the bottleneck sits — not on which pattern is newest.</a:t>
            </a:r>
            <a:endParaRPr b="0" i="0" sz="1600" u="none" cap="none" strike="noStrike">
              <a:solidFill>
                <a:schemeClr val="dk1"/>
              </a:solidFill>
              <a:latin typeface="Calibri"/>
              <a:ea typeface="Calibri"/>
              <a:cs typeface="Calibri"/>
              <a:sym typeface="Calibri"/>
            </a:endParaRPr>
          </a:p>
          <a:p>
            <a:pPr indent="0" lvl="0" marL="0" marR="0" rtl="0" algn="l">
              <a:spcBef>
                <a:spcPts val="1400"/>
              </a:spcBef>
              <a:spcAft>
                <a:spcPts val="0"/>
              </a:spcAft>
              <a:buClr>
                <a:srgbClr val="151515"/>
              </a:buClr>
              <a:buSzPts val="1700"/>
              <a:buFont typeface="Overpass SemiBold"/>
              <a:buNone/>
            </a:pPr>
            <a:r>
              <a:rPr b="1" i="0" lang="en-US" sz="1700" u="none" cap="none" strike="noStrike">
                <a:solidFill>
                  <a:srgbClr val="151515"/>
                </a:solidFill>
                <a:latin typeface="Overpass SemiBold"/>
                <a:ea typeface="Overpass SemiBold"/>
                <a:cs typeface="Overpass SemiBold"/>
                <a:sym typeface="Overpass SemiBold"/>
              </a:rPr>
              <a:t>Pipelines</a:t>
            </a:r>
            <a:endParaRPr b="0" i="0" sz="1600" u="none" cap="none" strike="noStrike">
              <a:solidFill>
                <a:schemeClr val="dk1"/>
              </a:solidFill>
              <a:latin typeface="Calibri"/>
              <a:ea typeface="Calibri"/>
              <a:cs typeface="Calibri"/>
              <a:sym typeface="Calibri"/>
            </a:endParaRPr>
          </a:p>
          <a:p>
            <a:pPr indent="-228600" lvl="1" marL="457200" marR="0" rtl="0" algn="l">
              <a:spcBef>
                <a:spcPts val="300"/>
              </a:spcBef>
              <a:spcAft>
                <a:spcPts val="0"/>
              </a:spcAft>
              <a:buClr>
                <a:srgbClr val="5A5A5A"/>
              </a:buClr>
              <a:buSzPts val="1500"/>
              <a:buFont typeface="Red Hat Text"/>
              <a:buChar char="•"/>
            </a:pPr>
            <a:r>
              <a:rPr b="0" i="0" lang="en-US" sz="1500" u="none" cap="none" strike="noStrike">
                <a:solidFill>
                  <a:srgbClr val="5A5A5A"/>
                </a:solidFill>
                <a:latin typeface="Red Hat Text"/>
                <a:ea typeface="Red Hat Text"/>
                <a:cs typeface="Red Hat Text"/>
                <a:sym typeface="Red Hat Text"/>
              </a:rPr>
              <a:t>Small number of well-understood integrations, stable data flows, no pressing need for centralized cross-domain analytics. The sprawl hasn't started.</a:t>
            </a:r>
            <a:endParaRPr b="0" i="0" sz="1600" u="none" cap="none" strike="noStrike">
              <a:solidFill>
                <a:schemeClr val="dk1"/>
              </a:solidFill>
              <a:latin typeface="Calibri"/>
              <a:ea typeface="Calibri"/>
              <a:cs typeface="Calibri"/>
              <a:sym typeface="Calibri"/>
            </a:endParaRPr>
          </a:p>
          <a:p>
            <a:pPr indent="0" lvl="0" marL="0" marR="0" rtl="0" algn="l">
              <a:spcBef>
                <a:spcPts val="1400"/>
              </a:spcBef>
              <a:spcAft>
                <a:spcPts val="0"/>
              </a:spcAft>
              <a:buClr>
                <a:srgbClr val="151515"/>
              </a:buClr>
              <a:buSzPts val="1700"/>
              <a:buFont typeface="Overpass SemiBold"/>
              <a:buNone/>
            </a:pPr>
            <a:r>
              <a:rPr b="1" i="0" lang="en-US" sz="1700" u="none" cap="none" strike="noStrike">
                <a:solidFill>
                  <a:srgbClr val="151515"/>
                </a:solidFill>
                <a:latin typeface="Overpass SemiBold"/>
                <a:ea typeface="Overpass SemiBold"/>
                <a:cs typeface="Overpass SemiBold"/>
                <a:sym typeface="Overpass SemiBold"/>
              </a:rPr>
              <a:t>Warehouse</a:t>
            </a:r>
            <a:endParaRPr b="0" i="0" sz="1600" u="none" cap="none" strike="noStrike">
              <a:solidFill>
                <a:schemeClr val="dk1"/>
              </a:solidFill>
              <a:latin typeface="Calibri"/>
              <a:ea typeface="Calibri"/>
              <a:cs typeface="Calibri"/>
              <a:sym typeface="Calibri"/>
            </a:endParaRPr>
          </a:p>
          <a:p>
            <a:pPr indent="-228600" lvl="1" marL="457200" marR="0" rtl="0" algn="l">
              <a:spcBef>
                <a:spcPts val="300"/>
              </a:spcBef>
              <a:spcAft>
                <a:spcPts val="0"/>
              </a:spcAft>
              <a:buClr>
                <a:srgbClr val="5A5A5A"/>
              </a:buClr>
              <a:buSzPts val="1500"/>
              <a:buFont typeface="Red Hat Text"/>
              <a:buChar char="•"/>
            </a:pPr>
            <a:r>
              <a:rPr b="0" i="0" lang="en-US" sz="1500" u="none" cap="none" strike="noStrike">
                <a:solidFill>
                  <a:srgbClr val="5A5A5A"/>
                </a:solidFill>
                <a:latin typeface="Red Hat Text"/>
                <a:ea typeface="Red Hat Text"/>
                <a:cs typeface="Red Hat Text"/>
                <a:sym typeface="Red Hat Text"/>
              </a:rPr>
              <a:t>The organization needs a governed analytical view — BI, reporting, structured decisions — and a central team has the capacity to curate it. The bottleneck is the absence of a single source of truth.</a:t>
            </a:r>
            <a:endParaRPr b="0" i="0" sz="1600" u="none" cap="none" strike="noStrike">
              <a:solidFill>
                <a:schemeClr val="dk1"/>
              </a:solidFill>
              <a:latin typeface="Calibri"/>
              <a:ea typeface="Calibri"/>
              <a:cs typeface="Calibri"/>
              <a:sym typeface="Calibri"/>
            </a:endParaRPr>
          </a:p>
          <a:p>
            <a:pPr indent="0" lvl="0" marL="0" marR="0" rtl="0" algn="l">
              <a:spcBef>
                <a:spcPts val="1400"/>
              </a:spcBef>
              <a:spcAft>
                <a:spcPts val="0"/>
              </a:spcAft>
              <a:buClr>
                <a:srgbClr val="151515"/>
              </a:buClr>
              <a:buSzPts val="1700"/>
              <a:buFont typeface="Overpass SemiBold"/>
              <a:buNone/>
            </a:pPr>
            <a:r>
              <a:rPr b="1" i="0" lang="en-US" sz="1700" u="none" cap="none" strike="noStrike">
                <a:solidFill>
                  <a:srgbClr val="151515"/>
                </a:solidFill>
                <a:latin typeface="Overpass SemiBold"/>
                <a:ea typeface="Overpass SemiBold"/>
                <a:cs typeface="Overpass SemiBold"/>
                <a:sym typeface="Overpass SemiBold"/>
              </a:rPr>
              <a:t>Lake</a:t>
            </a:r>
            <a:endParaRPr b="0" i="0" sz="1600" u="none" cap="none" strike="noStrike">
              <a:solidFill>
                <a:schemeClr val="dk1"/>
              </a:solidFill>
              <a:latin typeface="Calibri"/>
              <a:ea typeface="Calibri"/>
              <a:cs typeface="Calibri"/>
              <a:sym typeface="Calibri"/>
            </a:endParaRPr>
          </a:p>
          <a:p>
            <a:pPr indent="-228600" lvl="1" marL="457200" marR="0" rtl="0" algn="l">
              <a:spcBef>
                <a:spcPts val="300"/>
              </a:spcBef>
              <a:spcAft>
                <a:spcPts val="0"/>
              </a:spcAft>
              <a:buClr>
                <a:srgbClr val="5A5A5A"/>
              </a:buClr>
              <a:buSzPts val="1500"/>
              <a:buFont typeface="Red Hat Text"/>
              <a:buChar char="•"/>
            </a:pPr>
            <a:r>
              <a:rPr b="0" i="0" lang="en-US" sz="1500" u="none" cap="none" strike="noStrike">
                <a:solidFill>
                  <a:srgbClr val="5A5A5A"/>
                </a:solidFill>
                <a:latin typeface="Red Hat Text"/>
                <a:ea typeface="Red Hat Text"/>
                <a:cs typeface="Red Hat Text"/>
                <a:sym typeface="Red Hat Text"/>
              </a:rPr>
              <a:t>Heterogeneous data, ML/AI workloads, scale that exceeds what a warehouse handles. The bottleneck is format rigidity, not organizational ownership.</a:t>
            </a:r>
            <a:endParaRPr b="0" i="0" sz="1600" u="none" cap="none" strike="noStrike">
              <a:solidFill>
                <a:schemeClr val="dk1"/>
              </a:solidFill>
              <a:latin typeface="Calibri"/>
              <a:ea typeface="Calibri"/>
              <a:cs typeface="Calibri"/>
              <a:sym typeface="Calibri"/>
            </a:endParaRPr>
          </a:p>
          <a:p>
            <a:pPr indent="0" lvl="0" marL="0" marR="0" rtl="0" algn="l">
              <a:spcBef>
                <a:spcPts val="1400"/>
              </a:spcBef>
              <a:spcAft>
                <a:spcPts val="0"/>
              </a:spcAft>
              <a:buClr>
                <a:srgbClr val="151515"/>
              </a:buClr>
              <a:buSzPts val="1700"/>
              <a:buFont typeface="Overpass SemiBold"/>
              <a:buNone/>
            </a:pPr>
            <a:r>
              <a:rPr b="1" i="0" lang="en-US" sz="1700" u="none" cap="none" strike="noStrike">
                <a:solidFill>
                  <a:srgbClr val="151515"/>
                </a:solidFill>
                <a:latin typeface="Overpass SemiBold"/>
                <a:ea typeface="Overpass SemiBold"/>
                <a:cs typeface="Overpass SemiBold"/>
                <a:sym typeface="Overpass SemiBold"/>
              </a:rPr>
              <a:t>Mesh</a:t>
            </a:r>
            <a:endParaRPr b="0" i="0" sz="1600" u="none" cap="none" strike="noStrike">
              <a:solidFill>
                <a:schemeClr val="dk1"/>
              </a:solidFill>
              <a:latin typeface="Calibri"/>
              <a:ea typeface="Calibri"/>
              <a:cs typeface="Calibri"/>
              <a:sym typeface="Calibri"/>
            </a:endParaRPr>
          </a:p>
          <a:p>
            <a:pPr indent="-228600" lvl="0" marL="228600" marR="0" rtl="0" algn="l">
              <a:spcBef>
                <a:spcPts val="300"/>
              </a:spcBef>
              <a:spcAft>
                <a:spcPts val="0"/>
              </a:spcAft>
              <a:buClr>
                <a:srgbClr val="151515"/>
              </a:buClr>
              <a:buSzPts val="1600"/>
              <a:buFont typeface="Red Hat Text"/>
              <a:buChar char="•"/>
            </a:pPr>
            <a:r>
              <a:rPr b="0" i="0" lang="en-US" sz="1600" u="none" cap="none" strike="noStrike">
                <a:solidFill>
                  <a:srgbClr val="151515"/>
                </a:solidFill>
                <a:latin typeface="Red Hat Text"/>
                <a:ea typeface="Red Hat Text"/>
                <a:cs typeface="Red Hat Text"/>
                <a:sym typeface="Red Hat Text"/>
              </a:rPr>
              <a:t>Many domains, many consumers, and the central team has become the constraint. The bottleneck is organizational — who owns what — not technical.</a:t>
            </a:r>
            <a:endParaRPr b="0" i="0" sz="1600" u="none" cap="none" strike="noStrike">
              <a:solidFill>
                <a:schemeClr val="dk1"/>
              </a:solidFill>
              <a:latin typeface="Calibri"/>
              <a:ea typeface="Calibri"/>
              <a:cs typeface="Calibri"/>
              <a:sym typeface="Calibri"/>
            </a:endParaRPr>
          </a:p>
        </p:txBody>
      </p:sp>
      <p:sp>
        <p:nvSpPr>
          <p:cNvPr id="135" name="Google Shape;135;p14"/>
          <p:cNvSpPr/>
          <p:nvPr/>
        </p:nvSpPr>
        <p:spPr>
          <a:xfrm>
            <a:off x="457200" y="6400800"/>
            <a:ext cx="914400" cy="27432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8A8A8A"/>
              </a:buClr>
              <a:buSzPts val="1000"/>
              <a:buFont typeface="Red Hat Text"/>
              <a:buNone/>
            </a:pPr>
            <a:r>
              <a:rPr b="0" i="0" lang="en-US" sz="1000" u="none" cap="none" strike="noStrike">
                <a:solidFill>
                  <a:srgbClr val="8A8A8A"/>
                </a:solidFill>
                <a:latin typeface="Red Hat Text"/>
                <a:ea typeface="Red Hat Text"/>
                <a:cs typeface="Red Hat Text"/>
                <a:sym typeface="Red Hat Text"/>
              </a:rPr>
              <a:t>11</a:t>
            </a:r>
            <a:endParaRPr b="0" i="0" sz="1000" u="none" cap="none" strike="noStrike">
              <a:solidFill>
                <a:schemeClr val="dk1"/>
              </a:solidFill>
              <a:latin typeface="Calibri"/>
              <a:ea typeface="Calibri"/>
              <a:cs typeface="Calibri"/>
              <a:sym typeface="Calibri"/>
            </a:endParaRPr>
          </a:p>
        </p:txBody>
      </p:sp>
      <p:pic>
        <p:nvPicPr>
          <p:cNvPr descr="../data-mesh-openshift/brand-logo-dark.png" id="136" name="Google Shape;136;p14"/>
          <p:cNvPicPr preferRelativeResize="0"/>
          <p:nvPr/>
        </p:nvPicPr>
        <p:blipFill rotWithShape="1">
          <a:blip r:embed="rId3">
            <a:alphaModFix/>
          </a:blip>
          <a:srcRect b="0" l="0" r="0" t="0"/>
          <a:stretch/>
        </p:blipFill>
        <p:spPr>
          <a:xfrm>
            <a:off x="10591495" y="6353919"/>
            <a:ext cx="1051560" cy="248049"/>
          </a:xfrm>
          <a:prstGeom prst="rect">
            <a:avLst/>
          </a:prstGeom>
          <a:noFill/>
          <a:ln>
            <a:noFill/>
          </a:ln>
        </p:spPr>
      </p:pic>
    </p:spTree>
  </p:cSld>
  <p:clrMapOvr>
    <a:masterClrMapping/>
  </p:clrMapOvr>
</p:sld>
</file>

<file path=ppt/slides/slide1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41" name="Shape 141"/>
        <p:cNvGrpSpPr/>
        <p:nvPr/>
      </p:nvGrpSpPr>
      <p:grpSpPr>
        <a:xfrm>
          <a:off x="0" y="0"/>
          <a:ext cx="0" cy="0"/>
          <a:chOff x="0" y="0"/>
          <a:chExt cx="0" cy="0"/>
        </a:xfrm>
      </p:grpSpPr>
      <p:pic>
        <p:nvPicPr>
          <p:cNvPr descr="../data-mesh-openshift/brand-illustration.png" id="142" name="Google Shape;142;p15"/>
          <p:cNvPicPr preferRelativeResize="0"/>
          <p:nvPr/>
        </p:nvPicPr>
        <p:blipFill rotWithShape="1">
          <a:blip r:embed="rId3">
            <a:alphaModFix/>
          </a:blip>
          <a:srcRect b="0" l="0" r="0" t="0"/>
          <a:stretch/>
        </p:blipFill>
        <p:spPr>
          <a:xfrm>
            <a:off x="0" y="0"/>
            <a:ext cx="12191695" cy="6858000"/>
          </a:xfrm>
          <a:prstGeom prst="rect">
            <a:avLst/>
          </a:prstGeom>
          <a:noFill/>
          <a:ln>
            <a:noFill/>
          </a:ln>
        </p:spPr>
      </p:pic>
      <p:sp>
        <p:nvSpPr>
          <p:cNvPr id="143" name="Google Shape;143;p15"/>
          <p:cNvSpPr/>
          <p:nvPr/>
        </p:nvSpPr>
        <p:spPr>
          <a:xfrm>
            <a:off x="5120512" y="2286000"/>
            <a:ext cx="6431103" cy="822960"/>
          </a:xfrm>
          <a:prstGeom prst="rect">
            <a:avLst/>
          </a:prstGeom>
          <a:noFill/>
          <a:ln>
            <a:noFill/>
          </a:ln>
        </p:spPr>
        <p:txBody>
          <a:bodyPr anchorCtr="0" anchor="t" bIns="0" lIns="0" spcFirstLastPara="1" rIns="0" wrap="square" tIns="0">
            <a:noAutofit/>
          </a:bodyPr>
          <a:lstStyle/>
          <a:p>
            <a:pPr indent="0" lvl="0" marL="0" marR="0" rtl="0" algn="l">
              <a:spcBef>
                <a:spcPts val="0"/>
              </a:spcBef>
              <a:spcAft>
                <a:spcPts val="0"/>
              </a:spcAft>
              <a:buClr>
                <a:srgbClr val="FFFFFF"/>
              </a:buClr>
              <a:buSzPts val="2800"/>
              <a:buFont typeface="Overpass SemiBold"/>
              <a:buNone/>
            </a:pPr>
            <a:r>
              <a:rPr b="1" i="0" lang="en-US" sz="2800" u="none" cap="none" strike="noStrike">
                <a:solidFill>
                  <a:srgbClr val="FFFFFF"/>
                </a:solidFill>
                <a:latin typeface="Overpass SemiBold"/>
                <a:ea typeface="Overpass SemiBold"/>
                <a:cs typeface="Overpass SemiBold"/>
                <a:sym typeface="Overpass SemiBold"/>
              </a:rPr>
              <a:t>The mesh is the network of products —</a:t>
            </a:r>
            <a:endParaRPr b="0" i="0" sz="2800" u="none" cap="none" strike="noStrike">
              <a:solidFill>
                <a:schemeClr val="dk1"/>
              </a:solidFill>
              <a:latin typeface="Calibri"/>
              <a:ea typeface="Calibri"/>
              <a:cs typeface="Calibri"/>
              <a:sym typeface="Calibri"/>
            </a:endParaRPr>
          </a:p>
        </p:txBody>
      </p:sp>
      <p:sp>
        <p:nvSpPr>
          <p:cNvPr id="144" name="Google Shape;144;p15"/>
          <p:cNvSpPr/>
          <p:nvPr/>
        </p:nvSpPr>
        <p:spPr>
          <a:xfrm>
            <a:off x="5120512" y="3063240"/>
            <a:ext cx="6431103" cy="1097280"/>
          </a:xfrm>
          <a:prstGeom prst="rect">
            <a:avLst/>
          </a:prstGeom>
          <a:noFill/>
          <a:ln>
            <a:noFill/>
          </a:ln>
        </p:spPr>
        <p:txBody>
          <a:bodyPr anchorCtr="0" anchor="t" bIns="0" lIns="0" spcFirstLastPara="1" rIns="0" wrap="square" tIns="0">
            <a:noAutofit/>
          </a:bodyPr>
          <a:lstStyle/>
          <a:p>
            <a:pPr indent="0" lvl="0" marL="0" marR="0" rtl="0" algn="l">
              <a:spcBef>
                <a:spcPts val="0"/>
              </a:spcBef>
              <a:spcAft>
                <a:spcPts val="0"/>
              </a:spcAft>
              <a:buClr>
                <a:srgbClr val="FFD9D9"/>
              </a:buClr>
              <a:buSzPts val="2800"/>
              <a:buFont typeface="Overpass SemiBold"/>
              <a:buNone/>
            </a:pPr>
            <a:r>
              <a:rPr b="1" i="0" lang="en-US" sz="2800" u="none" cap="none" strike="noStrike">
                <a:solidFill>
                  <a:srgbClr val="FFD9D9"/>
                </a:solidFill>
                <a:latin typeface="Overpass SemiBold"/>
                <a:ea typeface="Overpass SemiBold"/>
                <a:cs typeface="Overpass SemiBold"/>
                <a:sym typeface="Overpass SemiBold"/>
              </a:rPr>
              <a:t>plus the platform and standards</a:t>
            </a:r>
            <a:endParaRPr b="0" i="0" sz="2800" u="none" cap="none" strike="noStrike">
              <a:solidFill>
                <a:schemeClr val="dk1"/>
              </a:solidFill>
              <a:latin typeface="Calibri"/>
              <a:ea typeface="Calibri"/>
              <a:cs typeface="Calibri"/>
              <a:sym typeface="Calibri"/>
            </a:endParaRPr>
          </a:p>
          <a:p>
            <a:pPr indent="0" lvl="0" marL="0" marR="0" rtl="0" algn="l">
              <a:spcBef>
                <a:spcPts val="0"/>
              </a:spcBef>
              <a:spcAft>
                <a:spcPts val="0"/>
              </a:spcAft>
              <a:buClr>
                <a:srgbClr val="FFD9D9"/>
              </a:buClr>
              <a:buSzPts val="2800"/>
              <a:buFont typeface="Overpass SemiBold"/>
              <a:buNone/>
            </a:pPr>
            <a:r>
              <a:rPr b="1" i="0" lang="en-US" sz="2800" u="none" cap="none" strike="noStrike">
                <a:solidFill>
                  <a:srgbClr val="FFD9D9"/>
                </a:solidFill>
                <a:latin typeface="Overpass SemiBold"/>
                <a:ea typeface="Overpass SemiBold"/>
                <a:cs typeface="Overpass SemiBold"/>
                <a:sym typeface="Overpass SemiBold"/>
              </a:rPr>
              <a:t>that let them interoperate.</a:t>
            </a:r>
            <a:endParaRPr b="0" i="0" sz="2800" u="none" cap="none" strike="noStrike">
              <a:solidFill>
                <a:schemeClr val="dk1"/>
              </a:solidFill>
              <a:latin typeface="Calibri"/>
              <a:ea typeface="Calibri"/>
              <a:cs typeface="Calibri"/>
              <a:sym typeface="Calibri"/>
            </a:endParaRPr>
          </a:p>
        </p:txBody>
      </p:sp>
      <p:sp>
        <p:nvSpPr>
          <p:cNvPr id="145" name="Google Shape;145;p15"/>
          <p:cNvSpPr/>
          <p:nvPr/>
        </p:nvSpPr>
        <p:spPr>
          <a:xfrm>
            <a:off x="5120512" y="4434840"/>
            <a:ext cx="6431103" cy="548640"/>
          </a:xfrm>
          <a:prstGeom prst="rect">
            <a:avLst/>
          </a:prstGeom>
          <a:noFill/>
          <a:ln>
            <a:noFill/>
          </a:ln>
        </p:spPr>
        <p:txBody>
          <a:bodyPr anchorCtr="0" anchor="t" bIns="0" lIns="0" spcFirstLastPara="1" rIns="0" wrap="square" tIns="0">
            <a:noAutofit/>
          </a:bodyPr>
          <a:lstStyle/>
          <a:p>
            <a:pPr indent="0" lvl="0" marL="0" marR="0" rtl="0" algn="l">
              <a:spcBef>
                <a:spcPts val="0"/>
              </a:spcBef>
              <a:spcAft>
                <a:spcPts val="0"/>
              </a:spcAft>
              <a:buClr>
                <a:srgbClr val="FFFFFF"/>
              </a:buClr>
              <a:buSzPts val="1500"/>
              <a:buFont typeface="Red Hat Text"/>
              <a:buNone/>
            </a:pPr>
            <a:r>
              <a:rPr b="0" i="1" lang="en-US" sz="1500" u="none" cap="none" strike="noStrike">
                <a:solidFill>
                  <a:srgbClr val="FFFFFF"/>
                </a:solidFill>
                <a:latin typeface="Red Hat Text"/>
                <a:ea typeface="Red Hat Text"/>
                <a:cs typeface="Red Hat Text"/>
                <a:sym typeface="Red Hat Text"/>
              </a:rPr>
              <a:t>Each pattern solved a real problem; the mesh solves the organizational one they all left behind.</a:t>
            </a:r>
            <a:endParaRPr b="0" i="0" sz="1500" u="none" cap="none" strike="noStrike">
              <a:solidFill>
                <a:schemeClr val="dk1"/>
              </a:solidFill>
              <a:latin typeface="Calibri"/>
              <a:ea typeface="Calibri"/>
              <a:cs typeface="Calibri"/>
              <a:sym typeface="Calibri"/>
            </a:endParaRPr>
          </a:p>
        </p:txBody>
      </p:sp>
      <p:pic>
        <p:nvPicPr>
          <p:cNvPr descr="../data-mesh-openshift/brand-logo-light.png" id="146" name="Google Shape;146;p15"/>
          <p:cNvPicPr preferRelativeResize="0"/>
          <p:nvPr/>
        </p:nvPicPr>
        <p:blipFill rotWithShape="1">
          <a:blip r:embed="rId4">
            <a:alphaModFix/>
          </a:blip>
          <a:srcRect b="0" l="0" r="0" t="0"/>
          <a:stretch/>
        </p:blipFill>
        <p:spPr>
          <a:xfrm>
            <a:off x="10500055" y="6314061"/>
            <a:ext cx="1143000" cy="269619"/>
          </a:xfrm>
          <a:prstGeom prst="rect">
            <a:avLst/>
          </a:prstGeom>
          <a:noFill/>
          <a:ln>
            <a:noFill/>
          </a:ln>
        </p:spPr>
      </p:pic>
    </p:spTree>
  </p:cSld>
  <p:clrMapOvr>
    <a:masterClrMapping/>
  </p:clrMapOvr>
</p:sld>
</file>

<file path=ppt/slides/slide14.xml><?xml version="1.0" encoding="utf-8"?>
<p:sld xmlns:a="http://schemas.openxmlformats.org/drawingml/2006/main" xmlns:p="http://schemas.openxmlformats.org/presentationml/2006/main" xmlns:r="http://schemas.openxmlformats.org/officeDocument/2006/relationships">
  <p:bg>
    <p:bgPr>
      <a:solidFill>
        <a:srgbClr val="FFFFFF"/>
      </a:solidFill>
      <a:effectLst/>
    </p:bgPr>
  </p:bg>
  <p:cSld>
    <p:spTree>
      <p:nvGrpSpPr>
        <p:cNvPr id="1" name=""/>
        <p:cNvGrpSpPr/>
        <p:nvPr/>
      </p:nvGrpSpPr>
      <p:grpSpPr/>
      <p:sp>
        <p:nvSpPr>
          <p:cNvPr id="2" name="TextBox 1"/>
          <p:cNvSpPr txBox="1"/>
          <p:nvPr/>
        </p:nvSpPr>
        <p:spPr>
          <a:xfrm>
            <a:off x="566927" y="384047"/>
            <a:ext cx="11055077" cy="292607"/>
          </a:xfrm>
          <a:prstGeom prst="rect">
            <a:avLst/>
          </a:prstGeom>
          <a:noFill/>
        </p:spPr>
        <p:txBody>
          <a:bodyPr wrap="square" lIns="0" rIns="0" tIns="0" bIns="0" anchor="ctr">
            <a:spAutoFit/>
          </a:bodyPr>
          <a:lstStyle/>
          <a:p>
            <a:pPr algn="l"/>
            <a:r>
              <a:rPr sz="1199" b="1" i="0" spc="399">
                <a:solidFill>
                  <a:srgbClr val="EE0000"/>
                </a:solidFill>
                <a:latin typeface="Overpass"/>
                <a:cs typeface="Overpass"/>
              </a:rPr>
              <a:t>SCAN TO EXPLORE</a:t>
            </a:r>
          </a:p>
        </p:txBody>
      </p:sp>
      <p:sp>
        <p:nvSpPr>
          <p:cNvPr id="3" name="TextBox 2"/>
          <p:cNvSpPr txBox="1"/>
          <p:nvPr/>
        </p:nvSpPr>
        <p:spPr>
          <a:xfrm>
            <a:off x="566927" y="676654"/>
            <a:ext cx="11055077" cy="1005838"/>
          </a:xfrm>
          <a:prstGeom prst="rect">
            <a:avLst/>
          </a:prstGeom>
          <a:noFill/>
        </p:spPr>
        <p:txBody>
          <a:bodyPr wrap="square" lIns="0" rIns="0" tIns="0" bIns="0" anchor="t">
            <a:spAutoFit/>
          </a:bodyPr>
          <a:lstStyle/>
          <a:p>
            <a:pPr algn="l"/>
            <a:r>
              <a:rPr sz="2999" b="1" i="0">
                <a:solidFill>
                  <a:srgbClr val="151515"/>
                </a:solidFill>
                <a:latin typeface="Overpass"/>
                <a:cs typeface="Overpass"/>
              </a:rPr>
              <a:t>Take it with you</a:t>
            </a:r>
          </a:p>
        </p:txBody>
      </p:sp>
      <p:pic>
        <p:nvPicPr>
          <p:cNvPr id="4" name="Picture 3" descr="qr-dmq-site.png"/>
          <p:cNvPicPr>
            <a:picLocks noChangeAspect="1"/>
          </p:cNvPicPr>
          <p:nvPr/>
        </p:nvPicPr>
        <p:blipFill>
          <a:blip r:embed="rId2"/>
          <a:stretch>
            <a:fillRect/>
          </a:stretch>
        </p:blipFill>
        <p:spPr>
          <a:xfrm>
            <a:off x="2103116" y="1627629"/>
            <a:ext cx="2834635" cy="2834635"/>
          </a:xfrm>
          <a:prstGeom prst="rect">
            <a:avLst/>
          </a:prstGeom>
        </p:spPr>
      </p:pic>
      <p:sp>
        <p:nvSpPr>
          <p:cNvPr id="5" name="TextBox 4"/>
          <p:cNvSpPr txBox="1"/>
          <p:nvPr/>
        </p:nvSpPr>
        <p:spPr>
          <a:xfrm>
            <a:off x="1417317" y="4553704"/>
            <a:ext cx="4206233" cy="365759"/>
          </a:xfrm>
          <a:prstGeom prst="rect">
            <a:avLst/>
          </a:prstGeom>
          <a:noFill/>
        </p:spPr>
        <p:txBody>
          <a:bodyPr wrap="square" lIns="0" rIns="0" tIns="0" bIns="0" anchor="ctr">
            <a:spAutoFit/>
          </a:bodyPr>
          <a:lstStyle/>
          <a:p>
            <a:pPr algn="ctr"/>
            <a:r>
              <a:rPr sz="1799" b="1" i="0">
                <a:solidFill>
                  <a:srgbClr val="151515"/>
                </a:solidFill>
                <a:latin typeface="Overpass"/>
                <a:cs typeface="Overpass"/>
              </a:rPr>
              <a:t>The reference architecture</a:t>
            </a:r>
          </a:p>
        </p:txBody>
      </p:sp>
      <p:sp>
        <p:nvSpPr>
          <p:cNvPr id="6" name="TextBox 5"/>
          <p:cNvSpPr txBox="1"/>
          <p:nvPr/>
        </p:nvSpPr>
        <p:spPr>
          <a:xfrm>
            <a:off x="1325877" y="4937751"/>
            <a:ext cx="4389112" cy="658366"/>
          </a:xfrm>
          <a:prstGeom prst="rect">
            <a:avLst/>
          </a:prstGeom>
          <a:noFill/>
        </p:spPr>
        <p:txBody>
          <a:bodyPr wrap="square" lIns="0" rIns="0" tIns="0" bIns="0" anchor="t">
            <a:spAutoFit/>
          </a:bodyPr>
          <a:lstStyle/>
          <a:p>
            <a:pPr algn="ctr"/>
            <a:r>
              <a:rPr sz="1299" b="0" i="1">
                <a:solidFill>
                  <a:srgbClr val="5A5A5A"/>
                </a:solidFill>
                <a:latin typeface="Red Hat Text"/>
                <a:cs typeface="Red Hat Text"/>
              </a:rPr>
              <a:t>Site, runnable Quarkus services, contracts, and the minikube bootstrap</a:t>
            </a:r>
          </a:p>
        </p:txBody>
      </p:sp>
      <p:sp>
        <p:nvSpPr>
          <p:cNvPr id="7" name="TextBox 6"/>
          <p:cNvSpPr txBox="1"/>
          <p:nvPr/>
        </p:nvSpPr>
        <p:spPr>
          <a:xfrm>
            <a:off x="1325877" y="5596118"/>
            <a:ext cx="4389112" cy="292607"/>
          </a:xfrm>
          <a:prstGeom prst="rect">
            <a:avLst/>
          </a:prstGeom>
          <a:noFill/>
        </p:spPr>
        <p:txBody>
          <a:bodyPr wrap="square" lIns="0" rIns="0" tIns="0" bIns="0" anchor="ctr">
            <a:spAutoFit/>
          </a:bodyPr>
          <a:lstStyle/>
          <a:p>
            <a:pPr algn="ctr"/>
            <a:r>
              <a:rPr sz="999" b="0" i="0">
                <a:solidFill>
                  <a:srgbClr val="EE0000"/>
                </a:solidFill>
                <a:latin typeface="Red Hat Mono"/>
                <a:cs typeface="Red Hat Mono"/>
              </a:rPr>
              <a:t>patterncatalyst.github.io/datamesh-reference-arch-quarkus</a:t>
            </a:r>
          </a:p>
        </p:txBody>
      </p:sp>
      <p:pic>
        <p:nvPicPr>
          <p:cNvPr id="8" name="Picture 7" descr="qr-hub.png"/>
          <p:cNvPicPr>
            <a:picLocks noChangeAspect="1"/>
          </p:cNvPicPr>
          <p:nvPr/>
        </p:nvPicPr>
        <p:blipFill>
          <a:blip r:embed="rId3"/>
          <a:stretch>
            <a:fillRect/>
          </a:stretch>
        </p:blipFill>
        <p:spPr>
          <a:xfrm>
            <a:off x="7251179" y="1627629"/>
            <a:ext cx="2834635" cy="2834635"/>
          </a:xfrm>
          <a:prstGeom prst="rect">
            <a:avLst/>
          </a:prstGeom>
        </p:spPr>
      </p:pic>
      <p:sp>
        <p:nvSpPr>
          <p:cNvPr id="9" name="TextBox 8"/>
          <p:cNvSpPr txBox="1"/>
          <p:nvPr/>
        </p:nvSpPr>
        <p:spPr>
          <a:xfrm>
            <a:off x="6565381" y="4553704"/>
            <a:ext cx="4206233" cy="365759"/>
          </a:xfrm>
          <a:prstGeom prst="rect">
            <a:avLst/>
          </a:prstGeom>
          <a:noFill/>
        </p:spPr>
        <p:txBody>
          <a:bodyPr wrap="square" lIns="0" rIns="0" tIns="0" bIns="0" anchor="ctr">
            <a:spAutoFit/>
          </a:bodyPr>
          <a:lstStyle/>
          <a:p>
            <a:pPr algn="ctr"/>
            <a:r>
              <a:rPr sz="1799" b="1" i="0">
                <a:solidFill>
                  <a:srgbClr val="151515"/>
                </a:solidFill>
                <a:latin typeface="Overpass"/>
                <a:cs typeface="Overpass"/>
              </a:rPr>
              <a:t>Workshops &amp; Tutorials</a:t>
            </a:r>
          </a:p>
        </p:txBody>
      </p:sp>
      <p:sp>
        <p:nvSpPr>
          <p:cNvPr id="10" name="TextBox 9"/>
          <p:cNvSpPr txBox="1"/>
          <p:nvPr/>
        </p:nvSpPr>
        <p:spPr>
          <a:xfrm>
            <a:off x="6473941" y="4937751"/>
            <a:ext cx="4389112" cy="658366"/>
          </a:xfrm>
          <a:prstGeom prst="rect">
            <a:avLst/>
          </a:prstGeom>
          <a:noFill/>
        </p:spPr>
        <p:txBody>
          <a:bodyPr wrap="square" lIns="0" rIns="0" tIns="0" bIns="0" anchor="t">
            <a:spAutoFit/>
          </a:bodyPr>
          <a:lstStyle/>
          <a:p>
            <a:pPr algn="ctr"/>
            <a:r>
              <a:rPr sz="1299" b="0" i="1">
                <a:solidFill>
                  <a:srgbClr val="5A5A5A"/>
                </a:solidFill>
                <a:latin typeface="Red Hat Text"/>
                <a:cs typeface="Red Hat Text"/>
              </a:rPr>
              <a:t>The whole series: every workshop, tutorial, and deck in one place</a:t>
            </a:r>
          </a:p>
        </p:txBody>
      </p:sp>
      <p:sp>
        <p:nvSpPr>
          <p:cNvPr id="11" name="TextBox 10"/>
          <p:cNvSpPr txBox="1"/>
          <p:nvPr/>
        </p:nvSpPr>
        <p:spPr>
          <a:xfrm>
            <a:off x="6473941" y="5596118"/>
            <a:ext cx="4389112" cy="292607"/>
          </a:xfrm>
          <a:prstGeom prst="rect">
            <a:avLst/>
          </a:prstGeom>
          <a:noFill/>
        </p:spPr>
        <p:txBody>
          <a:bodyPr wrap="square" lIns="0" rIns="0" tIns="0" bIns="0" anchor="ctr">
            <a:spAutoFit/>
          </a:bodyPr>
          <a:lstStyle/>
          <a:p>
            <a:pPr algn="ctr"/>
            <a:r>
              <a:rPr sz="899" b="0" i="0">
                <a:solidFill>
                  <a:srgbClr val="EE0000"/>
                </a:solidFill>
                <a:latin typeface="Red Hat Mono"/>
                <a:cs typeface="Red Hat Mono"/>
              </a:rPr>
              <a:t>patterncatalyst.github.io/patterncatalyst-workshops-tutorials-list</a:t>
            </a:r>
          </a:p>
        </p:txBody>
      </p:sp>
      <p:sp>
        <p:nvSpPr>
          <p:cNvPr id="12" name="TextBox 11"/>
          <p:cNvSpPr txBox="1"/>
          <p:nvPr/>
        </p:nvSpPr>
        <p:spPr>
          <a:xfrm>
            <a:off x="566927" y="6364213"/>
            <a:ext cx="914398" cy="274319"/>
          </a:xfrm>
          <a:prstGeom prst="rect">
            <a:avLst/>
          </a:prstGeom>
          <a:noFill/>
        </p:spPr>
        <p:txBody>
          <a:bodyPr wrap="square" lIns="0" rIns="0" tIns="0" bIns="0" anchor="ctr">
            <a:spAutoFit/>
          </a:bodyPr>
          <a:lstStyle/>
          <a:p>
            <a:pPr algn="l"/>
            <a:r>
              <a:rPr sz="999" b="0" i="0">
                <a:solidFill>
                  <a:srgbClr val="8A8A8A"/>
                </a:solidFill>
                <a:latin typeface="Red Hat Text"/>
                <a:cs typeface="Red Hat Text"/>
              </a:rPr>
              <a:t>14</a:t>
            </a:r>
          </a:p>
        </p:txBody>
      </p:sp>
      <p:pic>
        <p:nvPicPr>
          <p:cNvPr id="13" name="Picture 12" descr="image.png"/>
          <p:cNvPicPr>
            <a:picLocks noChangeAspect="1"/>
          </p:cNvPicPr>
          <p:nvPr/>
        </p:nvPicPr>
        <p:blipFill>
          <a:blip r:embed="rId4"/>
          <a:stretch>
            <a:fillRect/>
          </a:stretch>
        </p:blipFill>
        <p:spPr>
          <a:xfrm>
            <a:off x="10561302" y="6355069"/>
            <a:ext cx="1033270" cy="246887"/>
          </a:xfrm>
          <a:prstGeom prst="rect">
            <a:avLst/>
          </a:prstGeom>
        </p:spPr>
      </p:pic>
    </p:spTree>
  </p:cSld>
  <p:clrMapOvr>
    <a:masterClrMapping/>
  </p:clrMapOvr>
</p:sld>
</file>

<file path=ppt/theme/theme1.xml><?xml version="1.0" encoding="utf-8"?>
<a:theme xmlns:a="http://schemas.openxmlformats.org/drawingml/2006/main" xmlns:r="http://schemas.openxmlformats.org/officeDocument/2006/relationships" name="Office Theme">
  <a:themeElements>
    <a:clrScheme name="Office">
      <a:dk1>
        <a:srgbClr val="000000"/>
      </a:dk1>
      <a:lt1>
        <a:srgbClr val="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ppt/theme/theme2.xml><?xml version="1.0" encoding="utf-8"?>
<a:theme xmlns:a="http://schemas.openxmlformats.org/drawingml/2006/main" xmlns:r="http://schemas.openxmlformats.org/officeDocument/2006/relationships" name="Office Theme">
  <a:themeElements>
    <a:clrScheme name="Office">
      <a:dk1>
        <a:srgbClr val="000000"/>
      </a:dk1>
      <a:lt1>
        <a:srgbClr val="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