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Lst>
  <p:notesMasterIdLst>
    <p:notesMasterId r:id="rId1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notesMaster" Target="notesMasters/notesMaster1.xml"/><Relationship Id="rId113" Type="http://schemas.openxmlformats.org/officeDocument/2006/relationships/presProps" Target="presProps.xml"/><Relationship Id="rId114" Type="http://schemas.openxmlformats.org/officeDocument/2006/relationships/viewProps" Target="viewProps.xml"/><Relationship Id="rId115" Type="http://schemas.openxmlformats.org/officeDocument/2006/relationships/theme" Target="theme/theme1.xml"/><Relationship Id="rId1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201 deep-dive. The 101 deck makes the conceptual case for data mesh; this deck covers the running system: a Quarkus and Kubernetes reference architecture built on the shipping and order domain, with nineteen demo scripts behind it. No prior Quarkus experience is assumed. Each capability is introduced as it comes up, so the deck works as a Quarkus introduction as well as a data-mesh deep dive for anyone who has seen the 101. Expectations: a long walk, diagram-forward, with code where the code is the lesson. It states what works, what is opt-in, and the one capability documented as broken (in-process LLM tool calling).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numbered sections (00 to 11) plus a reference appendix. The thread is the four data-mesh principles from the 101 deck, and every section is tied to Quarkus code and a runnable demo script. The three-engines section is the main addition over the Python sibling: three coordination engines over one domain. The AI and rules section is the second: LLM classification feeding a deterministic rules engine, with the known limitation stated. The Quarkus section covers twelve capabilities, including the JDK 25 AOT cache and the Panama foreign function API. The appendix holds the full demo matrix, a glossary, and the background diagrams.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Orientation with three diagrams: the four principles recapped, the reference architecture the deck assembles piece by piece, and the map from principles to Kubernetes primitives. Keep it brisk. The principles already appeared in the 101 deck; this section re-anchors before the Quarkus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Taken from the 101 deck so the two decks connect. The principles interlock rather than stack. Data as a product without a self-serve platform means every domain builds its own Kafka. Governance without domain ownership rebuilds the central bottleneck under a new name. Everything that follows shows where Quarkus and Kubernetes put each of the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returns in assembled form near the end. For now: data products in the middle, the selectively meshed Istio data plane around them, KEDA watching two of them from outside the mesh, and the Collector fanning metrics, traces, and logs into one observability stack. By the end of the deck, each box here has a demo or a verified manifest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picture is the deck's structure. Domain ownership maps to namespace boundaries; data as a product maps to a Deployment, Service, and contract per domain; the self-serve platform maps to operators (Strimzi, CloudNativePG, KEDA); federated governance maps to the mesh and admission policy. Each later section builds out one column of this picture with Quarkus code and 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capabilities: Panache, gRPC, GraphQL, Reactive Messaging, WebSockets.Next, Vert.x with Uni and imperative handlers, continuous testing with Dev Services, native image, the JDK AOT cache, OIDC, JBang, and Panama FFM. Read the section as a map; no capability depends on another running first. Reactive Messaging and plain bean orchestration are the two the later sections build on: the choreography leg republishes the OrderEventProducer shown here, and the orchestration legs call the same bean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map once. inventory-service carries the most capabilities: Panache, gRPC, REST, and the Uni versus imperative handlers, because it is the smallest aggregate with the richest protocol surface. order-service carries Panache, Reactive Messaging, continuous testing, and the native image because it is the cleanest REST and Panache service. review-service carries OIDC because it is the smallest module: one protected endpoint, no cross-service calls. notification-service carries WebSockets.Next. JBang, the AOT cache comparison, and Panama FFM are tied to scripts and directories rather than services, and need no other service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 of 19. What it does: POST /orders calls inventory-service's CheckStock over gRPC to validate stock, persists the Order through Hibernate ORM Panache, then publishes order.placed to Kafka (best-effort here; demo-kafka.sh proves the Avro wire format). What to show: place an order, GET it back by id, then query Postgres directly to confirm the row. That gives three independent confirmations. Infra: compose (docker compose up -d; postgres, kafka, apicurio baseline). Fallback: a recorded transcript of the 201, 200, and 404 status codes and the row dump.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Panache offers two styles. Active record (used in this project): the entity extends PanacheEntityBase, and Order.findById(id) and order.persist() are the data-access layer. Repository: a PanacheRepository&lt;Order&gt; bean is injected into the resource, which makes mocking and layering easier at the cost of an extra class per aggregate. Both produce the same Hibernate ORM calls and SQL. Active record means less code; the repository suits teams that want strict layering. The Spring Boot twin uses a Spring Data JPA repository, which is the repository equivalent. The repository example on this diagram is illustrative; only active record runs in this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trade-off: the entity depends on a Panache base class, and active record does not suit every team's layering preference. For a reference architecture with one aggregate per service it removes a layer of indirection. inventory-service's StockResource calls Stock.findBySku(...) the same way, directly from a JAX-RS resource method. No OrderRepository interface, no mapper, and no injected DAO sit between the REST layer and the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2 of 19. What it does: inventory-service answers datamesh.inventory.v1.InventoryService/CheckStock over gRPC. The InventoryService base is generated at build time from the inventory.proto contract, not hand-written. @GrpcService registers the bean; @Blocking tells Vert.x the handler does blocking Panache work and must run on a worker thread, even though its signature is the reactive Uni&lt;CheckStockResponse&gt;. Why move: between domains a Protobuf contract gives you a typed, versioned interface with stubs generated on both sides, instead of a hand-maintained REST client and ad hoc JSON; calls run over HTTP/2 with binary framing, so high-volume inter-service reads cost less than REST. Mesh value: the .proto is the data product's machine-checkable interface contract. A consumer compiles against it and the build breaks if the producer drifts, which is federated governance enforced by the toolchain rather than a wiki page. What to show: call it with grpcurl against the .proto, a gRPC client over HTTP/2, so the protocol that ran is unambiguous. Infra: compose. Fallback: a recorded grpcurl JSON response showing available and quantityOnHand.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3 of 19. What it does: order(id) resolves over REST from order-service; the nested stock field resolves lazily over gRPC from inventory-service; both land in one /graphql response. The domain services did not change to support GraphQL; they keep their REST and gRPC interfaces and the gateway composes. This is gateway orchestration of reads, not subgraph federation, which is the right size for five services. Why move: MicroProfile GraphQL turns the composition into declarative @Source resolvers, so you delete the hand-written aggregation and N-plus-one plumbing a bespoke BFF would carry, and the client asks for exactly the fields it needs in one round trip instead of chaining REST calls. Mesh value: consumers compose a view across several data products on demand, while each product keeps ownership of its own interface and store. What to show: place an order, query the gateway, and assert both the REST-sourced order fields and the gRPC-sourced stock fields appear in one .data.order payload with no .errors. Infra: compose (docker compose up -d). Fallback: recorded .data.order JSON with both sets of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Uni&lt;T&gt; is Mutiny's lazy single-value asynchronous result: nothing runs until something subscribes, and operators such as onItem().transform() and onFailure().retry() compose it. An imperative method (StockDto get(sku)) runs on a worker thread, where blocking is fine. A method returning Uni runs on the Vert.x event loop, where blocking is forbidden; @Blocking moves it to a worker, and @RunOnVirtualThread is the third option. Quarkus picks the thread from the signature and the annotations, so one service can mix both styles over the same Panache entity. The next demo exercises exactly this with concurrent gRPC and REST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4 of 19. What it does: tests the claim that Quarkus unifies reactive and imperative code on one Vert.x reactor, under concurrent load. The framework, not the developer, chooses the thread pool for each request from @Blocking and the handler's return type. No migration is needed and no second event loop is started for the imperative side. What to show: three gRPC and three REST calls fired concurrently at one running process; every response correct and uncorrelated. The gRPC rule is quantity &gt; 0 and onHand &gt;= quantity; the REST rule is quantityOnHand &gt; 0. Infra: compose. Fallback: recorded six-call transcript, all six correct. 'Reactor' here means the Vert.x event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quarkus-websockets-next on Vert.x, with @WebSocket(path), @OnOpen and @OnTextMessage methods that return a value or a Uni or Multi, an execution model inferred from the signature, an injectable OpenConnections registry, and @WebSocketClient for outbound sockets. Right: the legacy quarkus-websockets extension, Jakarta WebSocket on Undertow, with @ServerEndpoint, a per-connection Session, and the @OnOpen/@OnMessage/@OnClose callback API. Why move: the legacy API makes you thread a Session through callbacks and keep your own set of live connections; WebSockets.Next removes that bookkeeping. Handlers return Uni or Multi, so a socket endpoint composes with the same reactive stack as the rest of the service, and the injectable OpenConnections fans a message out to every socket on the replica with no hand-rolled registry. Enterprise payoff: a data product can push its own events to subscribers in real time, and because each replica runs its own Kafka consumer group, you scale the push path by adding replicas with no shared coordination to manage. Bottom band: this project's path, where a Kafka @Incoming consumer calls OpenConnections.listAll() and sendText once the transaction commits.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5 of 19. What it does: WebSockets.Next and Reactive Messaging compose. A Kafka consumer pushes to every open socket right after it commits, with no polling. OpenConnections is the injectable registry of live connections; listAll().forEach(...).sendTextAndAwait(...) does the fan-out. Why move: @Incoming is a declarative channel binding, so broker wiring, offset handling, and backpressure are the extension's job rather than a hand-managed KafkaConsumer loop, and swapping the in-memory connector for Kafka is a configuration change, not a code change. Mesh value: the producer emits an event and never learns who listens, so a new consumer of this data product plugs in without the producer changing. What to show: a JDK java.net.http.WebSocket client run through JBang, connected before an order is placed, asserts that the second message it receives matches the order's orderId, customerId, and itemSku. Infra: compose. Fallback: recorded socket transcript.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JBang runs a single Java source file with inline dependency directives: //DEPS for Maven coordinates and //JAVA 25 for the JDK. It resolves from Maven Central, downloads a JDK if none matches, and caches the compiled result. Tools install the same way from pinned Maven coordinates, for example the Camel CLI from org.apache.camel:camel-launcher:4.22.1. The project avoids catalog aliases such as camel@apache/camel, which fetch unpinned scripts from GitHub and prompt the user to trust the source. This project uses it for HelloRoute.java (a Camel route), WsNotificationClient.java (the WebSocket test client), and PanamaFfm.java (the Panama demo). It matters for the demos because they need no Maven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6 of 19. What it does: the lightest demo in the set; no Maven and no containers, only JBang resolving pinned Camel 4.22.1 dependencies from Maven Central. The route file is local and nothing is fetched from GitHub, so JBang never asks for trust. What to show: the exact transformed marker string (JBANG_PROTOTYPE_OK: ...) in the route's log output, not only a zero exit code. Infra: bare (JDK 25 and jbang on PATH; no docker compose). Fallback: the recorded log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7 of 19. What it does: continuous testing and native compilation sit at opposite ends of the feedback-loop spectrum: instant, infra-provisioned reruns on one end and a multi-minute ahead-of-time compile on the other. Dev Services applies only to the former. A demo that cannot observe its target capability should fail rather than claim less than it set out to, so a missing banner fails this one. What to show: the banner line 'All 4 tests are passing (0 skipped), 4 tests were run in 8318ms.' Infra: bare (JDK 25 and Maven only; Dev Services starts its own containers). Fallback: the recorded banner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startup paths. Plain JVM: load, link, interpret, then JIT warm-up. JVM with the AOT cache (JDK 25, Project Leyden, JEPs 483, 514, and 515): a training run with -XX:AOTCacheOutput writes app.aot, and production runs with -XX:AOTCache; it is the same jar on a full JVM with the JIT still active. Native image (GraalVM or Mandrel): a closed-world build that takes minutes and needs reflection configuration, and it produces an executable with no JVM. The diagram is qualitative; measured numbers for the JVM and AOT paths appear in the Spring Boot comparison, and native is exercised by its own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Foreign Function and Memory API (Project Panama, final in JDK 22) calls native libraries from Java without JNI. Linker.nativeLinker() gives the platform linker, defaultLookup() resolves symbols from libc, and downcallHandle(FunctionDescriptor) produces a MethodHandle. An Arena allocates off-heap MemorySegments, such as a C string, and frees them when it closes. JNI needs C glue, generated headers, and a separate native build; FFM needs none of those. JDK 25 warns unless --enable-native-access is set, which the demo passes. The default lookup covers libc on Linux.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8 of 19. What it does: a JBang script (JDK 25, no Maven module) calls getpid() and strlen() in libc through the FFM API and checks both results against Java's own values. What to show: the two output lines, PANAMA_GETPID=&lt;n&gt; JVM_PID=&lt;n&gt; and PANAMA_STRLEN=&lt;n&gt; JAVA_LENGTH=&lt;n&gt;, with each pair equal. Recorded run (JDK 25.0.3, jbang 0.138.0): PANAMA_GETPID=867684 JVM_PID=867684 and PANAMA_STRLEN=31 JAVA_LENGTH=31. The test string is 'data mesh on Quarkus — héllo'; strlen counts UTF-8 bytes, so the Java side compares against the UTF-8 byte length, not the character count. Infra: bare (JDK 25 and jbang). Fallback: the recorded output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covers the data-as-a-product principle. Two kinds of contract: a runtime contract (Avro, on the hot path) and a discovery contract (OpenAPI, Protobuf, SDL, which are descriptive). Conflating the two is the most common confusion in this area. The governing decision in this project: every Kafka event uses Avro through Apicurio from the start, with no JSON shortcut.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is conceptual. The project does not ship an analytical-sourcing layer or Debezium-style CDC. It is included because a complete data-as-a-product picture has an analytical half as well as an operational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9 of 19. What it does: every Kafka event uses Avro against the Apicurio Schema Registry from the start. order-service pins AvroKafkaSerializer in application.properties because Quarkus's connector-serializer autodetection silently fell back to a Jackson JSON serializer here; two Avro serdes on the classpath make the choice ambiguous. What to show: place an order, read the raw bytes back from the compose Kafka broker with a byte-level consumer, and assert the Apicurio and Confluent wire-format magic byte (0x00) is the first byte. A JSON payload would start with 0x7B. Infra: compose. Fallback: a recorded byte dump showing 0x00 and the schema id. The same check runs automatically in OrderPlacedAvroWireIT.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runtime contract (Avro) is required to publish: the event does not serialize without it, so the registry can reject a breaking change at publish time. That is computational governance in action. A discovery contract (OpenAPI, GraphQL SDL, Protobuf) is descriptive. It is the source of truth for people and CI, but nothing fails at runtime if it goes stale. This project registers both kinds in Apicurio. A catalog such as OpenMetadata that ingests them into lineage is the next step and is not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contract is the lesson here. order-service's OrderEventProducer builds this record and calls emitter.send(...). The consumer side, notification-service's OrderPlacedConsumer, mirrors it: @Incoming('order-placed') on a @Transactional method, with no Kafka client code on either side. Details behind the pin: autodetection proved unreliable with two Avro serdes on the classpath, in both Quarkus and the Spring Boot twin. OrderPlacedAvroWireIT (Testcontainers Kafka and Apicurio) produces an OrderPlaced with AvroKafkaSerializer, consumes it with a byte-level KafkaConsumer, and asserts value[0] == 0x00 and value[0] != 0x7B. Avro 1.12's ClassSecurityValidator needs org.apache.avro.SERIALIZABLE_PACKAGES=datamesh.order.v1 on that test's failsafe execution; the order-service README records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protocol in the project has a contract: OpenAPI for REST, Protobuf for gRPC, SDL for GraphQL, and Avro for Kafka. All of them register in Apicurio. A mesh depends on consumers finding and trusting products without a central team. Without a usable registry and catalog they fall back to asking someone, and the bottleneck returns.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addition over the Python sibling. Every event-driven system answers one question: when several steps happen in sequence, who decides the sequence? This project runs three answers side by side. Terminology: Kafka is choreography. Camel and Quarkus Flow are both orchestration; they differ in how the sequence is expressed (an imperative route or a declarative workflow document), not in whether a coordinator exists. Keep 'orchestration' from collapsing into one technology.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three boxes. The choreography box has no coordinator node, because none exists. The two orchestration boxes each have one entry point and one owner of the sequence, drawn differently: the Camel box is a straight line of named steps (a route is a sequence of method calls), and the Quarkus Flow box is a small graph of declared tasks (a workflow document says what must happen before what and leaves the how to the engine). Code that calls things in order versus data that declares an order is the more useful distinction than orchestration versus choreography.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service holds a reference to the whole sequence. Each follows one rule: when I see event X, I do Y and emit Z (notification-service only does Y). This is the baseline the next two engines contrast against. The coupling is loose, through topics, and failure handling relies on idempotent redelivery. The cost is discoverability: reading one service tells you nothing about the end-to-end flow, so tracing and a catalog matter more here than in the orchestrated styles.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ai-rules-service exposes this at POST /api/orders/triage. Orchestration means one process sequences the steps and knows the whole flow; nothing about the sequence is implicit or visible only at runtime. classify (Ollama) and decide (Drools) are bean methods. The route coordinates but does not make the business decision. Why Camel on Quarkus: you get Camel's several hundred connectors and its enterprise integration patterns as first-class route steps, built at build time into the same native-ready Quarkus app, instead of a separate Camel Main runtime or a Spring Integration flow on a servlet stack. One process, one observability story, one deployable. Mesh value: when a data product's intake needs real integration work, protocol bridging, content-based routing, guaranteed redelivery, that logic stays inside the product rather than leaking back into a shared ESB.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engine separates two ideas that are often conflated: that a coordinator exists, and that the coordinator is a hand-written imperative function. Quarkus Flow declares the coordinator as data. classify and decide are the same TriageService methods Engine 2 calls: same logic, different coordination shape. Drools still makes the decision in both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decision guide for the three engines. No engine is strictly better; the point is to match the coordination shape to how the process is owned, reviewed, and changed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10 of 19. What it does: runs all three coordination engines back to back over one domain. Act 1 also checks a direct Postgres row and a REST lookup. What to show: the Avro magic byte on every Act 1 hop, and matching strict decisions in Acts 2 and 3. Infra: compose baseline for Act 1 (five services); Acts 2 and 3 need the compose ollama profile, opt-in through --with-ollama. Fallback: the recorded narration transcript of all three acts. This is the showcase demo for the three-engines story. The known limit: Act 1's order never went through the classifier-stability trial that Acts 2 and 3 require, and the script header says so; do not claim more continuity than the demo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division of labor: the LLM classifies and Drools decides. An LLM reads a loosely structured order description and extracts a few categorical fields reliably. It is a poor choice for a decision that must be audited, replayed deterministically, or explained to a compliance reviewer. This section also carries a known limitation: in-process multi-turn tool calling is broken in a different service, for a documented upstream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halves. Top: one LLM call feeding one deterministic rule engine, reached by two orchestration shapes that end in the same TriageService methods. Bottom: the same local model in a different capability, multi-turn tool calling in ai-mcp-service, where one path is broken for a documented upstream reason and a structurally separate path works. A successful LLM call in one part of the project is no evidence that a different kind of LLM call succeeds elsewhere.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11 of 19. What it does: a single-shot langchain4j chat call that classifies an order. The fix was to correct a misnamed prompt-template header and set the single-message operation explicitly. What to show: the classify endpoint returns one of the defined category labels. Infra: compose plus the ollama profile. Fallback: a recorded category-label response. Single-shot classification is a reliable shape as long as the output is parsed defensively. It is a different thing from multi-turn tool calling, which is where the known limitation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12 of 19. What it does: runs the same classify-then-decide pipeline through both orchestration shapes and asserts the exact expected decision on three pre-validated inputs. Both endpoints return the same decision for the same input, which shows the two shapes drive the same logic and are not two separately tuned copies. What to show: the three-decision table across both endpoints. Infra: compose plus the ollama profile (host Ollama with qwen2.5:3b pulled, or the compose ollama profile). Fallback: the recorded three-decision table. This is the primary AI demo. It avoids the tool-calling limitation by design: Drools, not langchain4j tool calling, makes the decision, so no in-process agent round trip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13 of 19. What it does: a Camel and EIP-focused demo that isolates two questions the project answers separately: does the route logic work, and does AI tool calling work. What to show: all four branches, including the fallback. Infra: compose plus the ollama profile. Fallback: the recorded four-branch transcript (ORD-001, ORD-002, ORD-003, and the unrecognized-id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14 of 19. What it does: demonstrates the working MCP-server tool-calling path and refuses to call the broken in-process agent path. What to show: the MCP JSON-RPC handshake, the tool list, and three deterministic lookups. Infra: compose plus the ollama profile. Fallback: the recorded MCP JSON-RPC transcript. Diagnosis: a transport-wiring defect in camel-quarkus-support-langchain4j, not model capability (a direct Ollama /api/chat call with a tools array returns tool_calls) and not tool registration (the tags match). It is an open upstream deferral; the appendix has the root cause. A demo that states the limitation with a banner and avoids the broken endpoint is more useful than omitting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section that steps outside Quarkus. A runnable Spring Boot 4.1.1 twin on the same JDK 25 (the measured numbers came from Spring Boot 4.0.8 and Quarkus 3.39.5), with a matched dependency surface (REST, JPA as the Panache equivalent, Kafka and Avro, gRPC client), so the numbers reflect the framework and not a difference in scope. No demo-springboot.sh exists. The comparison is run by scripts/compare-quarkus-springboot.sh, with an --aot mode for the JDK 25 AOT cache.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twin reuses the project's framework-agnostic jars unmodified: the same domain-model DTOs and the same generated Avro OrderPlaced class. There is no schema or DTO drift between the two. The one code difference is the persistence idiom: Panache active record in Quarkus and a derived Spring Data JPA repository in Spring Boot. Everything else the two services do is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run (Temurin 25.0.3, 2026-10-05; the JVM columns of the AOT comparison that follows) with both services under their packaged profile. Scope: JVM to JVM, with no native image on either side (native is a separate axis, covered in its own section). Treat the numbers as indicative: a single run on one developer machine through scripts/compare-quarkus-springboot.sh (measured, single run, indicative), with no averaging across runs, so absolute numbers will differ. The measurement boots the real wiring: the gRPC channel and the Kafka producer both initialize. Each framework's own self-reported 'boot complete' log line is the signal, because the script points KAFKA_BOOTSTRAP_SERVERS at a dead port for both services, so a health-based wait would time out on both. A cell the script cannot measure prints the placeholder &lt;measured-on-run&gt; in place of a number. The next slide adds the JDK 25 AOT cache to both services and brings startup to parity. Reach for Quarkus's footprint where it is paid repeatedly: scale to zero, dense multi-tenant deployments, serverless. Spring Boot's ecosystem and team familiarity are real advantages.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same order-service and Spring Boot twin, run once on the plain JVM and once with a JDK 25 AOT cache (Project Leyden). A training run with -XX:AOTCacheOutput writes the cache when the application exits; the measured run uses -XX:AOTCache with -XX:AOTMode=on, which fails loudly if the cache is unusable instead of silently falling back. Spring Boot runs from its extracted layout because nested jars cannot be cached. Reading the table: startup on both frameworks drops to about one second, so the AOT cache narrows the gap to parity. Quarkus's memory rises (337 to 372 MB) while Spring Boot's falls (548 to 446 MB); the cache is memory-mapped and counts toward RSS, and the cache files are 103 MB and 123 MB. Quarkus is still faster and smaller on the plain JVM. Caveats: single run on Temurin 25.0.3 on 2026-10-05, same JDK and classpath required for the cache, indicative only. Both services were measured with identical flags; Quarkus's own AOT integration was not used, to keep the comparison symmetric.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AOT comparison numbers were produced. mvn package builds quarkus-run.jar as usual; there is no special packaging. The training run starts that jar with -XX:AOTCacheOutput, waits for the started log line, and sends SIGTERM, because the JVM writes the cache when it exits. The cache holds classes already loaded and linked (JEP 483) and method profiles (JEP 515); JEP 514 is what makes this a single training step. For order-service it is 103 MB. The production run starts the same jar on the same JDK with -XX:AOTCache and -XX:AOTMode=on; without AOTMode=on, a stale or mismatched cache is silently ignored and the measurement would be wrong. Startup went from 2.045 s to 0.992 s, with the full JVM and JIT still active. Spring Boot gets the same treatment from its extracted layout, because classes inside nested jars cannot be cached. Single run on Temurin 25.0.3, 2026-10-05.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domain that needs elastic scaling asks for a ScaledObject; it does not operate the Kubernetes autoscaler internals. KEDA is the mechanism. It drives an HPA instead of replacing it, and it covers the one thing the HPA cannot do alone: the zero-to-one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domain interacts with the higher planes by declaration, not by touching infrastructure. The plane names matter less than the layering: the planes below are what the next two sections build out with Kubernetes 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KEDA ScaledObject is consumed by the KEDA operator, which creates and manages a standard HorizontalPodAutoscaler, fed by an external.metrics.k8s.io server that KEDA runs. From one replica upward, the ordinary HPA control loop scales on a Kafka-lag or HTTP-rate metric instead of CPU. The HPA cannot do minReplicas: 0, so KEDA's own operator polls the trigger source and makes the 0-to-1 jump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not CPU: a consumer idling at 0% CPU with a 10,000-message backlog should scale up, and CPU cannot see that; lag can. scripts/setup-keda.sh installs KEDA core 2.21.0 through Helm. Scale to zero means an elastic data product costs nothing while idle.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15 of 19. What it does: scales notification-service from zero on Kafka consumer-group lag, on the local Kubernetes cluster that scripts/bootstrap.sh builds. What to show: the replica count climbing from zero on a lag burst and returning to zero as the backlog drains. Infra: opt-in local Kubernetes cluster; it needs the platform bootstrapped (Istio, KEDA, Strimzi, CloudNativePG) with the kubectl context pointed at it, and runs through walkthrough.sh with --with-minikube. Fallback: a recorded replica-count timeline (0, N, 0). This demo is verified on the cluster. It is outside the core compose-based demo set because it exercises the Kubernetes platform and not docker compose.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HTTP add-on is a small system, not one component: an interceptor proxy sits in front of the scaled Deployment, buffers requests while the Deployment is at zero, and reports rate to an external scaler. It is pinned to 0.16.0, the newest stable release; v0.14.0 shipped a panic (upstream issue #1668) that 0.15.0 fixed. A cold JVM boot needs the interceptor to hold the wake-up request, so interceptor.readinessTimeout (which replaces the deprecated interceptor.replicas.waitTimeout) is set to 180 s; since 0.14.0 the default is disabled and a timeout answers 504, not 502. The k8s/keda README records both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 scaling goes on graphql-gateway and not on order-service: order-service carries the canary, and HTTP-scaling a service whose traffic is split by weight would put two mechanisms in conflict over the same pods. Fit the mechanism to the workload. The Kafka-lag scaler targets notification-service and the HTTP scaler targets graphql-gateway.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16 of 19. What it does: scales graphql-gateway from zero on inbound HTTP request rate through the KEDA HTTP add-on's interceptor. What to show: a scaled-to-zero deployment reaching at least one replica within budget. Infra: opt-in local Kubernetes cluster, the same platform as demo-keda-kafka.sh. Fallback: a recorded scale-up timeline. Status: verified 2026-10-06; graphql-gateway scaled 0 to 1 and all 120 GraphQL requests through the interceptor returned 200, single run. A scaled-to-zero workload reports 'unknown' health until the first request; that is expected, and worth answering before someone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Federated computational governance: a small set of global rules that the platform enforces automatically at the boundary, not a review board after the fact. This section covers the mesh (selective, not namespace-wide, and why), observability as governance made visible, and the trusted supply chain under every data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scripts/setup-istio.sh installs istio-base and istiod with helm upgrade --install, then waits for kubectl rollout status deployment/istiod to reach Available instead of trusting Helm's --wait. Injection is selective: namespace-wide injection breaks Job pods (the sidecar never exits, so the job hangs at 1/2) and collides with CloudNativePG's own Postgres TLS. Each Deployment opts in through the sidecar.istio.io/inject: "true" label on its pod template. Mutation happens at pod admission, not at kubectl apply, so a running pod needs a rollout restart to pick it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Progressive delivery manifests exist and are verified. The k8s/istio directory holds order-service-v2.yaml and the DestinationRule and VirtualService pair that split traffic by weight between v1 and v2 of order-service, and the split was checked on the cluster. There is no demo-canary.sh; the canary is a manifest-level capability and not a scripted demo. Istio and Kiali install cluster-wide. Application Deployments are outside the mesh unless they opt in: order-service, notification-service, and graphql-gateway opt in through the k8s/istio patches, and inventory-service stays out. Postgres and batch jobs stay outside for the reasons on the Istio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LGTM is part of the always-on compose baseline and is not profile-gated, unlike the lgtm-docker-stack skill's default template: docker compose up -d with no flag brings it up. Automatic platform behavior (autoscaling, mesh routing, retries) is only reassuring if you can watch it happen, and this stack makes it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Metrics show that something is wrong and roughly when. Traces show where, across product boundaries. Logs show exactly what happened. A request that touches three independently owned products is one user-facing operation spread over three services, and understanding it means correlating signals that no single product owns in full. That is the argument for needing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17 of 19. What it does: follows the order-to-inventory gRPC hop and checks that it produces one queryable, multi-service trace in Tempo. What to show: the span tree, with the root span, the gRPC child, and two Postgres children. Infra: compose baseline (LGTM is always on). Fallback: a recorded span-tree dump with the same shape. It is the one observability demo that has been run against a real backend and produced a verified cross-service trace, which shows that the platform's automatic behavior is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closes the loop between the contract work in the data-as-a-product section, the mesh's admission-time enforcement, and the observability just covered. Trust runs from 'the schema is registered' through 'the wire format is verified' to 'the running system is observable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for this section was to attempt a live OIDC demo and defer only if the single-machine budget could not support it. It could. review-service is the smallest module (three REST endpoints, Postgres as the only other Dev Services dependency, no cross-service calls), which makes this the smallest viable OIDC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 Services starts Keycloak with realm quarkus (alice has admin and user roles; bob has user only) and sets auth-server-url, so review-service needs no quarkus.oidc configuration. Flow: the client POSTs to the token endpoint (password grant, client quarkus-app), receives a JWT access token, and calls DELETE /reviews/{id} with an Authorization: Bearer header. quarkus-oidc verifies the signature against Keycloak's JWKS, the issuer, and expiry, and then @RolesAllowed("admin") applies. Outcomes: no token gives 401, bob gives 403, alice gives 204 and a follow-up GET gives 404. The password grant is for the demo only; browser applications use the authorization code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18 of 19. What it does: a bearer-token exchange against a Dev Services Keycloak, with three outcomes (401, 403, 204 then 404) in place of a mocked header. The 403 for Bob is an RBAC check: the token is valid and the role is missing. What to show: the three token requests and their responses. Infra: compose; feasibility-gated, so the demo may be skipped when the environment cannot run a live Keycloak Dev Service. Fallback: narrate the three outcomes without a live token exchange. The token port is found with docker port against the Keycloak Dev Service container, because Testcontainers binds a random host port; that is the plumbing most sensitive to the environment, which is why the demo is marked skippable.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Native stays out of the Spring Boot comparison table so that table compares JVM to JVM. The comparison numbers are JVM only. Native is covered by an opt-in, long-running demo (demo-native.sh); its one recorded run, on 2026-10-06 with the Mandrel builder container, built in 136 s, produced a 141 MB binary, and reported startup in 0.081 s. Native resident memory was not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19 of 19, so all nineteen demos in the matrix are now covered. What it does: compiles and runs order-service as a native executable with no JVM in the process. Enterprise payoff: a sub-100ms start and a roughly 141 MB footprint are what make KEDA scale-to-zero practical for a data product; a service scaled to zero costs nothing while idle and still answers its first request with no cold-start penalty, and the smaller per-pod memory packs more products onto the same node. What to show: the native binary's boot log and a GET /orders response. Infra: opt-in, with a native toolchain and one throwaway Postgres container. It is long-running: several minutes, and longer the first time a 1 to 2 GB builder image is pulled. Fallback: the recorded boot log and GET /orders response. It is the only demo outside walkthrough.sh's default acts, because of its runtime cost. It sits apart from the Spring Boot comparison, which is JVM-only; this is the only place native compilation appears. Recorded run, 2026-10-06: no local native-image, so the Mandrel builder container was used; 136 s build, 141 MB runner binary, startup reported at 0.081 s, GET /orders served with no JVM. Single run, indicative.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top row left to right. mvn package -Pnative runs the Quarkus build first: each extension's build steps run at build time, register what needs reflection or resources, and initialize classes, so the work a JVM would do at startup is already done. native-image then runs a points-to analysis over the closed world, snapshots the initialized heap, and compiles only reachable code into one executable. The middle row is where native-image comes from: a local GraalVM or Mandrel, or the Mandrel builder container with quarkus.native.container-build=true, which is what this machine used. If neither exists the demo fails rather than substituting a JVM jar. The bottom row is the run: native mode gets no Dev Services, so the demo starts a throwaway Postgres 18.6 container and passes TZ=UTC and a JDBC_URL to the binary, then asserts GET /orders returns a JSON array. Measured on 2026-10-06: 136 s build, 141 MB binary, startup 0.081 s. Single run, indicative.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Synthesis. Return to the reference architecture now that each box has a demo or verified manifest behind it, show the four value diagrams from the 101 deck backed by running code, walk demos/walkthrough.sh as the five-act presenter script, and close with adoption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callback to the first section. The audience has now seen a demo or verified manifest behind nearly every box: the nineteen demos, the three orchestration engines, the AI and rules showcase, the Spring Boot comparison with and without the AOT cache, the KEDA scalers, the mesh, and tracing.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order-service, inventory-service, payment-service, shipping-service, notification-service, and review-service: six services with six owners. Each is a Quarkus module with its own storage, API, and contract. No central team sits in the path of any of them shipping a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event in this project is Avro against Apicurio from the start; it was not retrofitted. demo-kafka.sh verifies the wire format at the byte level, beyond a configuration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Strimzi, CloudNativePG, and KEDA are the operators doing the fulfilling. notification-service and graphql-gateway both scale to zero and back without any autoscaling code in either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registry enforces contract compatibility computationally, the mesh enforces mTLS between meshed services, and the Collector makes every signal observable without per-service instrumentation effort. None of these needed a review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orchestrator over all nineteen demos. It is the one script a presenter runs end to end, with Enter-to-advance pauses for a live audience or --auto for CI and self-test. Each demo runs as its own child process through run_act, so the orchestrator never double-manages a demo's own compose_up and compose_down. Gating is per demo, not per act, behind --with-ollama, --with-native, and --with-minikube; a missing flag skips the demo cleanly and does not fail it. It supports --only and --skip, --no-preflight, and --no-pause or --auto, and prints a final pass, fail, and skip tally.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practical step before the wrap-up. A mesh, or this project's full stack, is not adopted all at once; the principles are independent enough to land incrementally. The answer to where to start is one domain, one product, and one demo that proves each piece before the next is added, and not the whole appendix on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Analytical data is the point of the whole exercise, so it closes the main talk. It is the historical, integrated, read-optimized view that analysts and models use, in contrast to the current-state rows behind running services. A mesh produces it as domain-owned analytical data products, derived from operational events and published with the same contract discipline as the operational ones, so consumers find and trust them without a central team. For the organization this is the payoff: trusted, discoverable data for decisions, ML features, and compliance, reused by many consumers without a central bottleneck, which is the data-as-a-product principle applied to analytics. The diagram shows operational data refined through events and entities into a published data product that analytics consumes. Status: the operational services, contracts, and events in this project are built and demonstrated. The analytical sourcing and composition shown here, and the ingestion and streaming picture earlier in the deck, are designed and not built; there is no CDC layer and no catalog ingesting lineage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before the appendix. Summary: nineteen demos, three coordination engines over one domain, and a status for each capability, with the MCP server path working and in-process tool calling still open upstream. Open for questions here if this is the end of the live session. The appendix that follows is reference material, not more narrative.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mirror the seven appendix chapters on the site. They are reference depth outside the main arc: scaling the WebSocket push, the gotchas, agentic-development recommendations, testing detail, in-memory versus Kafka messaging, the three engines compared, and running the whole system on OpenShift Local. Pull up whichever one a question lands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Per-replica fan-out is implemented and verified. OrderPlacedConsumer (a shared consumer group) persists notifications, with one replica per partition. OrderPlacedPushConsumer uses a per-replica group, so every replica receives every event and pushes to the sockets connected to that replica through OpenConnections. This was checked with two replicas on Kubernetes. A shared group alone would split partitions across replicas, which is backwards for a push that needs every replica to see every event, because a socket stays pinned to one replica. Making KEDA scale-to-zero socket-aware remains a recommendation and is not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panels. Normal: the client is connected to replica 2. Replica 2 fails: the socket closes and the client retries with backoff and jitter (1 s, 2 s, 4 s, and so on). Recovery: the Service routes the reconnect to replica 1 or 3, which already receives every event through its own push group, and the client fetches missed events with GET /notifications. Status: verified 2026-10-06 with tooling/ws-failover/verify-ws-failover.sh and the WsReconnectClient: with two replicas, deleting the one holding the socket closed it, the client reconnected after a jittered 979 ms backoff, caught up through GET /notifications with no duplicate, and received the next order from the survivor. Single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cell maps to a committed fix: postgres:18's rejection of Olson timezone ids, Avro 1.12's ClassSecurityValidator, the gRPC 9001 and 9000 port mismatch, @QuarkusIntegrationTest's separate-process timezone, import.sql skipped in %prod, @Consumes returning 415 on a bodyless GET plus RestAssured's false pass, the Avro serde falling back to JSON, and the stale-volume reset. The last one is a general operating caution; it was investigated and ruled out as a defect.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Agentic help works for bounded, well-specified changes grounded in the real code and MCP tooling (camel-mcp, quarkus-agent). It does not replace architecture decisions or verification. A subagent's report is a claim, not evidence, so the diff is checked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tests run under surefire with Dev Services provisioning the infrastructure. Failsafe *IT tests provision their own Testcontainers: OrderPlacedAvroWireIT's byte-level Avro assertion, and InventoryCheckStockWireIT, which seeds data and then calls gRPC. Functional and load tests sit on top. scripts/run-all-tests.sh walks the pyramid with flags to select tiers. Ollama-gated tests are skipped unless their flag is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JVM: event-loop threads (about twice the core count) and a worker pool, with the Vert.x event bus offering send, publish, and request-reply. Producers use Emitter or @Outgoing and consumers use @Incoming or @ConsumeEvent. It scales up with cores, has no network hop or wire serialization, and gets back-pressure from Mutiny. Limits: one JVM, not durable, no replay. This project uses the in-memory connector in shipping-service tests; the event-bus usage on the diagram is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Producers write to topic partitions P0 to P3. Consumer group A has replicas that each own partitions; group B reads the same topic independently, which is how fan-out works. Retention and consumer offsets allow replay. Apicurio holds the schemas. To scale out, add consumers up to the partition count; KEDA scales on 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connector configuration changes between the two; the application code is identical. In-memory proves messaging logic in tests without a broker and is not a production transport. The comparison covers scope, durability, ordering, how each scales (up across cores versus out across partitions and replicas), failure behavior (lost on crash versus replay from an offset), and where each is used here (tests versus %prod).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detail than the three-engines section. Terminology stays exact: Kafka is choreography, with no central coordinator and each participant reacting to events; Camel and Quarkus Flow are both orchestration, with one component sequencing the steps. Failure handling in this project today is idempotent redelivery and exception propagation, not saga compensation.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deployed topology on OpenShift Local (CRC 4.22). The host browser or curl reaches two edge-TLS Routes: graphql-gateway-datamesh.apps-crc.testing and apicurio-datamesh.apps-crc.testing. The gateway calls order-service over REST on 8080 and inventory-service over gRPC on 9000, and order-service also calls inventory-service over gRPC. Kafka is the cluster named datamesh, from AMQ Streams 3.2.1 with Kafka 4.2.0 on one KRaft node; the operator sits in openshift-operators through OLM with a pinned CSV. The choreography is unchanged: order-service publishes order.placed, payment-service publishes payment.captured, shipping-service publishes shipment.dispatched, and notification-service also consumes order.placed. Postgres is a StatefulSet named datamesh-postgres-rw on the rhel10/postgresql-18 image, used by order, inventory, shipping, notification, and review. Apicurio 3.3.3 holds the Avro schemas. review-service runs with its OIDC tenant disabled. Everything runs under the restricted-v2 security context constraint.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local container engine is involved. mvn package -Popenshift builds the fast-jar in target/quarkus-app, and the quarkus-openshift extension uploads it as a binary build to a BuildConfig that uses the Source strategy. S2I runs inside the cluster on ubi10/openjdk-25:1.24-15, pushes to the internal registry, and tags the ImageStream as the service name with v1. The Deployment pulls image-registry.openshift-image-registry.svc:5000/datamesh/ the service name v1. The cluster never pulls from Maven Central, because Maven runs on the host. Seven services come out of one Maven reactor run in about three minutes; each in-cluster build takes about 15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differences from the minikube path. First, the restricted-v2 security context constraint assigns the user ID from the namespace range, so the chart does not set runAsUser. Second, Routes with edge TLS on the apps-crc.testing domain replace NodePorts published on 127.0.0.1. Third, images are built in the cluster by the quarkus-openshift extension with binary S2I, not loaded from a local build. Fourth, Kafka comes from AMQ Streams in OperatorHub instead of Strimzi installed through Helm. Fifth, Postgres is a StatefulSet on the Red Hat PostgreSQL 16 image instead of CloudNativePG. Sixth, review-service runs with its OIDC tenant disabled, so DELETE /reviews/{id} answers 401. The decisions are DRQ-018 to DRQ-022.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problems found on the live run, each with its fix. Applying quarkus-container-image-openshift alone generated no BuildConfig, so the project uses the full quarkus-openshift extension. The output tag follows quarkus.openshift.version, not quarkus.container-image.tag. The S2I image reads JAVA_MAX_MEM_RATIO with a default of 80, which is too high for the pod limits, so it is set to 50. The database services restarted while Postgres was still initialising, which a wait-for-postgres init container fixed. The v1beta2 Kafka API is deprecated in AMQ Streams 3.2, so the CR moved to kafka.strimzi.io/v1. Status: verified 2026-10-09 on CRC 4.22.14 with a full clean cycle (teardown, install-infra, build-images, deploy, capture-evidence) in about 5.5 minutes. Teardown returns the cluster to clean.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is unchanged: seven Quarkus services, AMQ Streams Kafka, PostgreSQL, and Apicurio. Around it sit six platform features, each with a verified result. Service Mesh 3 (Sail) runs Istio v1.30.5 with STRICT mTLS and a 90/10 canary on order-service; the measured split was 94 to v1 and 6 to v2 over 100 requests, and Kiali draws the graph from otel-lgtm's Prometheus scraping sidecar port 15020. The Custom Metrics Autoscaler, Red Hat's KEDA, scales notification-service from 0 to 1 on Kafka lag within 15 seconds and back to 0 about three minutes after the burst; the topic has one partition, so the maximum is one replica. The Red Hat build of OpenTelemetry injects the OpenTelemetry Java agent by annotation with no image change, and traces land in grafana/otel-lgtm (0.36.0 now; the run used 0.8.1); one trace spans graphql-gateway, order-service over REST, and inventory-service over gRPC. Ollama (0.40.2 now; the run used 0.35.1) with qwen2.5:3b backs ai-mcp-service and ai-rules-service, built in the cluster; classify, triage through Camel and Quarkus Flow, and the MCP checks pass. order-service is compiled to native in the cluster with a Mandrel 25.0 builder image. OpenShift GitOps adopts the Helm release from GitHub and self-heal restores deleted resources in two to three seconds. Every operator is pinned with Manual approval and a startingCSV, and teardown removes everything and stops CRC. The cluster is CRC 4.22 with 12 vCPU and 32 GiB.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OpenShift-native piece and one non-obvious fix per feature. Mesh: OpenShift Service Mesh 3 injects sidecars through a label on the namespace rather than an annotation on each pod, and the ingress gateway has to accept plain traffic from the Route, so it is PERMISSIVE while the rest of the mesh is STRICT. Autoscaling: the Custom Metrics Autoscaler runs in openshift-keda, so a short Kafka bootstrap name does not resolve; the trigger uses the fully qualified service name. Tracing: the Red Hat build of OpenTelemetry operator injects the Java agent by annotation; grafana/otel-lgtm needs the anyuid SCC and no seccomp profile. AI: Ollama runs under restricted-v2 with a random user ID, so HOME and OLLAMA_MODELS point at a persistent volume claim the user can write. Native: the Avro class allow-list has to be passed as a native build argument, because it is read at image build time. GitOps: the Argo CD Application ignores the Postgres password field in the generated secret, so a sync never rotates the password. The full write-up is in chapter 22 and the decisions are DRQ-023 to DRQ-028.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on OpenShift Local for order-service. The native pod starts in 0.077 seconds; the JVM pod takes 8.0 seconds. The native working set is 29 MiB against 200 MiB for the JVM. The host generates the native sources, and a BuildConfig runs native-image from a Mandrel 25.0 builder image inside the cluster, which takes about two and a half minutes. Two caveats keep the comparison honest: the JVM pod also carries the OpenTelemetry Java agent, which adds startup time and memory, and an Envoy sidecar from the mesh runs beside both pods, so the sidecar cost is the same on each side. The Avro allow-list had to be supplied as a native build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material, not more narrative. Use it after the talk to check a demo's infrastructure tier, the root cause behind the tool-calling limitation, or a term in the glossary. The background diagrams are the 101 deck's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Mirrors the matrix in demos/README.md. 'bare' needs JDK 25, Maven 3.9.x, and jbang on PATH, plus GraalVM or Mandrel for native; no docker compose. 'compose' needs docker and the Compose v2 plugin, cp .env.example .env, and docker compose up -d from the repo root (postgres, kafka-native, apicurio, otel-lgtm; no profile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outside the opt-in summary (bare and compose, minus demo-oidc.sh) is the default, always-runnable set: the core of a single-machine run with no extra flags. walkthrough.sh also supports --only and --skip, --no-preflight, --no-pause and --auto, and prints a pass, fail, and skip tally.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Symptom detail: the tool-executions header is absent. Root cause detail: the property is set before any model bean is constructed, so the two levers a caller has (a hand-built OllamaChatModel with an explicit base-url, and an explicit httpClientBuilder(new JdkHttpClientBuilder()) override) were both tried and neither changed the outcome. Ruled out: a direct Ollama /api/chat call with a tools array returns tool_calls for qwen2.5:3b and qwen2.5:7b-instruct; the tags line up; the defect reproduces across every langchain4j combination tried. The classpath is platform-aligned: the platform quarkus-langchain4j-bom 3.40.1 pins quarkus-langchain4j 1.13.3 and dev.langchain4j 1.19.3, and the defect still reproduces on that train (re-tested 2026-10-09 with Ollama 0.40.2). The limitation does not block the build: the test is named *IT (surefire skips it), gated behind -Dollama.tests.enabled=true, and failsafe is not bound in ai-mcp-service, so mvn verify never needs Ollama. Options to revisit: an upstream issue against camel-quarkus-support-langchain4j, and continuing to demonstrate tool calling through the embedded MCP server, which this deck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standing infrastructure behind every compose-tier demo. docker compose up -d from the repo root, after cp .env.example .env, brings up the whole baseline. The Kafka listeners are PLAINTEXT and INTERNAL. The tag match was confirmed by inspecting the build-time config classes inside the cached Dev Services deployment jars.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 the shared demo harness's wait_http needs a 2xx or 3xx response, which this module cannot give, so readiness is connection-refused to connected. The strict assertion is stronger than the module's own opt-in integration tests, which assert membership in the set of valid decisions. Re-running the demo twice in a row against the live model produced the same three decisions on both endpoints both times, which is the empirical basis for the strict assertion.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of three glossary slides: data-mesh and architecture terms, grouped by where they appear (data as a product, the three engines, AI and rules, security). Definitions are short; the chapters carry the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of three: the Quarkus and JDK terms from the capability tour and the Spring Boot comparison. The AOT cache and native image are different startup strategies: the cache keeps a full JVM with the JIT, and native image removes the JVM.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of three: platform and AI terms from the platform, governance, and AI and rules sections, plus the base-image convention used across the infrastructure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diagrams set up the architectural history the 101 deck argues against. The 201 deck assumes that argument is settled and goes straight to building the mesh, so the figures are kept here for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lake is the third centralized architecture the 101 deck walks through before introducing the mesh. The decentralized diagram is the target that this deck builds piece by piece in Quarkus.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monolith-to-mesh analogy (the refactor microservices applied to applications, applied to data) carries a lot of the 101 deck. The evolution timeline is the one-slide history of why each earlier architecture hit a wall. Both are assumed knowledge by the time the 201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illustration comes from the Python sibling repository's reference architecture. It is similar to, but not identical to, this project's own reference-architecture diagram shown earlier, so it sits here as background and is not presented as this deck's architecture. The image file is 02-final-project-data-mesh.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101 deck's version of the seam a mesh addresses. Traditionally the operational and analytical layers are separate technology stacks joined by pipelines. A mesh keeps the distinction but organizes it by domain: each domain owns its operational systems and the analytical products derived from them. The final slide of the deck covers the analytical half in more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deep dive. The two codes take it with you: on the left, the reference architecture: the site, the runnable Quarkus services, the contracts and catalog, progressive delivery and autoscaling manifests, and the minikube bootstrap that runs the whole thing on a laptop. On the right, the Workshops and Tutorials hub: the whole series (every workshop, tutorial, and deck) in one place. Both are public on the Pattern Catalyst GitHub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slideLayout" Target="../slideLayouts/slideLayout1.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slideLayout" Target="../slideLayouts/slideLayout1.xml"/><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slideLayout" Target="../slideLayouts/slideLayout1.xml"/><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slideLayout" Target="../slideLayouts/slideLayout1.xml"/><Relationship Id="rId4"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slideLayout" Target="../slideLayouts/slideLayout1.xml"/><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2.png"/><Relationship Id="rId3" Type="http://schemas.openxmlformats.org/officeDocument/2006/relationships/slideLayout" Target="../slideLayouts/slideLayout1.xml"/><Relationship Id="rId4"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image" Target="../media/image-70-2.png"/><Relationship Id="rId3" Type="http://schemas.openxmlformats.org/officeDocument/2006/relationships/slideLayout" Target="../slideLayouts/slideLayout1.xml"/><Relationship Id="rId4"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image" Target="../media/image-71-2.png"/><Relationship Id="rId3" Type="http://schemas.openxmlformats.org/officeDocument/2006/relationships/slideLayout" Target="../slideLayouts/slideLayout1.xml"/><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image" Target="../media/image-72-2.png"/><Relationship Id="rId3" Type="http://schemas.openxmlformats.org/officeDocument/2006/relationships/slideLayout" Target="../slideLayouts/slideLayout1.xml"/><Relationship Id="rId4"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slideLayout" Target="../slideLayouts/slideLayout1.xml"/><Relationship Id="rId4"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slideLayout" Target="../slideLayouts/slideLayout1.xml"/><Relationship Id="rId4"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image" Target="../media/image-77-2.png"/><Relationship Id="rId3" Type="http://schemas.openxmlformats.org/officeDocument/2006/relationships/slideLayout" Target="../slideLayouts/slideLayout1.xml"/><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image" Target="../media/image-78-2.png"/><Relationship Id="rId3" Type="http://schemas.openxmlformats.org/officeDocument/2006/relationships/slideLayout" Target="../slideLayouts/slideLayout1.xml"/><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image" Target="../media/image-79-2.png"/><Relationship Id="rId3" Type="http://schemas.openxmlformats.org/officeDocument/2006/relationships/slideLayout" Target="../slideLayouts/slideLayout1.xml"/><Relationship Id="rId4"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image" Target="../media/image-80-2.png"/><Relationship Id="rId3" Type="http://schemas.openxmlformats.org/officeDocument/2006/relationships/slideLayout" Target="../slideLayouts/slideLayout1.xml"/><Relationship Id="rId4"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image" Target="../media/image-81-2.png"/><Relationship Id="rId3" Type="http://schemas.openxmlformats.org/officeDocument/2006/relationships/slideLayout" Target="../slideLayouts/slideLayout1.xml"/><Relationship Id="rId4"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image" Target="../media/image-82-2.png"/><Relationship Id="rId3" Type="http://schemas.openxmlformats.org/officeDocument/2006/relationships/slideLayout" Target="../slideLayouts/slideLayout1.xml"/><Relationship Id="rId4"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image" Target="../media/image-83-2.png"/><Relationship Id="rId3" Type="http://schemas.openxmlformats.org/officeDocument/2006/relationships/slideLayout" Target="../slideLayouts/slideLayout1.xml"/><Relationship Id="rId4"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image" Target="../media/image-84-2.png"/><Relationship Id="rId3" Type="http://schemas.openxmlformats.org/officeDocument/2006/relationships/slideLayout" Target="../slideLayouts/slideLayout1.xml"/><Relationship Id="rId4"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image" Target="../media/image-85-2.png"/><Relationship Id="rId3" Type="http://schemas.openxmlformats.org/officeDocument/2006/relationships/slideLayout" Target="../slideLayouts/slideLayout1.xml"/><Relationship Id="rId4"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image" Target="../media/image-86-2.png"/><Relationship Id="rId3" Type="http://schemas.openxmlformats.org/officeDocument/2006/relationships/slideLayout" Target="../slideLayouts/slideLayout1.xml"/><Relationship Id="rId4"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image" Target="../media/image-87-2.png"/><Relationship Id="rId3" Type="http://schemas.openxmlformats.org/officeDocument/2006/relationships/slideLayout" Target="../slideLayouts/slideLayout1.xml"/><Relationship Id="rId4"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image" Target="../media/image-88-2.png"/><Relationship Id="rId3" Type="http://schemas.openxmlformats.org/officeDocument/2006/relationships/slideLayout" Target="../slideLayouts/slideLayout1.xml"/><Relationship Id="rId4"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image" Target="../media/image-89-2.png"/><Relationship Id="rId3" Type="http://schemas.openxmlformats.org/officeDocument/2006/relationships/slideLayout" Target="../slideLayouts/slideLayout1.xml"/><Relationship Id="rId4"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image" Target="../media/image-90-2.png"/><Relationship Id="rId3" Type="http://schemas.openxmlformats.org/officeDocument/2006/relationships/slideLayout" Target="../slideLayouts/slideLayout1.xml"/><Relationship Id="rId4"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slideLayout" Target="../slideLayouts/slideLayout1.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png"/><Relationship Id="rId2" Type="http://schemas.openxmlformats.org/officeDocument/2006/relationships/image" Target="../media/image-93-2.png"/><Relationship Id="rId3" Type="http://schemas.openxmlformats.org/officeDocument/2006/relationships/slideLayout" Target="../slideLayouts/slideLayout1.xml"/><Relationship Id="rId4"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png"/><Relationship Id="rId2" Type="http://schemas.openxmlformats.org/officeDocument/2006/relationships/slideLayout" Target="../slideLayouts/slideLayout1.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slideLayout" Target="../slideLayouts/slideLayout1.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png"/><Relationship Id="rId2" Type="http://schemas.openxmlformats.org/officeDocument/2006/relationships/image" Target="../media/image-96-2.png"/><Relationship Id="rId3" Type="http://schemas.openxmlformats.org/officeDocument/2006/relationships/slideLayout" Target="../slideLayouts/slideLayout1.xml"/><Relationship Id="rId4"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pn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pn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png"/><Relationship Id="rId2" Type="http://schemas.openxmlformats.org/officeDocument/2006/relationships/slideLayout" Target="../slideLayouts/slideLayout1.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100-1.png"/><Relationship Id="rId2" Type="http://schemas.openxmlformats.org/officeDocument/2006/relationships/slideLayout" Target="../slideLayouts/slideLayout1.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png"/><Relationship Id="rId2" Type="http://schemas.openxmlformats.org/officeDocument/2006/relationships/slideLayout" Target="../slideLayouts/slideLayout1.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png"/><Relationship Id="rId2" Type="http://schemas.openxmlformats.org/officeDocument/2006/relationships/slideLayout" Target="../slideLayouts/slideLayout1.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image-103-1.png"/><Relationship Id="rId2" Type="http://schemas.openxmlformats.org/officeDocument/2006/relationships/slideLayout" Target="../slideLayouts/slideLayout1.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image-104-1.png"/><Relationship Id="rId2" Type="http://schemas.openxmlformats.org/officeDocument/2006/relationships/slideLayout" Target="../slideLayouts/slideLayout1.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png"/><Relationship Id="rId2" Type="http://schemas.openxmlformats.org/officeDocument/2006/relationships/image" Target="../media/image-105-2.png"/><Relationship Id="rId3" Type="http://schemas.openxmlformats.org/officeDocument/2006/relationships/image" Target="../media/image-105-3.png"/><Relationship Id="rId4" Type="http://schemas.openxmlformats.org/officeDocument/2006/relationships/slideLayout" Target="../slideLayouts/slideLayout1.xml"/><Relationship Id="rId5"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image-106-1.png"/><Relationship Id="rId2" Type="http://schemas.openxmlformats.org/officeDocument/2006/relationships/image" Target="../media/image-106-2.png"/><Relationship Id="rId3" Type="http://schemas.openxmlformats.org/officeDocument/2006/relationships/image" Target="../media/image-106-3.png"/><Relationship Id="rId4" Type="http://schemas.openxmlformats.org/officeDocument/2006/relationships/slideLayout" Target="../slideLayouts/slideLayout1.xml"/><Relationship Id="rId5"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image-107-1.png"/><Relationship Id="rId2" Type="http://schemas.openxmlformats.org/officeDocument/2006/relationships/image" Target="../media/image-107-2.png"/><Relationship Id="rId3" Type="http://schemas.openxmlformats.org/officeDocument/2006/relationships/image" Target="../media/image-107-3.png"/><Relationship Id="rId4" Type="http://schemas.openxmlformats.org/officeDocument/2006/relationships/slideLayout" Target="../slideLayouts/slideLayout1.xml"/><Relationship Id="rId5"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image-108-1.png"/><Relationship Id="rId2" Type="http://schemas.openxmlformats.org/officeDocument/2006/relationships/image" Target="../media/image-108-2.png"/><Relationship Id="rId3" Type="http://schemas.openxmlformats.org/officeDocument/2006/relationships/slideLayout" Target="../slideLayouts/slideLayout1.xml"/><Relationship Id="rId4"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png"/><Relationship Id="rId2" Type="http://schemas.openxmlformats.org/officeDocument/2006/relationships/image" Target="../media/image-109-2.png"/><Relationship Id="rId3" Type="http://schemas.openxmlformats.org/officeDocument/2006/relationships/slideLayout" Target="../slideLayouts/slideLayout1.xml"/><Relationship Id="rId4"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10-1.png"/><Relationship Id="rId2" Type="http://schemas.openxmlformats.org/officeDocument/2006/relationships/image" Target="../media/image-110-2.png"/><Relationship Id="rId3" Type="http://schemas.openxmlformats.org/officeDocument/2006/relationships/image" Target="../media/image-110-3.png"/><Relationship Id="rId4" Type="http://schemas.openxmlformats.org/officeDocument/2006/relationships/slideLayout" Target="../slideLayouts/slideLayout1.xml"/><Relationship Id="rId5" Type="http://schemas.openxmlformats.org/officeDocument/2006/relationships/notesSlide" Target="../notesSlides/notesSlide1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4510927" cy="6858000"/>
          </a:xfrm>
          <a:prstGeom prst="rect">
            <a:avLst/>
          </a:prstGeom>
        </p:spPr>
      </p:pic>
      <p:sp>
        <p:nvSpPr>
          <p:cNvPr id="3" name="Text 0"/>
          <p:cNvSpPr/>
          <p:nvPr/>
        </p:nvSpPr>
        <p:spPr>
          <a:xfrm>
            <a:off x="5151007" y="1554480"/>
            <a:ext cx="6400608" cy="365760"/>
          </a:xfrm>
          <a:prstGeom prst="rect">
            <a:avLst/>
          </a:prstGeom>
          <a:noFill/>
          <a:ln/>
        </p:spPr>
        <p:txBody>
          <a:bodyPr wrap="square" lIns="0" tIns="0" rIns="0" bIns="0" rtlCol="0" anchor="ctr"/>
          <a:lstStyle/>
          <a:p>
            <a:pPr indent="0" marL="0">
              <a:buNone/>
            </a:pPr>
            <a:r>
              <a:rPr lang="en-US" sz="1400" b="1" spc="300" kern="0" dirty="0">
                <a:solidFill>
                  <a:srgbClr val="EE0000"/>
                </a:solidFill>
                <a:latin typeface="Overpass SemiBold" pitchFamily="34" charset="0"/>
                <a:ea typeface="Overpass SemiBold" pitchFamily="34" charset="-122"/>
                <a:cs typeface="Overpass SemiBold" pitchFamily="34" charset="-120"/>
              </a:rPr>
              <a:t>DATA MESH · 201</a:t>
            </a:r>
            <a:endParaRPr lang="en-US" sz="1400" dirty="0"/>
          </a:p>
        </p:txBody>
      </p:sp>
      <p:sp>
        <p:nvSpPr>
          <p:cNvPr id="4" name="Text 1"/>
          <p:cNvSpPr/>
          <p:nvPr/>
        </p:nvSpPr>
        <p:spPr>
          <a:xfrm>
            <a:off x="5151007" y="1920240"/>
            <a:ext cx="6400608" cy="1737360"/>
          </a:xfrm>
          <a:prstGeom prst="rect">
            <a:avLst/>
          </a:prstGeom>
          <a:noFill/>
          <a:ln/>
        </p:spPr>
        <p:txBody>
          <a:bodyPr wrap="square" lIns="0" tIns="0" rIns="0" bIns="0" rtlCol="0" anchor="t"/>
          <a:lstStyle/>
          <a:p>
            <a:pPr indent="0" marL="0">
              <a:lnSpc>
                <a:spcPct val="100000"/>
              </a:lnSpc>
              <a:buNone/>
            </a:pPr>
            <a:r>
              <a:rPr lang="en-US" sz="3800" b="1" dirty="0">
                <a:solidFill>
                  <a:srgbClr val="151515"/>
                </a:solidFill>
                <a:latin typeface="Overpass SemiBold" pitchFamily="34" charset="0"/>
                <a:ea typeface="Overpass SemiBold" pitchFamily="34" charset="-122"/>
                <a:cs typeface="Overpass SemiBold" pitchFamily="34" charset="-120"/>
              </a:rPr>
              <a:t>Building a Datamesh using Quarkus and Kubernetes</a:t>
            </a:r>
            <a:endParaRPr lang="en-US" sz="3800" dirty="0"/>
          </a:p>
        </p:txBody>
      </p:sp>
      <p:sp>
        <p:nvSpPr>
          <p:cNvPr id="5" name="Text 2"/>
          <p:cNvSpPr/>
          <p:nvPr/>
        </p:nvSpPr>
        <p:spPr>
          <a:xfrm>
            <a:off x="5151007" y="3931920"/>
            <a:ext cx="6400608" cy="914400"/>
          </a:xfrm>
          <a:prstGeom prst="rect">
            <a:avLst/>
          </a:prstGeom>
          <a:noFill/>
          <a:ln/>
        </p:spPr>
        <p:txBody>
          <a:bodyPr wrap="square" lIns="0" tIns="0" rIns="0" bIns="0" rtlCol="0" anchor="t"/>
          <a:lstStyle/>
          <a:p>
            <a:pPr indent="0" marL="0">
              <a:buNone/>
            </a:pPr>
            <a:r>
              <a:rPr lang="en-US" sz="1700" i="1" dirty="0">
                <a:solidFill>
                  <a:srgbClr val="5A5A5A"/>
                </a:solidFill>
                <a:latin typeface="Red Hat Text" pitchFamily="34" charset="0"/>
                <a:ea typeface="Red Hat Text" pitchFamily="34" charset="-122"/>
                <a:cs typeface="Red Hat Text" pitchFamily="34" charset="-120"/>
              </a:rPr>
              <a:t>From the four principles to a running platform on Quarkus and Kubernetes: a capability tour, three orchestration engines, AI and rules triage, and live demos. No prior Quarkus experience required.</a:t>
            </a:r>
            <a:endParaRPr lang="en-US" sz="1700" dirty="0"/>
          </a:p>
        </p:txBody>
      </p:sp>
      <p:sp>
        <p:nvSpPr>
          <p:cNvPr id="6" name="Text 3"/>
          <p:cNvSpPr/>
          <p:nvPr/>
        </p:nvSpPr>
        <p:spPr>
          <a:xfrm>
            <a:off x="5151007" y="5349240"/>
            <a:ext cx="6400608" cy="365760"/>
          </a:xfrm>
          <a:prstGeom prst="rect">
            <a:avLst/>
          </a:prstGeom>
          <a:noFill/>
          <a:ln/>
        </p:spPr>
        <p:txBody>
          <a:bodyPr wrap="square" lIns="0" tIns="0" rIns="0" bIns="0" rtlCol="0" anchor="t"/>
          <a:lstStyle/>
          <a:p>
            <a:pPr indent="0" marL="0">
              <a:buNone/>
            </a:pPr>
            <a:r>
              <a:rPr lang="en-US" sz="1300" dirty="0">
                <a:solidFill>
                  <a:srgbClr val="8A8A8A"/>
                </a:solidFill>
                <a:latin typeface="Red Hat Text" pitchFamily="34" charset="0"/>
                <a:ea typeface="Red Hat Text" pitchFamily="34" charset="-122"/>
                <a:cs typeface="Red Hat Text" pitchFamily="34" charset="-120"/>
              </a:rPr>
              <a:t>Data Mesh · 201 · r1.2</a:t>
            </a:r>
            <a:endParaRPr lang="en-US" sz="1300" dirty="0"/>
          </a:p>
        </p:txBody>
      </p:sp>
      <p:pic>
        <p:nvPicPr>
          <p:cNvPr id="7" name="Image 1" descr="brand-logo-dark.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AGENDA</a:t>
            </a:r>
            <a:endParaRPr lang="en-US" sz="1200" dirty="0"/>
          </a:p>
        </p:txBody>
      </p:sp>
      <p:sp>
        <p:nvSpPr>
          <p:cNvPr id="3" name="Text 1"/>
          <p:cNvSpPr/>
          <p:nvPr/>
        </p:nvSpPr>
        <p:spPr>
          <a:xfrm>
            <a:off x="640080" y="713232"/>
            <a:ext cx="10911535" cy="822960"/>
          </a:xfrm>
          <a:prstGeom prst="rect">
            <a:avLst/>
          </a:prstGeom>
          <a:noFill/>
          <a:ln/>
        </p:spPr>
        <p:txBody>
          <a:bodyPr wrap="square" lIns="0" tIns="0" rIns="0" bIns="0" rtlCol="0" anchor="t"/>
          <a:lstStyle/>
          <a:p>
            <a:pPr indent="0" marL="0">
              <a:buNone/>
            </a:pPr>
            <a:r>
              <a:rPr lang="en-US" sz="3400" b="1" dirty="0">
                <a:solidFill>
                  <a:srgbClr val="151515"/>
                </a:solidFill>
                <a:latin typeface="Overpass SemiBold" pitchFamily="34" charset="0"/>
                <a:ea typeface="Overpass SemiBold" pitchFamily="34" charset="-122"/>
                <a:cs typeface="Overpass SemiBold" pitchFamily="34" charset="-120"/>
              </a:rPr>
              <a:t>Agenda</a:t>
            </a:r>
            <a:endParaRPr lang="en-US" sz="3400" dirty="0"/>
          </a:p>
        </p:txBody>
      </p:sp>
      <p:sp>
        <p:nvSpPr>
          <p:cNvPr id="4" name="Text 2"/>
          <p:cNvSpPr/>
          <p:nvPr/>
        </p:nvSpPr>
        <p:spPr>
          <a:xfrm>
            <a:off x="640080" y="1783080"/>
            <a:ext cx="5120640" cy="4206240"/>
          </a:xfrm>
          <a:prstGeom prst="rect">
            <a:avLst/>
          </a:prstGeom>
          <a:noFill/>
          <a:ln/>
        </p:spPr>
        <p:txBody>
          <a:bodyPr wrap="square" lIns="0" tIns="0" rIns="0" bIns="0" rtlCol="0" anchor="t"/>
          <a:lstStyle/>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00 · From principles to platform</a:t>
            </a:r>
            <a:endParaRPr lang="en-US" sz="1700" dirty="0"/>
          </a:p>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01 · Quarkus capability tour</a:t>
            </a:r>
            <a:endParaRPr lang="en-US" sz="1700" dirty="0"/>
          </a:p>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02 · Data as a product</a:t>
            </a:r>
            <a:endParaRPr lang="en-US" sz="1700" dirty="0"/>
          </a:p>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03 · The three engines</a:t>
            </a:r>
            <a:endParaRPr lang="en-US" sz="1700" dirty="0"/>
          </a:p>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04 · AI + rules triage</a:t>
            </a:r>
            <a:endParaRPr lang="en-US" sz="1700" dirty="0"/>
          </a:p>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05 · Quarkus vs. Spring Boot</a:t>
            </a:r>
            <a:endParaRPr lang="en-US" sz="1700" dirty="0"/>
          </a:p>
        </p:txBody>
      </p:sp>
      <p:sp>
        <p:nvSpPr>
          <p:cNvPr id="5" name="Text 3"/>
          <p:cNvSpPr/>
          <p:nvPr/>
        </p:nvSpPr>
        <p:spPr>
          <a:xfrm>
            <a:off x="6126480" y="1783080"/>
            <a:ext cx="5486400" cy="4206240"/>
          </a:xfrm>
          <a:prstGeom prst="rect">
            <a:avLst/>
          </a:prstGeom>
          <a:noFill/>
          <a:ln/>
        </p:spPr>
        <p:txBody>
          <a:bodyPr wrap="square" lIns="0" tIns="0" rIns="0" bIns="0" rtlCol="0" anchor="t"/>
          <a:lstStyle/>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06 · Platform: self-serve, elastic, resilient</a:t>
            </a:r>
            <a:endParaRPr lang="en-US" sz="1700" dirty="0"/>
          </a:p>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07 · Governance, mesh, observability</a:t>
            </a:r>
            <a:endParaRPr lang="en-US" sz="1700" dirty="0"/>
          </a:p>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08 · Security</a:t>
            </a:r>
            <a:endParaRPr lang="en-US" sz="1700" dirty="0"/>
          </a:p>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09 · Native</a:t>
            </a:r>
            <a:endParaRPr lang="en-US" sz="1700" dirty="0"/>
          </a:p>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10 · The whole picture</a:t>
            </a:r>
            <a:endParaRPr lang="en-US" sz="1700" dirty="0"/>
          </a:p>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11 · Appendices</a:t>
            </a:r>
            <a:endParaRPr lang="en-US" sz="1700" dirty="0"/>
          </a:p>
          <a:p>
            <a:pPr marL="203200" indent="-203200">
              <a:spcAft>
                <a:spcPts val="1200"/>
              </a:spcAft>
              <a:buSzPct val="100000"/>
              <a:buChar char="•"/>
            </a:pPr>
            <a:r>
              <a:rPr lang="en-US" sz="1700" i="1" dirty="0">
                <a:solidFill>
                  <a:srgbClr val="5A5A5A"/>
                </a:solidFill>
                <a:latin typeface="Red Hat Text" pitchFamily="34" charset="0"/>
                <a:ea typeface="Red Hat Text" pitchFamily="34" charset="-122"/>
                <a:cs typeface="Red Hat Text" pitchFamily="34" charset="-120"/>
              </a:rPr>
              <a:t>Appendix: reference material</a:t>
            </a:r>
            <a:endParaRPr lang="en-US" sz="1700" dirty="0"/>
          </a:p>
        </p:txBody>
      </p:sp>
      <p:sp>
        <p:nvSpPr>
          <p:cNvPr id="6" name="Text 4"/>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a:t>
            </a:r>
            <a:endParaRPr lang="en-US" sz="1000" dirty="0"/>
          </a:p>
        </p:txBody>
      </p:sp>
      <p:pic>
        <p:nvPicPr>
          <p:cNvPr id="7"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00</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From principles to platform</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The four principles, the reference architecture we build toward, and how the pieces map onto Quarkus and Kubernetes.</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FROM PRINCIPLES TO PLATFORM</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Four principles, recapped</a:t>
            </a:r>
            <a:endParaRPr lang="en-US" sz="3000" dirty="0"/>
          </a:p>
        </p:txBody>
      </p:sp>
      <p:pic>
        <p:nvPicPr>
          <p:cNvPr id="4" name="Image 0" descr="dpng/01-data-mesh-four-principles.png">    </p:cNvPr>
          <p:cNvPicPr>
            <a:picLocks noChangeAspect="1"/>
          </p:cNvPicPr>
          <p:nvPr/>
        </p:nvPicPr>
        <p:blipFill>
          <a:blip r:embed="rId1"/>
          <a:stretch>
            <a:fillRect/>
          </a:stretch>
        </p:blipFill>
        <p:spPr>
          <a:xfrm>
            <a:off x="1799570" y="1645920"/>
            <a:ext cx="859255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Domain ownership, data as a product, self-serve data platform, federated computational governance: interlocking, not sequential.</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FROM PRINCIPLES TO PLATFORM</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reference architecture we build toward</a:t>
            </a:r>
            <a:endParaRPr lang="en-US" sz="3000" dirty="0"/>
          </a:p>
        </p:txBody>
      </p:sp>
      <p:pic>
        <p:nvPicPr>
          <p:cNvPr id="4" name="Image 0" descr="dpng/08-reference-architecture.png">    </p:cNvPr>
          <p:cNvPicPr>
            <a:picLocks noChangeAspect="1"/>
          </p:cNvPicPr>
          <p:nvPr/>
        </p:nvPicPr>
        <p:blipFill>
          <a:blip r:embed="rId1"/>
          <a:stretch>
            <a:fillRect/>
          </a:stretch>
        </p:blipFill>
        <p:spPr>
          <a:xfrm>
            <a:off x="3032479" y="1645920"/>
            <a:ext cx="612673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Data products behind the Istio mesh, KEDA-driven autoscaling, and every signal flowing through the OpenTelemetry Collector into Grafana LGTM and Kiali.</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FROM PRINCIPLES TO PLATFORM</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From principles to Kubernetes and Quarkus pieces</a:t>
            </a:r>
            <a:endParaRPr lang="en-US" sz="3000" dirty="0"/>
          </a:p>
        </p:txBody>
      </p:sp>
      <p:pic>
        <p:nvPicPr>
          <p:cNvPr id="4" name="Image 0" descr="dpng/02-principles-to-pieces.png">    </p:cNvPr>
          <p:cNvPicPr>
            <a:picLocks noChangeAspect="1"/>
          </p:cNvPicPr>
          <p:nvPr/>
        </p:nvPicPr>
        <p:blipFill>
          <a:blip r:embed="rId1"/>
          <a:stretch>
            <a:fillRect/>
          </a:stretch>
        </p:blipFill>
        <p:spPr>
          <a:xfrm>
            <a:off x="2353445" y="1645920"/>
            <a:ext cx="7484805"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Each principle maps to Kubernetes building blocks: namespaces, Deployments and CRDs, operators, and mesh and admission policy.</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01</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Quarkus capability tour</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Twelve capabilities, each backed by running code in this project.</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CAPABILITY TOUR</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Twelve capabilities demonstrated</a:t>
            </a:r>
            <a:endParaRPr lang="en-US" sz="3000" dirty="0"/>
          </a:p>
        </p:txBody>
      </p:sp>
      <p:pic>
        <p:nvPicPr>
          <p:cNvPr id="4" name="Image 0" descr="dpng/11-capability-tour.png">    </p:cNvPr>
          <p:cNvPicPr>
            <a:picLocks noChangeAspect="1"/>
          </p:cNvPicPr>
          <p:nvPr/>
        </p:nvPicPr>
        <p:blipFill>
          <a:blip r:embed="rId1"/>
          <a:stretch>
            <a:fillRect/>
          </a:stretch>
        </p:blipFill>
        <p:spPr>
          <a:xfrm>
            <a:off x="1221100" y="1645920"/>
            <a:ext cx="974949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Each capability is anchored to one service, script, or directory in this project.</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CAPABILITY TOUR</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Panache and REST: the template data product</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One entity, one resource, one gRPC call, one event</a:t>
            </a:r>
            <a:endParaRPr lang="en-US" sz="1700" dirty="0"/>
          </a:p>
        </p:txBody>
      </p:sp>
      <p:pic>
        <p:nvPicPr>
          <p:cNvPr id="5" name="Image 0" descr="dpng/03-data-product-anatomy.png">    </p:cNvPr>
          <p:cNvPicPr>
            <a:picLocks noChangeAspect="1"/>
          </p:cNvPicPr>
          <p:nvPr/>
        </p:nvPicPr>
        <p:blipFill>
          <a:blip r:embed="rId1"/>
          <a:stretch>
            <a:fillRect/>
          </a:stretch>
        </p:blipFill>
        <p:spPr>
          <a:xfrm>
            <a:off x="2049353" y="1874520"/>
            <a:ext cx="8092989" cy="3703320"/>
          </a:xfrm>
          <a:prstGeom prst="rect">
            <a:avLst/>
          </a:prstGeom>
        </p:spPr>
      </p:pic>
      <p:sp>
        <p:nvSpPr>
          <p:cNvPr id="6" name="Text 3"/>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order-service follows this shape: a Panache entity as its own repository, REST ports in and out, a gRPC call out, an event published on commit.</a:t>
            </a:r>
            <a:endParaRPr lang="en-US" sz="1250" dirty="0"/>
          </a:p>
        </p:txBody>
      </p:sp>
      <p:sp>
        <p:nvSpPr>
          <p:cNvPr id="7" name="Text 4"/>
          <p:cNvSpPr/>
          <p:nvPr/>
        </p:nvSpPr>
        <p:spPr>
          <a:xfrm>
            <a:off x="1463040" y="6428232"/>
            <a:ext cx="6858000" cy="228600"/>
          </a:xfrm>
          <a:prstGeom prst="rect">
            <a:avLst/>
          </a:prstGeom>
          <a:noFill/>
          <a:ln/>
        </p:spPr>
        <p:txBody>
          <a:bodyPr wrap="square" lIns="0" tIns="0" rIns="0" bIns="0" rtlCol="0" anchor="ctr"/>
          <a:lstStyle/>
          <a:p>
            <a:pPr algn="l" indent="0" marL="0">
              <a:buNone/>
            </a:pPr>
            <a:r>
              <a:rPr lang="en-US" sz="800" dirty="0">
                <a:solidFill>
                  <a:srgbClr val="8A8A8A"/>
                </a:solidFill>
                <a:latin typeface="Red Hat Mono" pitchFamily="34" charset="0"/>
                <a:ea typeface="Red Hat Mono" pitchFamily="34" charset="-122"/>
                <a:cs typeface="Red Hat Mono" pitchFamily="34" charset="-120"/>
              </a:rPr>
              <a:t>Demo script: demos/demo-order.sh</a:t>
            </a:r>
            <a:endParaRPr lang="en-US" sz="800" dirty="0"/>
          </a:p>
        </p:txBody>
      </p:sp>
      <p:sp>
        <p:nvSpPr>
          <p:cNvPr id="8"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9"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CAPABILITY TOUR</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Panache: active record or repository</a:t>
            </a:r>
            <a:endParaRPr lang="en-US" sz="3000" dirty="0"/>
          </a:p>
        </p:txBody>
      </p:sp>
      <p:pic>
        <p:nvPicPr>
          <p:cNvPr id="4" name="Image 0" descr="dpng/11-panache-patterns.png">    </p:cNvPr>
          <p:cNvPicPr>
            <a:picLocks noChangeAspect="1"/>
          </p:cNvPicPr>
          <p:nvPr/>
        </p:nvPicPr>
        <p:blipFill>
          <a:blip r:embed="rId1"/>
          <a:stretch>
            <a:fillRect/>
          </a:stretch>
        </p:blipFill>
        <p:spPr>
          <a:xfrm>
            <a:off x="822184" y="1645920"/>
            <a:ext cx="10547327"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Same Hibernate ORM and SQL under both patterns; they differ in layering and in how much code they need.</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CAPABILITY TOUR</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Panache active record in order-service</a:t>
            </a:r>
            <a:endParaRPr lang="en-US" sz="3000" dirty="0"/>
          </a:p>
        </p:txBody>
      </p:sp>
      <p:sp>
        <p:nvSpPr>
          <p:cNvPr id="4" name="Shape 2"/>
          <p:cNvSpPr/>
          <p:nvPr/>
        </p:nvSpPr>
        <p:spPr>
          <a:xfrm>
            <a:off x="640080" y="1691640"/>
            <a:ext cx="10911535" cy="3749040"/>
          </a:xfrm>
          <a:prstGeom prst="roundRect">
            <a:avLst>
              <a:gd name="adj" fmla="val 2927"/>
            </a:avLst>
          </a:prstGeom>
          <a:solidFill>
            <a:srgbClr val="1A1A1A"/>
          </a:solidFill>
          <a:ln/>
          <a:effectLst>
            <a:outerShdw sx="100000" sy="100000" kx="0" ky="0" algn="bl" rotWithShape="0" blurRad="101600" dist="38100" dir="5400000">
              <a:srgbClr val="000000">
                <a:alpha val="16000"/>
              </a:srgbClr>
            </a:outerShdw>
          </a:effectLst>
        </p:spPr>
      </p:sp>
      <p:sp>
        <p:nvSpPr>
          <p:cNvPr id="5" name="Text 3"/>
          <p:cNvSpPr/>
          <p:nvPr/>
        </p:nvSpPr>
        <p:spPr>
          <a:xfrm>
            <a:off x="8625535" y="1819656"/>
            <a:ext cx="2743200" cy="256032"/>
          </a:xfrm>
          <a:prstGeom prst="rect">
            <a:avLst/>
          </a:prstGeom>
          <a:noFill/>
          <a:ln/>
        </p:spPr>
        <p:txBody>
          <a:bodyPr wrap="square" lIns="0" tIns="0" rIns="0" bIns="0" rtlCol="0" anchor="ctr"/>
          <a:lstStyle/>
          <a:p>
            <a:pPr algn="r" indent="0" marL="0">
              <a:buNone/>
            </a:pPr>
            <a:r>
              <a:rPr lang="en-US" sz="1100" dirty="0">
                <a:solidFill>
                  <a:srgbClr val="8A8A8A"/>
                </a:solidFill>
                <a:latin typeface="Red Hat Mono" pitchFamily="34" charset="0"/>
                <a:ea typeface="Red Hat Mono" pitchFamily="34" charset="-122"/>
                <a:cs typeface="Red Hat Mono" pitchFamily="34" charset="-120"/>
              </a:rPr>
              <a:t>Java · Hibernate ORM Panache</a:t>
            </a:r>
            <a:endParaRPr lang="en-US" sz="1100" dirty="0"/>
          </a:p>
        </p:txBody>
      </p:sp>
      <p:sp>
        <p:nvSpPr>
          <p:cNvPr id="6" name="Text 4"/>
          <p:cNvSpPr/>
          <p:nvPr/>
        </p:nvSpPr>
        <p:spPr>
          <a:xfrm>
            <a:off x="960120" y="2075688"/>
            <a:ext cx="10271455" cy="3136392"/>
          </a:xfrm>
          <a:prstGeom prst="rect">
            <a:avLst/>
          </a:prstGeom>
          <a:noFill/>
          <a:ln/>
        </p:spPr>
        <p:txBody>
          <a:bodyPr wrap="square" lIns="0" tIns="0" rIns="0" bIns="0" rtlCol="0" anchor="t"/>
          <a:lstStyle/>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@Entity</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@Table(name = "orders")</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public class Order extends PanacheEntityBase {</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@Id</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@Column(length = 36, nullable = false, updatable = false)</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public String id;</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@Column(name = "customer_id", nullable = false)</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public String customerId;</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 itemSku, quantity, amount, status, createdAt ...</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public static Order create(String customerId, String itemSku,</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int quantity, BigDecimal amount) {</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Order order = new Order();</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order.id = UUID.randomUUID().toString();</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return order;</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OrderResource: no repository bean in between:</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Order order = Order.findById(id);</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order.persist();</a:t>
            </a:r>
            <a:endParaRPr lang="en-US" sz="800" dirty="0"/>
          </a:p>
        </p:txBody>
      </p:sp>
      <p:sp>
        <p:nvSpPr>
          <p:cNvPr id="7" name="Text 5"/>
          <p:cNvSpPr/>
          <p:nvPr/>
        </p:nvSpPr>
        <p:spPr>
          <a:xfrm>
            <a:off x="640080" y="5605272"/>
            <a:ext cx="10911535" cy="731520"/>
          </a:xfrm>
          <a:prstGeom prst="rect">
            <a:avLst/>
          </a:prstGeom>
          <a:noFill/>
          <a:ln/>
        </p:spPr>
        <p:txBody>
          <a:bodyPr wrap="square" lIns="0" tIns="0" rIns="0" bIns="0" rtlCol="0" anchor="t"/>
          <a:lstStyle/>
          <a:p>
            <a:pPr indent="0" marL="0">
              <a:buNone/>
            </a:pPr>
            <a:r>
              <a:rPr lang="en-US" sz="1300" i="1" dirty="0">
                <a:solidFill>
                  <a:srgbClr val="5A5A5A"/>
                </a:solidFill>
                <a:latin typeface="Red Hat Text" pitchFamily="34" charset="0"/>
                <a:ea typeface="Red Hat Text" pitchFamily="34" charset="-122"/>
                <a:cs typeface="Red Hat Text" pitchFamily="34" charset="-120"/>
              </a:rPr>
              <a:t>Order.findById(id) and order.persist() are the whole data-access layer; OrderResource calls Order directly.</a:t>
            </a:r>
            <a:endParaRPr lang="en-US" sz="1300" dirty="0"/>
          </a:p>
        </p:txBody>
      </p:sp>
      <p:sp>
        <p:nvSpPr>
          <p:cNvPr id="8" name="Text 6"/>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9"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CAPABILITY TOUR</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gRPC typed contracts</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Generated at build time</a:t>
            </a:r>
            <a:endParaRPr lang="en-US" sz="1700" dirty="0"/>
          </a:p>
        </p:txBody>
      </p:sp>
      <p:pic>
        <p:nvPicPr>
          <p:cNvPr id="5" name="Image 0" descr="dpng/05-api-implementations.png">    </p:cNvPr>
          <p:cNvPicPr>
            <a:picLocks noChangeAspect="1"/>
          </p:cNvPicPr>
          <p:nvPr/>
        </p:nvPicPr>
        <p:blipFill>
          <a:blip r:embed="rId1"/>
          <a:stretch>
            <a:fillRect/>
          </a:stretch>
        </p:blipFill>
        <p:spPr>
          <a:xfrm>
            <a:off x="2194985" y="1874520"/>
            <a:ext cx="7801724" cy="3703320"/>
          </a:xfrm>
          <a:prstGeom prst="rect">
            <a:avLst/>
          </a:prstGeom>
        </p:spPr>
      </p:pic>
      <p:sp>
        <p:nvSpPr>
          <p:cNvPr id="6" name="Text 3"/>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REST at the edge, gRPC between services, GraphQL to compose, events to decouple: each protocol's Quarkus extension and contract type.</a:t>
            </a:r>
            <a:endParaRPr lang="en-US" sz="1250" dirty="0"/>
          </a:p>
        </p:txBody>
      </p:sp>
      <p:sp>
        <p:nvSpPr>
          <p:cNvPr id="7" name="Text 4"/>
          <p:cNvSpPr/>
          <p:nvPr/>
        </p:nvSpPr>
        <p:spPr>
          <a:xfrm>
            <a:off x="1463040" y="6428232"/>
            <a:ext cx="6858000" cy="228600"/>
          </a:xfrm>
          <a:prstGeom prst="rect">
            <a:avLst/>
          </a:prstGeom>
          <a:noFill/>
          <a:ln/>
        </p:spPr>
        <p:txBody>
          <a:bodyPr wrap="square" lIns="0" tIns="0" rIns="0" bIns="0" rtlCol="0" anchor="ctr"/>
          <a:lstStyle/>
          <a:p>
            <a:pPr algn="l" indent="0" marL="0">
              <a:buNone/>
            </a:pPr>
            <a:r>
              <a:rPr lang="en-US" sz="800" dirty="0">
                <a:solidFill>
                  <a:srgbClr val="8A8A8A"/>
                </a:solidFill>
                <a:latin typeface="Red Hat Mono" pitchFamily="34" charset="0"/>
                <a:ea typeface="Red Hat Mono" pitchFamily="34" charset="-122"/>
                <a:cs typeface="Red Hat Mono" pitchFamily="34" charset="-120"/>
              </a:rPr>
              <a:t>Demo script: demos/demo-grpc.sh</a:t>
            </a:r>
            <a:endParaRPr lang="en-US" sz="800" dirty="0"/>
          </a:p>
        </p:txBody>
      </p:sp>
      <p:sp>
        <p:nvSpPr>
          <p:cNvPr id="8"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9"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CAPABILITY TOUR</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GraphQL: one query, two protocols</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REST and gRPC resolved behind one endpoint</a:t>
            </a:r>
            <a:endParaRPr lang="en-US" sz="1700" dirty="0"/>
          </a:p>
        </p:txBody>
      </p:sp>
      <p:sp>
        <p:nvSpPr>
          <p:cNvPr id="5" name="Text 3"/>
          <p:cNvSpPr/>
          <p:nvPr/>
        </p:nvSpPr>
        <p:spPr>
          <a:xfrm>
            <a:off x="640080" y="1965960"/>
            <a:ext cx="10911535" cy="4114800"/>
          </a:xfrm>
          <a:prstGeom prst="rect">
            <a:avLst/>
          </a:prstGeom>
          <a:noFill/>
          <a:ln/>
        </p:spPr>
        <p:txBody>
          <a:bodyPr wrap="square" lIns="0" tIns="0" rIns="0" bIns="0" rtlCol="0" anchor="t"/>
          <a:lstStyle/>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graphql-gateway's</a:t>
            </a:r>
            <a:r>
              <a:rPr lang="en-US" sz="1600" dirty="0">
                <a:solidFill>
                  <a:srgbClr val="242424"/>
                </a:solidFill>
                <a:latin typeface="Red Hat Text" pitchFamily="34" charset="0"/>
                <a:ea typeface="Red Hat Text" pitchFamily="34" charset="-122"/>
                <a:cs typeface="Red Hat Text" pitchFamily="34" charset="-120"/>
              </a:rPr>
              <a:t> GatewayApi serves one /graphql endpoint: order(id) resolves over REST from order-service; the nested stock field resolves over gRPC from inventory-service.</a:t>
            </a:r>
            <a:endParaRPr lang="en-US" sz="1600" dirty="0"/>
          </a:p>
          <a:p>
            <a:pPr lvl="1" marL="457200" indent="-228600">
              <a:spcAft>
                <a:spcPts val="800"/>
              </a:spcAft>
              <a:buSzPct val="100000"/>
              <a:buChar char="•"/>
            </a:pPr>
            <a:r>
              <a:rPr lang="en-US" sz="1500" dirty="0">
                <a:solidFill>
                  <a:srgbClr val="5A5A5A"/>
                </a:solidFill>
                <a:latin typeface="Red Hat Text" pitchFamily="34" charset="0"/>
                <a:ea typeface="Red Hat Text" pitchFamily="34" charset="-122"/>
                <a:cs typeface="Red Hat Text" pitchFamily="34" charset="-120"/>
              </a:rPr>
              <a:t>MicroProfile GraphQL's @Source marks stock as a field resolver. It runs only when a query selects that field, so order(id) { customerId } never triggers the gRPC call.</a:t>
            </a:r>
            <a:endParaRPr lang="en-US" sz="1600" dirty="0"/>
          </a:p>
          <a:p>
            <a:pPr lvl="1" marL="457200" indent="-228600">
              <a:spcAft>
                <a:spcPts val="800"/>
              </a:spcAft>
              <a:buSzPct val="100000"/>
              <a:buChar char="•"/>
            </a:pPr>
            <a:r>
              <a:rPr lang="en-US" sz="1500" dirty="0">
                <a:solidFill>
                  <a:srgbClr val="5A5A5A"/>
                </a:solidFill>
                <a:latin typeface="Red Hat Text" pitchFamily="34" charset="0"/>
                <a:ea typeface="Red Hat Text" pitchFamily="34" charset="-122"/>
                <a:cs typeface="Red Hat Text" pitchFamily="34" charset="-120"/>
              </a:rPr>
              <a:t>One request, two backend protocols, one response shape. The choice is made per query, not per endpoint.</a:t>
            </a:r>
            <a:endParaRPr lang="en-US" sz="1600" dirty="0"/>
          </a:p>
        </p:txBody>
      </p:sp>
      <p:sp>
        <p:nvSpPr>
          <p:cNvPr id="6" name="Text 4"/>
          <p:cNvSpPr/>
          <p:nvPr/>
        </p:nvSpPr>
        <p:spPr>
          <a:xfrm>
            <a:off x="1463040" y="6428232"/>
            <a:ext cx="6858000" cy="228600"/>
          </a:xfrm>
          <a:prstGeom prst="rect">
            <a:avLst/>
          </a:prstGeom>
          <a:noFill/>
          <a:ln/>
        </p:spPr>
        <p:txBody>
          <a:bodyPr wrap="square" lIns="0" tIns="0" rIns="0" bIns="0" rtlCol="0" anchor="ctr"/>
          <a:lstStyle/>
          <a:p>
            <a:pPr algn="l" indent="0" marL="0">
              <a:buNone/>
            </a:pPr>
            <a:r>
              <a:rPr lang="en-US" sz="800" dirty="0">
                <a:solidFill>
                  <a:srgbClr val="8A8A8A"/>
                </a:solidFill>
                <a:latin typeface="Red Hat Mono" pitchFamily="34" charset="0"/>
                <a:ea typeface="Red Hat Mono" pitchFamily="34" charset="-122"/>
                <a:cs typeface="Red Hat Mono" pitchFamily="34" charset="-120"/>
              </a:rPr>
              <a:t>Demo script: demos/demo-graphql.sh</a:t>
            </a:r>
            <a:endParaRPr lang="en-US" sz="800" dirty="0"/>
          </a:p>
        </p:txBody>
      </p:sp>
      <p:sp>
        <p:nvSpPr>
          <p:cNvPr id="7"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8"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CAPABILITY TOUR</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Uni and imperative handlers</a:t>
            </a:r>
            <a:endParaRPr lang="en-US" sz="3000" dirty="0"/>
          </a:p>
        </p:txBody>
      </p:sp>
      <p:pic>
        <p:nvPicPr>
          <p:cNvPr id="4" name="Image 0" descr="dpng/11-uni-vs-imperative.png">    </p:cNvPr>
          <p:cNvPicPr>
            <a:picLocks noChangeAspect="1"/>
          </p:cNvPicPr>
          <p:nvPr/>
        </p:nvPicPr>
        <p:blipFill>
          <a:blip r:embed="rId1"/>
          <a:stretch>
            <a:fillRect/>
          </a:stretch>
        </p:blipFill>
        <p:spPr>
          <a:xfrm>
            <a:off x="1161378" y="1645920"/>
            <a:ext cx="9868939"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The method signature and @Blocking or @NonBlocking choose the thread; the same JVM runs both.</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CAPABILITY TOUR</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Reactive and imperative on one reactor</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Two execution models in the same JVM</a:t>
            </a:r>
            <a:endParaRPr lang="en-US" sz="1700" dirty="0"/>
          </a:p>
        </p:txBody>
      </p:sp>
      <p:sp>
        <p:nvSpPr>
          <p:cNvPr id="5" name="Text 3"/>
          <p:cNvSpPr/>
          <p:nvPr/>
        </p:nvSpPr>
        <p:spPr>
          <a:xfrm>
            <a:off x="640080" y="1965960"/>
            <a:ext cx="10911535" cy="4114800"/>
          </a:xfrm>
          <a:prstGeom prst="rect">
            <a:avLst/>
          </a:prstGeom>
          <a:noFill/>
          <a:ln/>
        </p:spPr>
        <p:txBody>
          <a:bodyPr wrap="square" lIns="0" tIns="0" rIns="0" bIns="0" rtlCol="0" anchor="t"/>
          <a:lstStyle/>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inventory-service</a:t>
            </a:r>
            <a:r>
              <a:rPr lang="en-US" sz="1600" dirty="0">
                <a:solidFill>
                  <a:srgbClr val="242424"/>
                </a:solidFill>
                <a:latin typeface="Red Hat Text" pitchFamily="34" charset="0"/>
                <a:ea typeface="Red Hat Text" pitchFamily="34" charset="-122"/>
                <a:cs typeface="Red Hat Text" pitchFamily="34" charset="-120"/>
              </a:rPr>
              <a:t> answers the same stock table through two execution models at once, on one Vert.x reactor in one JVM.</a:t>
            </a:r>
            <a:endParaRPr lang="en-US" sz="1600" dirty="0"/>
          </a:p>
          <a:p>
            <a:pPr lvl="1" marL="457200" indent="-228600">
              <a:spcAft>
                <a:spcPts val="800"/>
              </a:spcAft>
              <a:buSzPct val="100000"/>
              <a:buChar char="•"/>
            </a:pPr>
            <a:r>
              <a:rPr lang="en-US" sz="1500" dirty="0">
                <a:solidFill>
                  <a:srgbClr val="5A5A5A"/>
                </a:solidFill>
                <a:latin typeface="Red Hat Text" pitchFamily="34" charset="0"/>
                <a:ea typeface="Red Hat Text" pitchFamily="34" charset="-122"/>
                <a:cs typeface="Red Hat Text" pitchFamily="34" charset="-120"/>
              </a:rPr>
              <a:t>Reactive: the gRPC CheckStock handler returns Uni&lt;CheckStockResponse&gt;, with its blocking Panache lookup offloaded by @Blocking.</a:t>
            </a:r>
            <a:endParaRPr lang="en-US" sz="1600" dirty="0"/>
          </a:p>
          <a:p>
            <a:pPr lvl="1" marL="457200" indent="-228600">
              <a:spcAft>
                <a:spcPts val="800"/>
              </a:spcAft>
              <a:buSzPct val="100000"/>
              <a:buChar char="•"/>
            </a:pPr>
            <a:r>
              <a:rPr lang="en-US" sz="1500" dirty="0">
                <a:solidFill>
                  <a:srgbClr val="5A5A5A"/>
                </a:solidFill>
                <a:latin typeface="Red Hat Text" pitchFamily="34" charset="0"/>
                <a:ea typeface="Red Hat Text" pitchFamily="34" charset="-122"/>
                <a:cs typeface="Red Hat Text" pitchFamily="34" charset="-120"/>
              </a:rPr>
              <a:t>Imperative: StockResource is a thread-per-request JAX-RS method with no Uni.</a:t>
            </a:r>
            <a:endParaRPr lang="en-US" sz="1600" dirty="0"/>
          </a:p>
          <a:p>
            <a:pPr lvl="1" marL="457200" indent="-228600">
              <a:spcAft>
                <a:spcPts val="8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The two compute different things: gRPC available depends on the requested quantity; REST available is a static snapshot (quantityOnHand &gt; 0).</a:t>
            </a:r>
            <a:endParaRPr lang="en-US" sz="1600" dirty="0"/>
          </a:p>
        </p:txBody>
      </p:sp>
      <p:sp>
        <p:nvSpPr>
          <p:cNvPr id="6" name="Text 4"/>
          <p:cNvSpPr/>
          <p:nvPr/>
        </p:nvSpPr>
        <p:spPr>
          <a:xfrm>
            <a:off x="1463040" y="6428232"/>
            <a:ext cx="6858000" cy="228600"/>
          </a:xfrm>
          <a:prstGeom prst="rect">
            <a:avLst/>
          </a:prstGeom>
          <a:noFill/>
          <a:ln/>
        </p:spPr>
        <p:txBody>
          <a:bodyPr wrap="square" lIns="0" tIns="0" rIns="0" bIns="0" rtlCol="0" anchor="ctr"/>
          <a:lstStyle/>
          <a:p>
            <a:pPr algn="l" indent="0" marL="0">
              <a:buNone/>
            </a:pPr>
            <a:r>
              <a:rPr lang="en-US" sz="800" dirty="0">
                <a:solidFill>
                  <a:srgbClr val="8A8A8A"/>
                </a:solidFill>
                <a:latin typeface="Red Hat Mono" pitchFamily="34" charset="0"/>
                <a:ea typeface="Red Hat Mono" pitchFamily="34" charset="-122"/>
                <a:cs typeface="Red Hat Mono" pitchFamily="34" charset="-120"/>
              </a:rPr>
              <a:t>Demo script: demos/demo-reactive-vertx.sh</a:t>
            </a:r>
            <a:endParaRPr lang="en-US" sz="800" dirty="0"/>
          </a:p>
        </p:txBody>
      </p:sp>
      <p:sp>
        <p:nvSpPr>
          <p:cNvPr id="7"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8"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CAPABILITY TOUR</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WebSockets.Next vs. Jakarta WebSockets</a:t>
            </a:r>
            <a:endParaRPr lang="en-US" sz="3000" dirty="0"/>
          </a:p>
        </p:txBody>
      </p:sp>
      <p:pic>
        <p:nvPicPr>
          <p:cNvPr id="4" name="Image 0" descr="dpng/11-websockets-next.png">    </p:cNvPr>
          <p:cNvPicPr>
            <a:picLocks noChangeAspect="1"/>
          </p:cNvPicPr>
          <p:nvPr/>
        </p:nvPicPr>
        <p:blipFill>
          <a:blip r:embed="rId1"/>
          <a:stretch>
            <a:fillRect/>
          </a:stretch>
        </p:blipFill>
        <p:spPr>
          <a:xfrm>
            <a:off x="1456239" y="1645920"/>
            <a:ext cx="9279218"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Annotated endpoints with an injectable OpenConnections, on Vert.x, against the callback-style Jakarta WebSocket extension.</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CAPABILITY TOUR</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WebSocket push from Kafka</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Clients receive only committed events</a:t>
            </a:r>
            <a:endParaRPr lang="en-US" sz="1700" dirty="0"/>
          </a:p>
        </p:txBody>
      </p:sp>
      <p:sp>
        <p:nvSpPr>
          <p:cNvPr id="5" name="Text 3"/>
          <p:cNvSpPr/>
          <p:nvPr/>
        </p:nvSpPr>
        <p:spPr>
          <a:xfrm>
            <a:off x="640080" y="1965960"/>
            <a:ext cx="10911535" cy="4114800"/>
          </a:xfrm>
          <a:prstGeom prst="rect">
            <a:avLst/>
          </a:prstGeom>
          <a:noFill/>
          <a:ln/>
        </p:spPr>
        <p:txBody>
          <a:bodyPr wrap="square" lIns="0" tIns="0" rIns="0" bIns="0" rtlCol="0" anchor="t"/>
          <a:lstStyle/>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notification-service's</a:t>
            </a:r>
            <a:r>
              <a:rPr lang="en-US" sz="1600" dirty="0">
                <a:solidFill>
                  <a:srgbClr val="242424"/>
                </a:solidFill>
                <a:latin typeface="Red Hat Text" pitchFamily="34" charset="0"/>
                <a:ea typeface="Red Hat Text" pitchFamily="34" charset="-122"/>
                <a:cs typeface="Red Hat Text" pitchFamily="34" charset="-120"/>
              </a:rPr>
              <a:t> /ws/notifications endpoint (WebSockets.Next) is thin: it only acknowledges a connection.</a:t>
            </a:r>
            <a:endParaRPr lang="en-US" sz="1600" dirty="0"/>
          </a:p>
          <a:p>
            <a:pPr lvl="1" marL="457200" indent="-228600">
              <a:spcAft>
                <a:spcPts val="8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The push comes from the Reactive Messaging consumer for order.placed, right after it persists a Notification row.</a:t>
            </a:r>
            <a:endParaRPr lang="en-US" sz="1600" dirty="0"/>
          </a:p>
          <a:p>
            <a:pPr lvl="1" marL="457200" indent="-228600">
              <a:spcAft>
                <a:spcPts val="8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The push happens after the transaction commits, so a client never sees an event that might still roll back.</a:t>
            </a:r>
            <a:endParaRPr lang="en-US" sz="1600" dirty="0"/>
          </a:p>
        </p:txBody>
      </p:sp>
      <p:sp>
        <p:nvSpPr>
          <p:cNvPr id="6" name="Text 4"/>
          <p:cNvSpPr/>
          <p:nvPr/>
        </p:nvSpPr>
        <p:spPr>
          <a:xfrm>
            <a:off x="1463040" y="6428232"/>
            <a:ext cx="6858000" cy="228600"/>
          </a:xfrm>
          <a:prstGeom prst="rect">
            <a:avLst/>
          </a:prstGeom>
          <a:noFill/>
          <a:ln/>
        </p:spPr>
        <p:txBody>
          <a:bodyPr wrap="square" lIns="0" tIns="0" rIns="0" bIns="0" rtlCol="0" anchor="ctr"/>
          <a:lstStyle/>
          <a:p>
            <a:pPr algn="l" indent="0" marL="0">
              <a:buNone/>
            </a:pPr>
            <a:r>
              <a:rPr lang="en-US" sz="800" dirty="0">
                <a:solidFill>
                  <a:srgbClr val="8A8A8A"/>
                </a:solidFill>
                <a:latin typeface="Red Hat Mono" pitchFamily="34" charset="0"/>
                <a:ea typeface="Red Hat Mono" pitchFamily="34" charset="-122"/>
                <a:cs typeface="Red Hat Mono" pitchFamily="34" charset="-120"/>
              </a:rPr>
              <a:t>Demo script: demos/demo-websocket.sh</a:t>
            </a:r>
            <a:endParaRPr lang="en-US" sz="800" dirty="0"/>
          </a:p>
        </p:txBody>
      </p:sp>
      <p:sp>
        <p:nvSpPr>
          <p:cNvPr id="7"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8"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CAPABILITY TOUR</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JBang as environment tooling</a:t>
            </a:r>
            <a:endParaRPr lang="en-US" sz="3000" dirty="0"/>
          </a:p>
        </p:txBody>
      </p:sp>
      <p:pic>
        <p:nvPicPr>
          <p:cNvPr id="4" name="Image 0" descr="dpng/11-jbang-tooling.png">    </p:cNvPr>
          <p:cNvPicPr>
            <a:picLocks noChangeAspect="1"/>
          </p:cNvPicPr>
          <p:nvPr/>
        </p:nvPicPr>
        <p:blipFill>
          <a:blip r:embed="rId1"/>
          <a:stretch>
            <a:fillRect/>
          </a:stretch>
        </p:blipFill>
        <p:spPr>
          <a:xfrm>
            <a:off x="731520" y="1793769"/>
            <a:ext cx="10728655" cy="3636222"/>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One .java file with //DEPS and //JAVA directives; JBang resolves dependencies, finds or downloads a JDK, and caches the build.</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CAPABILITY TOUR</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Prototyping with JBang</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A Camel route without a Maven module</a:t>
            </a:r>
            <a:endParaRPr lang="en-US" sz="1700" dirty="0"/>
          </a:p>
        </p:txBody>
      </p:sp>
      <p:sp>
        <p:nvSpPr>
          <p:cNvPr id="5" name="Text 3"/>
          <p:cNvSpPr/>
          <p:nvPr/>
        </p:nvSpPr>
        <p:spPr>
          <a:xfrm>
            <a:off x="640080" y="1965960"/>
            <a:ext cx="10911535" cy="4114800"/>
          </a:xfrm>
          <a:prstGeom prst="rect">
            <a:avLst/>
          </a:prstGeom>
          <a:noFill/>
          <a:ln/>
        </p:spPr>
        <p:txBody>
          <a:bodyPr wrap="square" lIns="0" tIns="0" rIns="0" bIns="0" rtlCol="0" anchor="t"/>
          <a:lstStyle/>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demos/jbang/HelloRoute.java</a:t>
            </a:r>
            <a:r>
              <a:rPr lang="en-US" sz="1600" dirty="0">
                <a:solidFill>
                  <a:srgbClr val="242424"/>
                </a:solidFill>
                <a:latin typeface="Red Hat Text" pitchFamily="34" charset="0"/>
                <a:ea typeface="Red Hat Text" pitchFamily="34" charset="-122"/>
                <a:cs typeface="Red Hat Text" pitchFamily="34" charset="-120"/>
              </a:rPr>
              <a:t> is a complete Camel route with no pom.xml and no Maven module.</a:t>
            </a:r>
            <a:endParaRPr lang="en-US" sz="1600" dirty="0"/>
          </a:p>
          <a:p>
            <a:pPr lvl="1" marL="457200" indent="-228600">
              <a:spcAft>
                <a:spcPts val="8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jbang demos/jbang/HelloRoute.java</a:t>
            </a:r>
            <a:r>
              <a:rPr lang="en-US" sz="1500" dirty="0">
                <a:solidFill>
                  <a:srgbClr val="5A5A5A"/>
                </a:solidFill>
                <a:latin typeface="Red Hat Text" pitchFamily="34" charset="0"/>
                <a:ea typeface="Red Hat Text" pitchFamily="34" charset="-122"/>
                <a:cs typeface="Red Hat Text" pitchFamily="34" charset="-120"/>
              </a:rPr>
              <a:t> resolves pinned Camel 4.22.1 dependencies from Maven Central and runs the route directly.</a:t>
            </a:r>
            <a:endParaRPr lang="en-US" sz="1600" dirty="0"/>
          </a:p>
          <a:p>
            <a:pPr lvl="1" marL="457200" indent="-228600">
              <a:spcAft>
                <a:spcPts val="800"/>
              </a:spcAft>
              <a:buSzPct val="100000"/>
              <a:buChar char="•"/>
            </a:pPr>
            <a:r>
              <a:rPr lang="en-US" sz="1500" dirty="0">
                <a:solidFill>
                  <a:srgbClr val="5A5A5A"/>
                </a:solidFill>
                <a:latin typeface="Red Hat Text" pitchFamily="34" charset="0"/>
                <a:ea typeface="Red Hat Text" pitchFamily="34" charset="-122"/>
                <a:cs typeface="Red Hat Text" pitchFamily="34" charset="-120"/>
              </a:rPr>
              <a:t>Use it to try a route shape, an EIP combination, or a component configuration before committing to a module.</a:t>
            </a:r>
            <a:endParaRPr lang="en-US" sz="1600" dirty="0"/>
          </a:p>
        </p:txBody>
      </p:sp>
      <p:sp>
        <p:nvSpPr>
          <p:cNvPr id="6" name="Text 4"/>
          <p:cNvSpPr/>
          <p:nvPr/>
        </p:nvSpPr>
        <p:spPr>
          <a:xfrm>
            <a:off x="1463040" y="6428232"/>
            <a:ext cx="6858000" cy="228600"/>
          </a:xfrm>
          <a:prstGeom prst="rect">
            <a:avLst/>
          </a:prstGeom>
          <a:noFill/>
          <a:ln/>
        </p:spPr>
        <p:txBody>
          <a:bodyPr wrap="square" lIns="0" tIns="0" rIns="0" bIns="0" rtlCol="0" anchor="ctr"/>
          <a:lstStyle/>
          <a:p>
            <a:pPr algn="l" indent="0" marL="0">
              <a:buNone/>
            </a:pPr>
            <a:r>
              <a:rPr lang="en-US" sz="800" dirty="0">
                <a:solidFill>
                  <a:srgbClr val="8A8A8A"/>
                </a:solidFill>
                <a:latin typeface="Red Hat Mono" pitchFamily="34" charset="0"/>
                <a:ea typeface="Red Hat Mono" pitchFamily="34" charset="-122"/>
                <a:cs typeface="Red Hat Mono" pitchFamily="34" charset="-120"/>
              </a:rPr>
              <a:t>Demo script: demos/demo-jbang-prototype.sh</a:t>
            </a:r>
            <a:endParaRPr lang="en-US" sz="800" dirty="0"/>
          </a:p>
        </p:txBody>
      </p:sp>
      <p:sp>
        <p:nvSpPr>
          <p:cNvPr id="7"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8"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CAPABILITY TOUR</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Continuous testing</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Tests rerun on every save, against Dev Services</a:t>
            </a:r>
            <a:endParaRPr lang="en-US" sz="1700" dirty="0"/>
          </a:p>
        </p:txBody>
      </p:sp>
      <p:sp>
        <p:nvSpPr>
          <p:cNvPr id="5" name="Text 3"/>
          <p:cNvSpPr/>
          <p:nvPr/>
        </p:nvSpPr>
        <p:spPr>
          <a:xfrm>
            <a:off x="640080" y="1965960"/>
            <a:ext cx="10911535" cy="4114800"/>
          </a:xfrm>
          <a:prstGeom prst="rect">
            <a:avLst/>
          </a:prstGeom>
          <a:noFill/>
          <a:ln/>
        </p:spPr>
        <p:txBody>
          <a:bodyPr wrap="square" lIns="0" tIns="0" rIns="0" bIns="0" rtlCol="0" anchor="t"/>
          <a:lstStyle/>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mvn quarkus:dev</a:t>
            </a:r>
            <a:r>
              <a:rPr lang="en-US" sz="1600" dirty="0">
                <a:solidFill>
                  <a:srgbClr val="242424"/>
                </a:solidFill>
                <a:latin typeface="Red Hat Text" pitchFamily="34" charset="0"/>
                <a:ea typeface="Red Hat Text" pitchFamily="34" charset="-122"/>
                <a:cs typeface="Red Hat Text" pitchFamily="34" charset="-120"/>
              </a:rPr>
              <a:t> with quarkus.test.continuous-testing=enabled reruns a module's tests on every save.</a:t>
            </a:r>
            <a:endParaRPr lang="en-US" sz="1600" dirty="0"/>
          </a:p>
          <a:p>
            <a:pPr lvl="1" marL="457200" indent="-228600">
              <a:spcAft>
                <a:spcPts val="8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Dev Services</a:t>
            </a:r>
            <a:r>
              <a:rPr lang="en-US" sz="1500" dirty="0">
                <a:solidFill>
                  <a:srgbClr val="5A5A5A"/>
                </a:solidFill>
                <a:latin typeface="Red Hat Text" pitchFamily="34" charset="0"/>
                <a:ea typeface="Red Hat Text" pitchFamily="34" charset="-122"/>
                <a:cs typeface="Red Hat Text" pitchFamily="34" charset="-120"/>
              </a:rPr>
              <a:t> starts the Testcontainers those tests need (Postgres, Kafka, Apicurio) with no docker compose and no .env.</a:t>
            </a:r>
            <a:endParaRPr lang="en-US" sz="1600" dirty="0"/>
          </a:p>
          <a:p>
            <a:pPr lvl="1" marL="457200" indent="-228600">
              <a:spcAft>
                <a:spcPts val="8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The demo parses the Quarkus continuous-testing pass banner in order-service's dev log and asserts passing == run. A missing banner fails the demo.</a:t>
            </a:r>
            <a:endParaRPr lang="en-US" sz="1600" dirty="0"/>
          </a:p>
        </p:txBody>
      </p:sp>
      <p:sp>
        <p:nvSpPr>
          <p:cNvPr id="6" name="Text 4"/>
          <p:cNvSpPr/>
          <p:nvPr/>
        </p:nvSpPr>
        <p:spPr>
          <a:xfrm>
            <a:off x="1463040" y="6428232"/>
            <a:ext cx="6858000" cy="228600"/>
          </a:xfrm>
          <a:prstGeom prst="rect">
            <a:avLst/>
          </a:prstGeom>
          <a:noFill/>
          <a:ln/>
        </p:spPr>
        <p:txBody>
          <a:bodyPr wrap="square" lIns="0" tIns="0" rIns="0" bIns="0" rtlCol="0" anchor="ctr"/>
          <a:lstStyle/>
          <a:p>
            <a:pPr algn="l" indent="0" marL="0">
              <a:buNone/>
            </a:pPr>
            <a:r>
              <a:rPr lang="en-US" sz="800" dirty="0">
                <a:solidFill>
                  <a:srgbClr val="8A8A8A"/>
                </a:solidFill>
                <a:latin typeface="Red Hat Mono" pitchFamily="34" charset="0"/>
                <a:ea typeface="Red Hat Mono" pitchFamily="34" charset="-122"/>
                <a:cs typeface="Red Hat Mono" pitchFamily="34" charset="-120"/>
              </a:rPr>
              <a:t>Demo script: demos/demo-continuous-testing.sh</a:t>
            </a:r>
            <a:endParaRPr lang="en-US" sz="800" dirty="0"/>
          </a:p>
        </p:txBody>
      </p:sp>
      <p:sp>
        <p:nvSpPr>
          <p:cNvPr id="7"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8"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CAPABILITY TOUR</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Three ways to start a Java service</a:t>
            </a:r>
            <a:endParaRPr lang="en-US" sz="3000" dirty="0"/>
          </a:p>
        </p:txBody>
      </p:sp>
      <p:pic>
        <p:nvPicPr>
          <p:cNvPr id="4" name="Image 0" descr="dpng/11-startup-paths.png">    </p:cNvPr>
          <p:cNvPicPr>
            <a:picLocks noChangeAspect="1"/>
          </p:cNvPicPr>
          <p:nvPr/>
        </p:nvPicPr>
        <p:blipFill>
          <a:blip r:embed="rId1"/>
          <a:stretch>
            <a:fillRect/>
          </a:stretch>
        </p:blipFill>
        <p:spPr>
          <a:xfrm>
            <a:off x="1799570" y="1645920"/>
            <a:ext cx="859255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Plain JVM, JVM with the JDK 25 AOT cache, and native image: what each costs to build and what each gives at startup.</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CAPABILITY TOUR</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Panama: native calls without JNI</a:t>
            </a:r>
            <a:endParaRPr lang="en-US" sz="3000" dirty="0"/>
          </a:p>
        </p:txBody>
      </p:sp>
      <p:pic>
        <p:nvPicPr>
          <p:cNvPr id="4" name="Image 0" descr="dpng/11-panama-ffm.png">    </p:cNvPr>
          <p:cNvPicPr>
            <a:picLocks noChangeAspect="1"/>
          </p:cNvPicPr>
          <p:nvPr/>
        </p:nvPicPr>
        <p:blipFill>
          <a:blip r:embed="rId1"/>
          <a:stretch>
            <a:fillRect/>
          </a:stretch>
        </p:blipFill>
        <p:spPr>
          <a:xfrm>
            <a:off x="731520" y="1793769"/>
            <a:ext cx="10728655" cy="3636222"/>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Java resolves a libc symbol, builds a downcall handle from a FunctionDescriptor, and passes off-heap memory owned by an Arena.</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CAPABILITY TOUR</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Panama FFM in practice</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getpid() and strlen() from libc</a:t>
            </a:r>
            <a:endParaRPr lang="en-US" sz="1700" dirty="0"/>
          </a:p>
        </p:txBody>
      </p:sp>
      <p:sp>
        <p:nvSpPr>
          <p:cNvPr id="5" name="Shape 3"/>
          <p:cNvSpPr/>
          <p:nvPr/>
        </p:nvSpPr>
        <p:spPr>
          <a:xfrm>
            <a:off x="640080" y="1920240"/>
            <a:ext cx="10911535" cy="3520440"/>
          </a:xfrm>
          <a:prstGeom prst="roundRect">
            <a:avLst>
              <a:gd name="adj" fmla="val 3117"/>
            </a:avLst>
          </a:prstGeom>
          <a:solidFill>
            <a:srgbClr val="1A1A1A"/>
          </a:solidFill>
          <a:ln/>
          <a:effectLst>
            <a:outerShdw sx="100000" sy="100000" kx="0" ky="0" algn="bl" rotWithShape="0" blurRad="101600" dist="38100" dir="5400000">
              <a:srgbClr val="000000">
                <a:alpha val="16000"/>
              </a:srgbClr>
            </a:outerShdw>
          </a:effectLst>
        </p:spPr>
      </p:sp>
      <p:sp>
        <p:nvSpPr>
          <p:cNvPr id="6" name="Text 4"/>
          <p:cNvSpPr/>
          <p:nvPr/>
        </p:nvSpPr>
        <p:spPr>
          <a:xfrm>
            <a:off x="8625535" y="2048256"/>
            <a:ext cx="2743200" cy="256032"/>
          </a:xfrm>
          <a:prstGeom prst="rect">
            <a:avLst/>
          </a:prstGeom>
          <a:noFill/>
          <a:ln/>
        </p:spPr>
        <p:txBody>
          <a:bodyPr wrap="square" lIns="0" tIns="0" rIns="0" bIns="0" rtlCol="0" anchor="ctr"/>
          <a:lstStyle/>
          <a:p>
            <a:pPr algn="r" indent="0" marL="0">
              <a:buNone/>
            </a:pPr>
            <a:r>
              <a:rPr lang="en-US" sz="1100" dirty="0">
                <a:solidFill>
                  <a:srgbClr val="8A8A8A"/>
                </a:solidFill>
                <a:latin typeface="Red Hat Mono" pitchFamily="34" charset="0"/>
                <a:ea typeface="Red Hat Mono" pitchFamily="34" charset="-122"/>
                <a:cs typeface="Red Hat Mono" pitchFamily="34" charset="-120"/>
              </a:rPr>
              <a:t>Java · demos/jbang/PanamaFfm.java</a:t>
            </a:r>
            <a:endParaRPr lang="en-US" sz="1100" dirty="0"/>
          </a:p>
        </p:txBody>
      </p:sp>
      <p:sp>
        <p:nvSpPr>
          <p:cNvPr id="7" name="Text 5"/>
          <p:cNvSpPr/>
          <p:nvPr/>
        </p:nvSpPr>
        <p:spPr>
          <a:xfrm>
            <a:off x="960120" y="2304288"/>
            <a:ext cx="10271455" cy="2907792"/>
          </a:xfrm>
          <a:prstGeom prst="rect">
            <a:avLst/>
          </a:prstGeom>
          <a:noFill/>
          <a:ln/>
        </p:spPr>
        <p:txBody>
          <a:bodyPr wrap="square" lIns="0" tIns="0" rIns="0" bIns="0" rtlCol="0" anchor="t"/>
          <a:lstStyle/>
          <a:p>
            <a:pPr indent="0" marL="0">
              <a:lnSpc>
                <a:spcPct val="112000"/>
              </a:lnSpc>
              <a:buNone/>
            </a:pPr>
            <a:r>
              <a:rPr lang="en-US" sz="1000" dirty="0">
                <a:solidFill>
                  <a:srgbClr val="E6E6E6"/>
                </a:solidFill>
                <a:latin typeface="Red Hat Mono" pitchFamily="34" charset="0"/>
                <a:ea typeface="Red Hat Mono" pitchFamily="34" charset="-122"/>
                <a:cs typeface="Red Hat Mono" pitchFamily="34" charset="-120"/>
              </a:rPr>
              <a:t>Linker linker = Linker.nativeLinker();</a:t>
            </a:r>
            <a:endParaRPr lang="en-US" sz="1000" dirty="0"/>
          </a:p>
          <a:p>
            <a:pPr indent="0" marL="0">
              <a:lnSpc>
                <a:spcPct val="112000"/>
              </a:lnSpc>
              <a:buNone/>
            </a:pPr>
            <a:r>
              <a:rPr lang="en-US" sz="1000" dirty="0">
                <a:solidFill>
                  <a:srgbClr val="E6E6E6"/>
                </a:solidFill>
                <a:latin typeface="Red Hat Mono" pitchFamily="34" charset="0"/>
                <a:ea typeface="Red Hat Mono" pitchFamily="34" charset="-122"/>
                <a:cs typeface="Red Hat Mono" pitchFamily="34" charset="-120"/>
              </a:rPr>
              <a:t>SymbolLookup libc = linker.defaultLookup();</a:t>
            </a:r>
            <a:endParaRPr lang="en-US" sz="1000" dirty="0"/>
          </a:p>
          <a:p>
            <a:pPr indent="0" marL="0">
              <a:lnSpc>
                <a:spcPct val="112000"/>
              </a:lnSpc>
              <a:buNone/>
            </a:pPr>
            <a:r>
              <a:rPr lang="en-US" sz="1000" dirty="0">
                <a:solidFill>
                  <a:srgbClr val="E6E6E6"/>
                </a:solidFill>
                <a:latin typeface="Red Hat Mono" pitchFamily="34" charset="0"/>
                <a:ea typeface="Red Hat Mono" pitchFamily="34" charset="-122"/>
                <a:cs typeface="Red Hat Mono" pitchFamily="34" charset="-120"/>
              </a:rPr>
              <a:t> </a:t>
            </a:r>
            <a:endParaRPr lang="en-US" sz="1000" dirty="0"/>
          </a:p>
          <a:p>
            <a:pPr indent="0" marL="0">
              <a:lnSpc>
                <a:spcPct val="112000"/>
              </a:lnSpc>
              <a:buNone/>
            </a:pPr>
            <a:r>
              <a:rPr lang="en-US" sz="1000" dirty="0">
                <a:solidFill>
                  <a:srgbClr val="E6E6E6"/>
                </a:solidFill>
                <a:latin typeface="Red Hat Mono" pitchFamily="34" charset="0"/>
                <a:ea typeface="Red Hat Mono" pitchFamily="34" charset="-122"/>
                <a:cs typeface="Red Hat Mono" pitchFamily="34" charset="-120"/>
              </a:rPr>
              <a:t>// int getpid(void)</a:t>
            </a:r>
            <a:endParaRPr lang="en-US" sz="1000" dirty="0"/>
          </a:p>
          <a:p>
            <a:pPr indent="0" marL="0">
              <a:lnSpc>
                <a:spcPct val="112000"/>
              </a:lnSpc>
              <a:buNone/>
            </a:pPr>
            <a:r>
              <a:rPr lang="en-US" sz="1000" dirty="0">
                <a:solidFill>
                  <a:srgbClr val="E6E6E6"/>
                </a:solidFill>
                <a:latin typeface="Red Hat Mono" pitchFamily="34" charset="0"/>
                <a:ea typeface="Red Hat Mono" pitchFamily="34" charset="-122"/>
                <a:cs typeface="Red Hat Mono" pitchFamily="34" charset="-120"/>
              </a:rPr>
              <a:t>MethodHandle getpid = linker.downcallHandle(</a:t>
            </a:r>
            <a:endParaRPr lang="en-US" sz="1000" dirty="0"/>
          </a:p>
          <a:p>
            <a:pPr indent="0" marL="0">
              <a:lnSpc>
                <a:spcPct val="112000"/>
              </a:lnSpc>
              <a:buNone/>
            </a:pPr>
            <a:r>
              <a:rPr lang="en-US" sz="1000" dirty="0">
                <a:solidFill>
                  <a:srgbClr val="E6E6E6"/>
                </a:solidFill>
                <a:latin typeface="Red Hat Mono" pitchFamily="34" charset="0"/>
                <a:ea typeface="Red Hat Mono" pitchFamily="34" charset="-122"/>
                <a:cs typeface="Red Hat Mono" pitchFamily="34" charset="-120"/>
              </a:rPr>
              <a:t>    libc.find("getpid").orElseThrow(),</a:t>
            </a:r>
            <a:endParaRPr lang="en-US" sz="1000" dirty="0"/>
          </a:p>
          <a:p>
            <a:pPr indent="0" marL="0">
              <a:lnSpc>
                <a:spcPct val="112000"/>
              </a:lnSpc>
              <a:buNone/>
            </a:pPr>
            <a:r>
              <a:rPr lang="en-US" sz="1000" dirty="0">
                <a:solidFill>
                  <a:srgbClr val="E6E6E6"/>
                </a:solidFill>
                <a:latin typeface="Red Hat Mono" pitchFamily="34" charset="0"/>
                <a:ea typeface="Red Hat Mono" pitchFamily="34" charset="-122"/>
                <a:cs typeface="Red Hat Mono" pitchFamily="34" charset="-120"/>
              </a:rPr>
              <a:t>    FunctionDescriptor.of(JAVA_INT));</a:t>
            </a:r>
            <a:endParaRPr lang="en-US" sz="1000" dirty="0"/>
          </a:p>
          <a:p>
            <a:pPr indent="0" marL="0">
              <a:lnSpc>
                <a:spcPct val="112000"/>
              </a:lnSpc>
              <a:buNone/>
            </a:pPr>
            <a:r>
              <a:rPr lang="en-US" sz="1000" dirty="0">
                <a:solidFill>
                  <a:srgbClr val="E6E6E6"/>
                </a:solidFill>
                <a:latin typeface="Red Hat Mono" pitchFamily="34" charset="0"/>
                <a:ea typeface="Red Hat Mono" pitchFamily="34" charset="-122"/>
                <a:cs typeface="Red Hat Mono" pitchFamily="34" charset="-120"/>
              </a:rPr>
              <a:t> </a:t>
            </a:r>
            <a:endParaRPr lang="en-US" sz="1000" dirty="0"/>
          </a:p>
          <a:p>
            <a:pPr indent="0" marL="0">
              <a:lnSpc>
                <a:spcPct val="112000"/>
              </a:lnSpc>
              <a:buNone/>
            </a:pPr>
            <a:r>
              <a:rPr lang="en-US" sz="1000" dirty="0">
                <a:solidFill>
                  <a:srgbClr val="E6E6E6"/>
                </a:solidFill>
                <a:latin typeface="Red Hat Mono" pitchFamily="34" charset="0"/>
                <a:ea typeface="Red Hat Mono" pitchFamily="34" charset="-122"/>
                <a:cs typeface="Red Hat Mono" pitchFamily="34" charset="-120"/>
              </a:rPr>
              <a:t>// size_t strlen(const char *s)</a:t>
            </a:r>
            <a:endParaRPr lang="en-US" sz="1000" dirty="0"/>
          </a:p>
          <a:p>
            <a:pPr indent="0" marL="0">
              <a:lnSpc>
                <a:spcPct val="112000"/>
              </a:lnSpc>
              <a:buNone/>
            </a:pPr>
            <a:r>
              <a:rPr lang="en-US" sz="1000" dirty="0">
                <a:solidFill>
                  <a:srgbClr val="E6E6E6"/>
                </a:solidFill>
                <a:latin typeface="Red Hat Mono" pitchFamily="34" charset="0"/>
                <a:ea typeface="Red Hat Mono" pitchFamily="34" charset="-122"/>
                <a:cs typeface="Red Hat Mono" pitchFamily="34" charset="-120"/>
              </a:rPr>
              <a:t>MethodHandle strlen = linker.downcallHandle(</a:t>
            </a:r>
            <a:endParaRPr lang="en-US" sz="1000" dirty="0"/>
          </a:p>
          <a:p>
            <a:pPr indent="0" marL="0">
              <a:lnSpc>
                <a:spcPct val="112000"/>
              </a:lnSpc>
              <a:buNone/>
            </a:pPr>
            <a:r>
              <a:rPr lang="en-US" sz="1000" dirty="0">
                <a:solidFill>
                  <a:srgbClr val="E6E6E6"/>
                </a:solidFill>
                <a:latin typeface="Red Hat Mono" pitchFamily="34" charset="0"/>
                <a:ea typeface="Red Hat Mono" pitchFamily="34" charset="-122"/>
                <a:cs typeface="Red Hat Mono" pitchFamily="34" charset="-120"/>
              </a:rPr>
              <a:t>    libc.find("strlen").orElseThrow(),</a:t>
            </a:r>
            <a:endParaRPr lang="en-US" sz="1000" dirty="0"/>
          </a:p>
          <a:p>
            <a:pPr indent="0" marL="0">
              <a:lnSpc>
                <a:spcPct val="112000"/>
              </a:lnSpc>
              <a:buNone/>
            </a:pPr>
            <a:r>
              <a:rPr lang="en-US" sz="1000" dirty="0">
                <a:solidFill>
                  <a:srgbClr val="E6E6E6"/>
                </a:solidFill>
                <a:latin typeface="Red Hat Mono" pitchFamily="34" charset="0"/>
                <a:ea typeface="Red Hat Mono" pitchFamily="34" charset="-122"/>
                <a:cs typeface="Red Hat Mono" pitchFamily="34" charset="-120"/>
              </a:rPr>
              <a:t>    FunctionDescriptor.of(JAVA_LONG, ADDRESS));</a:t>
            </a:r>
            <a:endParaRPr lang="en-US" sz="1000" dirty="0"/>
          </a:p>
          <a:p>
            <a:pPr indent="0" marL="0">
              <a:lnSpc>
                <a:spcPct val="112000"/>
              </a:lnSpc>
              <a:buNone/>
            </a:pPr>
            <a:r>
              <a:rPr lang="en-US" sz="1000" dirty="0">
                <a:solidFill>
                  <a:srgbClr val="E6E6E6"/>
                </a:solidFill>
                <a:latin typeface="Red Hat Mono" pitchFamily="34" charset="0"/>
                <a:ea typeface="Red Hat Mono" pitchFamily="34" charset="-122"/>
                <a:cs typeface="Red Hat Mono" pitchFamily="34" charset="-120"/>
              </a:rPr>
              <a:t> </a:t>
            </a:r>
            <a:endParaRPr lang="en-US" sz="1000" dirty="0"/>
          </a:p>
          <a:p>
            <a:pPr indent="0" marL="0">
              <a:lnSpc>
                <a:spcPct val="112000"/>
              </a:lnSpc>
              <a:buNone/>
            </a:pPr>
            <a:r>
              <a:rPr lang="en-US" sz="1000" dirty="0">
                <a:solidFill>
                  <a:srgbClr val="E6E6E6"/>
                </a:solidFill>
                <a:latin typeface="Red Hat Mono" pitchFamily="34" charset="0"/>
                <a:ea typeface="Red Hat Mono" pitchFamily="34" charset="-122"/>
                <a:cs typeface="Red Hat Mono" pitchFamily="34" charset="-120"/>
              </a:rPr>
              <a:t>try (Arena arena = Arena.ofConfined()) {</a:t>
            </a:r>
            <a:endParaRPr lang="en-US" sz="1000" dirty="0"/>
          </a:p>
          <a:p>
            <a:pPr indent="0" marL="0">
              <a:lnSpc>
                <a:spcPct val="112000"/>
              </a:lnSpc>
              <a:buNone/>
            </a:pPr>
            <a:r>
              <a:rPr lang="en-US" sz="1000" dirty="0">
                <a:solidFill>
                  <a:srgbClr val="E6E6E6"/>
                </a:solidFill>
                <a:latin typeface="Red Hat Mono" pitchFamily="34" charset="0"/>
                <a:ea typeface="Red Hat Mono" pitchFamily="34" charset="-122"/>
                <a:cs typeface="Red Hat Mono" pitchFamily="34" charset="-120"/>
              </a:rPr>
              <a:t>    MemorySegment cString = arena.allocateFrom(text);</a:t>
            </a:r>
            <a:endParaRPr lang="en-US" sz="1000" dirty="0"/>
          </a:p>
          <a:p>
            <a:pPr indent="0" marL="0">
              <a:lnSpc>
                <a:spcPct val="112000"/>
              </a:lnSpc>
              <a:buNone/>
            </a:pPr>
            <a:r>
              <a:rPr lang="en-US" sz="1000" dirty="0">
                <a:solidFill>
                  <a:srgbClr val="E6E6E6"/>
                </a:solidFill>
                <a:latin typeface="Red Hat Mono" pitchFamily="34" charset="0"/>
                <a:ea typeface="Red Hat Mono" pitchFamily="34" charset="-122"/>
                <a:cs typeface="Red Hat Mono" pitchFamily="34" charset="-120"/>
              </a:rPr>
              <a:t>    long nativeLen = (long) strlen.invokeExact(cString);</a:t>
            </a:r>
            <a:endParaRPr lang="en-US" sz="1000" dirty="0"/>
          </a:p>
          <a:p>
            <a:pPr indent="0" marL="0">
              <a:lnSpc>
                <a:spcPct val="112000"/>
              </a:lnSpc>
              <a:buNone/>
            </a:pPr>
            <a:r>
              <a:rPr lang="en-US" sz="1000" dirty="0">
                <a:solidFill>
                  <a:srgbClr val="E6E6E6"/>
                </a:solidFill>
                <a:latin typeface="Red Hat Mono" pitchFamily="34" charset="0"/>
                <a:ea typeface="Red Hat Mono" pitchFamily="34" charset="-122"/>
                <a:cs typeface="Red Hat Mono" pitchFamily="34" charset="-120"/>
              </a:rPr>
              <a:t>}</a:t>
            </a:r>
            <a:endParaRPr lang="en-US" sz="1000" dirty="0"/>
          </a:p>
        </p:txBody>
      </p:sp>
      <p:sp>
        <p:nvSpPr>
          <p:cNvPr id="8" name="Text 6"/>
          <p:cNvSpPr/>
          <p:nvPr/>
        </p:nvSpPr>
        <p:spPr>
          <a:xfrm>
            <a:off x="640080" y="5605272"/>
            <a:ext cx="10911535" cy="731520"/>
          </a:xfrm>
          <a:prstGeom prst="rect">
            <a:avLst/>
          </a:prstGeom>
          <a:noFill/>
          <a:ln/>
        </p:spPr>
        <p:txBody>
          <a:bodyPr wrap="square" lIns="0" tIns="0" rIns="0" bIns="0" rtlCol="0" anchor="t"/>
          <a:lstStyle/>
          <a:p>
            <a:pPr indent="0" marL="0">
              <a:buNone/>
            </a:pPr>
            <a:r>
              <a:rPr lang="en-US" sz="1300" i="1" dirty="0">
                <a:solidFill>
                  <a:srgbClr val="5A5A5A"/>
                </a:solidFill>
                <a:latin typeface="Red Hat Text" pitchFamily="34" charset="0"/>
                <a:ea typeface="Red Hat Text" pitchFamily="34" charset="-122"/>
                <a:cs typeface="Red Hat Text" pitchFamily="34" charset="-120"/>
              </a:rPr>
              <a:t>Output: PANAMA_GETPID equals the JVM pid; PANAMA_STRLEN equals the UTF-8 byte length.</a:t>
            </a:r>
            <a:endParaRPr lang="en-US" sz="1300" dirty="0"/>
          </a:p>
        </p:txBody>
      </p:sp>
      <p:sp>
        <p:nvSpPr>
          <p:cNvPr id="9" name="Text 7"/>
          <p:cNvSpPr/>
          <p:nvPr/>
        </p:nvSpPr>
        <p:spPr>
          <a:xfrm>
            <a:off x="1463040" y="6428232"/>
            <a:ext cx="6858000" cy="228600"/>
          </a:xfrm>
          <a:prstGeom prst="rect">
            <a:avLst/>
          </a:prstGeom>
          <a:noFill/>
          <a:ln/>
        </p:spPr>
        <p:txBody>
          <a:bodyPr wrap="square" lIns="0" tIns="0" rIns="0" bIns="0" rtlCol="0" anchor="ctr"/>
          <a:lstStyle/>
          <a:p>
            <a:pPr algn="l" indent="0" marL="0">
              <a:buNone/>
            </a:pPr>
            <a:r>
              <a:rPr lang="en-US" sz="800" dirty="0">
                <a:solidFill>
                  <a:srgbClr val="8A8A8A"/>
                </a:solidFill>
                <a:latin typeface="Red Hat Mono" pitchFamily="34" charset="0"/>
                <a:ea typeface="Red Hat Mono" pitchFamily="34" charset="-122"/>
                <a:cs typeface="Red Hat Mono" pitchFamily="34" charset="-120"/>
              </a:rPr>
              <a:t>Demo script: demos/demo-panama.sh</a:t>
            </a:r>
            <a:endParaRPr lang="en-US" sz="800" dirty="0"/>
          </a:p>
        </p:txBody>
      </p:sp>
      <p:sp>
        <p:nvSpPr>
          <p:cNvPr id="10" name="Text 8"/>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11"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02</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Data as a product</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Contracts, the registry, and the catalog: a data product held to the standard of any software product.</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AS A PRODUCT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Where analytical sourcing would plug in</a:t>
            </a:r>
            <a:endParaRPr lang="en-US" sz="3000" dirty="0"/>
          </a:p>
        </p:txBody>
      </p:sp>
      <p:pic>
        <p:nvPicPr>
          <p:cNvPr id="4" name="Image 0" descr="dpng/05-ingestion-streaming-sourcing.png">    </p:cNvPr>
          <p:cNvPicPr>
            <a:picLocks noChangeAspect="1"/>
          </p:cNvPicPr>
          <p:nvPr/>
        </p:nvPicPr>
        <p:blipFill>
          <a:blip r:embed="rId1"/>
          <a:stretch>
            <a:fillRect/>
          </a:stretch>
        </p:blipFill>
        <p:spPr>
          <a:xfrm>
            <a:off x="822184" y="1645920"/>
            <a:ext cx="10547327"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Ingestion, streaming, and CDC sourcing for analytical consumers. Conceptual in this project; not built.</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AS A PRODUCT</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Avro on the wire</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Verified at the byte level</a:t>
            </a:r>
            <a:endParaRPr lang="en-US" sz="1700" dirty="0"/>
          </a:p>
        </p:txBody>
      </p:sp>
      <p:pic>
        <p:nvPicPr>
          <p:cNvPr id="5" name="Image 0" descr="dpng/04-contract-flow.png">    </p:cNvPr>
          <p:cNvPicPr>
            <a:picLocks noChangeAspect="1"/>
          </p:cNvPicPr>
          <p:nvPr/>
        </p:nvPicPr>
        <p:blipFill>
          <a:blip r:embed="rId1"/>
          <a:stretch>
            <a:fillRect/>
          </a:stretch>
        </p:blipFill>
        <p:spPr>
          <a:xfrm>
            <a:off x="3172312" y="1874520"/>
            <a:ext cx="5847070" cy="3703320"/>
          </a:xfrm>
          <a:prstGeom prst="rect">
            <a:avLst/>
          </a:prstGeom>
        </p:spPr>
      </p:pic>
      <p:sp>
        <p:nvSpPr>
          <p:cNvPr id="6" name="Text 3"/>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The runtime path (serialize, publish, fetch schema, deserialize) and the discovery path (OpenAPI, Protobuf, SDL, and Avro contracts for a catalog to ingest).</a:t>
            </a:r>
            <a:endParaRPr lang="en-US" sz="1250" dirty="0"/>
          </a:p>
        </p:txBody>
      </p:sp>
      <p:sp>
        <p:nvSpPr>
          <p:cNvPr id="7" name="Text 4"/>
          <p:cNvSpPr/>
          <p:nvPr/>
        </p:nvSpPr>
        <p:spPr>
          <a:xfrm>
            <a:off x="1463040" y="6428232"/>
            <a:ext cx="6858000" cy="228600"/>
          </a:xfrm>
          <a:prstGeom prst="rect">
            <a:avLst/>
          </a:prstGeom>
          <a:noFill/>
          <a:ln/>
        </p:spPr>
        <p:txBody>
          <a:bodyPr wrap="square" lIns="0" tIns="0" rIns="0" bIns="0" rtlCol="0" anchor="ctr"/>
          <a:lstStyle/>
          <a:p>
            <a:pPr algn="l" indent="0" marL="0">
              <a:buNone/>
            </a:pPr>
            <a:r>
              <a:rPr lang="en-US" sz="800" dirty="0">
                <a:solidFill>
                  <a:srgbClr val="8A8A8A"/>
                </a:solidFill>
                <a:latin typeface="Red Hat Mono" pitchFamily="34" charset="0"/>
                <a:ea typeface="Red Hat Mono" pitchFamily="34" charset="-122"/>
                <a:cs typeface="Red Hat Mono" pitchFamily="34" charset="-120"/>
              </a:rPr>
              <a:t>Demo script: demos/demo-kafka.sh</a:t>
            </a:r>
            <a:endParaRPr lang="en-US" sz="800" dirty="0"/>
          </a:p>
        </p:txBody>
      </p:sp>
      <p:sp>
        <p:nvSpPr>
          <p:cNvPr id="8"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9"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AS A PRODUCT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Runtime vs. discovery contracts</a:t>
            </a:r>
            <a:endParaRPr lang="en-US" sz="3000" dirty="0"/>
          </a:p>
        </p:txBody>
      </p:sp>
      <p:pic>
        <p:nvPicPr>
          <p:cNvPr id="4" name="Image 0" descr="dpng/04-contracts-registry-catalog.png">    </p:cNvPr>
          <p:cNvPicPr>
            <a:picLocks noChangeAspect="1"/>
          </p:cNvPicPr>
          <p:nvPr/>
        </p:nvPicPr>
        <p:blipFill>
          <a:blip r:embed="rId1"/>
          <a:stretch>
            <a:fillRect/>
          </a:stretch>
        </p:blipFill>
        <p:spPr>
          <a:xfrm>
            <a:off x="2580072" y="1645920"/>
            <a:ext cx="7031551"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Runtime contracts (Avro, filled) and discovery contracts (OpenAPI, Protobuf, SDL, hollow) are registered in Apicurio; a catalog downstream would ingest them into a lineage graph.</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AS A PRODUCT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runtime contract: a registered Avro schema</a:t>
            </a:r>
            <a:endParaRPr lang="en-US" sz="3000" dirty="0"/>
          </a:p>
        </p:txBody>
      </p:sp>
      <p:sp>
        <p:nvSpPr>
          <p:cNvPr id="4" name="Shape 2"/>
          <p:cNvSpPr/>
          <p:nvPr/>
        </p:nvSpPr>
        <p:spPr>
          <a:xfrm>
            <a:off x="640080" y="1691640"/>
            <a:ext cx="10911535" cy="3749040"/>
          </a:xfrm>
          <a:prstGeom prst="roundRect">
            <a:avLst>
              <a:gd name="adj" fmla="val 2927"/>
            </a:avLst>
          </a:prstGeom>
          <a:solidFill>
            <a:srgbClr val="1A1A1A"/>
          </a:solidFill>
          <a:ln/>
          <a:effectLst>
            <a:outerShdw sx="100000" sy="100000" kx="0" ky="0" algn="bl" rotWithShape="0" blurRad="101600" dist="38100" dir="5400000">
              <a:srgbClr val="000000">
                <a:alpha val="16000"/>
              </a:srgbClr>
            </a:outerShdw>
          </a:effectLst>
        </p:spPr>
      </p:sp>
      <p:sp>
        <p:nvSpPr>
          <p:cNvPr id="5" name="Text 3"/>
          <p:cNvSpPr/>
          <p:nvPr/>
        </p:nvSpPr>
        <p:spPr>
          <a:xfrm>
            <a:off x="8625535" y="1819656"/>
            <a:ext cx="2743200" cy="256032"/>
          </a:xfrm>
          <a:prstGeom prst="rect">
            <a:avLst/>
          </a:prstGeom>
          <a:noFill/>
          <a:ln/>
        </p:spPr>
        <p:txBody>
          <a:bodyPr wrap="square" lIns="0" tIns="0" rIns="0" bIns="0" rtlCol="0" anchor="ctr"/>
          <a:lstStyle/>
          <a:p>
            <a:pPr algn="r" indent="0" marL="0">
              <a:buNone/>
            </a:pPr>
            <a:r>
              <a:rPr lang="en-US" sz="1100" dirty="0">
                <a:solidFill>
                  <a:srgbClr val="8A8A8A"/>
                </a:solidFill>
                <a:latin typeface="Red Hat Mono" pitchFamily="34" charset="0"/>
                <a:ea typeface="Red Hat Mono" pitchFamily="34" charset="-122"/>
                <a:cs typeface="Red Hat Mono" pitchFamily="34" charset="-120"/>
              </a:rPr>
              <a:t>Avro · Apicurio Schema Registry</a:t>
            </a:r>
            <a:endParaRPr lang="en-US" sz="1100" dirty="0"/>
          </a:p>
        </p:txBody>
      </p:sp>
      <p:sp>
        <p:nvSpPr>
          <p:cNvPr id="6" name="Text 4"/>
          <p:cNvSpPr/>
          <p:nvPr/>
        </p:nvSpPr>
        <p:spPr>
          <a:xfrm>
            <a:off x="960120" y="2075688"/>
            <a:ext cx="10271455" cy="3136392"/>
          </a:xfrm>
          <a:prstGeom prst="rect">
            <a:avLst/>
          </a:prstGeom>
          <a:noFill/>
          <a:ln/>
        </p:spPr>
        <p:txBody>
          <a:bodyPr wrap="square" lIns="0" tIns="0" rIns="0" bIns="0" rtlCol="0" anchor="t"/>
          <a:lstStyle/>
          <a:p>
            <a:pPr indent="0" marL="0">
              <a:lnSpc>
                <a:spcPct val="112000"/>
              </a:lnSpc>
              <a:buNone/>
            </a:pPr>
            <a:r>
              <a:rPr lang="en-US" sz="1250" dirty="0">
                <a:solidFill>
                  <a:srgbClr val="E6E6E6"/>
                </a:solidFill>
                <a:latin typeface="Red Hat Mono" pitchFamily="34" charset="0"/>
                <a:ea typeface="Red Hat Mono" pitchFamily="34" charset="-122"/>
                <a:cs typeface="Red Hat Mono" pitchFamily="34" charset="-120"/>
              </a:rPr>
              <a:t>{</a:t>
            </a:r>
            <a:endParaRPr lang="en-US" sz="1250" dirty="0"/>
          </a:p>
          <a:p>
            <a:pPr indent="0" marL="0">
              <a:lnSpc>
                <a:spcPct val="112000"/>
              </a:lnSpc>
              <a:buNone/>
            </a:pPr>
            <a:r>
              <a:rPr lang="en-US" sz="1250" dirty="0">
                <a:solidFill>
                  <a:srgbClr val="E6E6E6"/>
                </a:solidFill>
                <a:latin typeface="Red Hat Mono" pitchFamily="34" charset="0"/>
                <a:ea typeface="Red Hat Mono" pitchFamily="34" charset="-122"/>
                <a:cs typeface="Red Hat Mono" pitchFamily="34" charset="-120"/>
              </a:rPr>
              <a:t>  "type": "record",</a:t>
            </a:r>
            <a:endParaRPr lang="en-US" sz="1250" dirty="0"/>
          </a:p>
          <a:p>
            <a:pPr indent="0" marL="0">
              <a:lnSpc>
                <a:spcPct val="112000"/>
              </a:lnSpc>
              <a:buNone/>
            </a:pPr>
            <a:r>
              <a:rPr lang="en-US" sz="1250" dirty="0">
                <a:solidFill>
                  <a:srgbClr val="E6E6E6"/>
                </a:solidFill>
                <a:latin typeface="Red Hat Mono" pitchFamily="34" charset="0"/>
                <a:ea typeface="Red Hat Mono" pitchFamily="34" charset="-122"/>
                <a:cs typeface="Red Hat Mono" pitchFamily="34" charset="-120"/>
              </a:rPr>
              <a:t>  "namespace": "datamesh.order.v1",</a:t>
            </a:r>
            <a:endParaRPr lang="en-US" sz="1250" dirty="0"/>
          </a:p>
          <a:p>
            <a:pPr indent="0" marL="0">
              <a:lnSpc>
                <a:spcPct val="112000"/>
              </a:lnSpc>
              <a:buNone/>
            </a:pPr>
            <a:r>
              <a:rPr lang="en-US" sz="1250" dirty="0">
                <a:solidFill>
                  <a:srgbClr val="E6E6E6"/>
                </a:solidFill>
                <a:latin typeface="Red Hat Mono" pitchFamily="34" charset="0"/>
                <a:ea typeface="Red Hat Mono" pitchFamily="34" charset="-122"/>
                <a:cs typeface="Red Hat Mono" pitchFamily="34" charset="-120"/>
              </a:rPr>
              <a:t>  "name": "OrderPlaced",</a:t>
            </a:r>
            <a:endParaRPr lang="en-US" sz="1250" dirty="0"/>
          </a:p>
          <a:p>
            <a:pPr indent="0" marL="0">
              <a:lnSpc>
                <a:spcPct val="112000"/>
              </a:lnSpc>
              <a:buNone/>
            </a:pPr>
            <a:r>
              <a:rPr lang="en-US" sz="1250" dirty="0">
                <a:solidFill>
                  <a:srgbClr val="E6E6E6"/>
                </a:solidFill>
                <a:latin typeface="Red Hat Mono" pitchFamily="34" charset="0"/>
                <a:ea typeface="Red Hat Mono" pitchFamily="34" charset="-122"/>
                <a:cs typeface="Red Hat Mono" pitchFamily="34" charset="-120"/>
              </a:rPr>
              <a:t>  "fields": [</a:t>
            </a:r>
            <a:endParaRPr lang="en-US" sz="1250" dirty="0"/>
          </a:p>
          <a:p>
            <a:pPr indent="0" marL="0">
              <a:lnSpc>
                <a:spcPct val="112000"/>
              </a:lnSpc>
              <a:buNone/>
            </a:pPr>
            <a:r>
              <a:rPr lang="en-US" sz="1250" dirty="0">
                <a:solidFill>
                  <a:srgbClr val="E6E6E6"/>
                </a:solidFill>
                <a:latin typeface="Red Hat Mono" pitchFamily="34" charset="0"/>
                <a:ea typeface="Red Hat Mono" pitchFamily="34" charset="-122"/>
                <a:cs typeface="Red Hat Mono" pitchFamily="34" charset="-120"/>
              </a:rPr>
              <a:t>    { "name": "eventType",   "type": "string" },</a:t>
            </a:r>
            <a:endParaRPr lang="en-US" sz="1250" dirty="0"/>
          </a:p>
          <a:p>
            <a:pPr indent="0" marL="0">
              <a:lnSpc>
                <a:spcPct val="112000"/>
              </a:lnSpc>
              <a:buNone/>
            </a:pPr>
            <a:r>
              <a:rPr lang="en-US" sz="1250" dirty="0">
                <a:solidFill>
                  <a:srgbClr val="E6E6E6"/>
                </a:solidFill>
                <a:latin typeface="Red Hat Mono" pitchFamily="34" charset="0"/>
                <a:ea typeface="Red Hat Mono" pitchFamily="34" charset="-122"/>
                <a:cs typeface="Red Hat Mono" pitchFamily="34" charset="-120"/>
              </a:rPr>
              <a:t>    { "name": "orderId",     "type": "string" },</a:t>
            </a:r>
            <a:endParaRPr lang="en-US" sz="1250" dirty="0"/>
          </a:p>
          <a:p>
            <a:pPr indent="0" marL="0">
              <a:lnSpc>
                <a:spcPct val="112000"/>
              </a:lnSpc>
              <a:buNone/>
            </a:pPr>
            <a:r>
              <a:rPr lang="en-US" sz="1250" dirty="0">
                <a:solidFill>
                  <a:srgbClr val="E6E6E6"/>
                </a:solidFill>
                <a:latin typeface="Red Hat Mono" pitchFamily="34" charset="0"/>
                <a:ea typeface="Red Hat Mono" pitchFamily="34" charset="-122"/>
                <a:cs typeface="Red Hat Mono" pitchFamily="34" charset="-120"/>
              </a:rPr>
              <a:t>    { "name": "customerId",  "type": "string" },</a:t>
            </a:r>
            <a:endParaRPr lang="en-US" sz="1250" dirty="0"/>
          </a:p>
          <a:p>
            <a:pPr indent="0" marL="0">
              <a:lnSpc>
                <a:spcPct val="112000"/>
              </a:lnSpc>
              <a:buNone/>
            </a:pPr>
            <a:r>
              <a:rPr lang="en-US" sz="1250" dirty="0">
                <a:solidFill>
                  <a:srgbClr val="E6E6E6"/>
                </a:solidFill>
                <a:latin typeface="Red Hat Mono" pitchFamily="34" charset="0"/>
                <a:ea typeface="Red Hat Mono" pitchFamily="34" charset="-122"/>
                <a:cs typeface="Red Hat Mono" pitchFamily="34" charset="-120"/>
              </a:rPr>
              <a:t>    { "name": "itemSku",     "type": "string" },</a:t>
            </a:r>
            <a:endParaRPr lang="en-US" sz="1250" dirty="0"/>
          </a:p>
          <a:p>
            <a:pPr indent="0" marL="0">
              <a:lnSpc>
                <a:spcPct val="112000"/>
              </a:lnSpc>
              <a:buNone/>
            </a:pPr>
            <a:r>
              <a:rPr lang="en-US" sz="1250" dirty="0">
                <a:solidFill>
                  <a:srgbClr val="E6E6E6"/>
                </a:solidFill>
                <a:latin typeface="Red Hat Mono" pitchFamily="34" charset="0"/>
                <a:ea typeface="Red Hat Mono" pitchFamily="34" charset="-122"/>
                <a:cs typeface="Red Hat Mono" pitchFamily="34" charset="-120"/>
              </a:rPr>
              <a:t>    { "name": "quantity",    "type": "int" },</a:t>
            </a:r>
            <a:endParaRPr lang="en-US" sz="1250" dirty="0"/>
          </a:p>
          <a:p>
            <a:pPr indent="0" marL="0">
              <a:lnSpc>
                <a:spcPct val="112000"/>
              </a:lnSpc>
              <a:buNone/>
            </a:pPr>
            <a:r>
              <a:rPr lang="en-US" sz="1250" dirty="0">
                <a:solidFill>
                  <a:srgbClr val="E6E6E6"/>
                </a:solidFill>
                <a:latin typeface="Red Hat Mono" pitchFamily="34" charset="0"/>
                <a:ea typeface="Red Hat Mono" pitchFamily="34" charset="-122"/>
                <a:cs typeface="Red Hat Mono" pitchFamily="34" charset="-120"/>
              </a:rPr>
              <a:t>    { "name": "amount",      "type": "double" }</a:t>
            </a:r>
            <a:endParaRPr lang="en-US" sz="1250" dirty="0"/>
          </a:p>
          <a:p>
            <a:pPr indent="0" marL="0">
              <a:lnSpc>
                <a:spcPct val="112000"/>
              </a:lnSpc>
              <a:buNone/>
            </a:pPr>
            <a:r>
              <a:rPr lang="en-US" sz="1250" dirty="0">
                <a:solidFill>
                  <a:srgbClr val="E6E6E6"/>
                </a:solidFill>
                <a:latin typeface="Red Hat Mono" pitchFamily="34" charset="0"/>
                <a:ea typeface="Red Hat Mono" pitchFamily="34" charset="-122"/>
                <a:cs typeface="Red Hat Mono" pitchFamily="34" charset="-120"/>
              </a:rPr>
              <a:t>  ]</a:t>
            </a:r>
            <a:endParaRPr lang="en-US" sz="1250" dirty="0"/>
          </a:p>
          <a:p>
            <a:pPr indent="0" marL="0">
              <a:lnSpc>
                <a:spcPct val="112000"/>
              </a:lnSpc>
              <a:buNone/>
            </a:pPr>
            <a:r>
              <a:rPr lang="en-US" sz="1250" dirty="0">
                <a:solidFill>
                  <a:srgbClr val="E6E6E6"/>
                </a:solidFill>
                <a:latin typeface="Red Hat Mono" pitchFamily="34" charset="0"/>
                <a:ea typeface="Red Hat Mono" pitchFamily="34" charset="-122"/>
                <a:cs typeface="Red Hat Mono" pitchFamily="34" charset="-120"/>
              </a:rPr>
              <a:t>}</a:t>
            </a:r>
            <a:endParaRPr lang="en-US" sz="1250" dirty="0"/>
          </a:p>
          <a:p>
            <a:pPr indent="0" marL="0">
              <a:lnSpc>
                <a:spcPct val="112000"/>
              </a:lnSpc>
              <a:buNone/>
            </a:pPr>
            <a:r>
              <a:rPr lang="en-US" sz="1250" dirty="0">
                <a:solidFill>
                  <a:srgbClr val="8FB98F"/>
                </a:solidFill>
                <a:latin typeface="Red Hat Mono" pitchFamily="34" charset="0"/>
                <a:ea typeface="Red Hat Mono" pitchFamily="34" charset="-122"/>
                <a:cs typeface="Red Hat Mono" pitchFamily="34" charset="-120"/>
              </a:rPr>
              <a:t># registry: schema registered at publish time via</a:t>
            </a:r>
            <a:endParaRPr lang="en-US" sz="1250" dirty="0"/>
          </a:p>
          <a:p>
            <a:pPr indent="0" marL="0">
              <a:lnSpc>
                <a:spcPct val="112000"/>
              </a:lnSpc>
              <a:buNone/>
            </a:pPr>
            <a:r>
              <a:rPr lang="en-US" sz="1250" dirty="0">
                <a:solidFill>
                  <a:srgbClr val="8FB98F"/>
                </a:solidFill>
                <a:latin typeface="Red Hat Mono" pitchFamily="34" charset="0"/>
                <a:ea typeface="Red Hat Mono" pitchFamily="34" charset="-122"/>
                <a:cs typeface="Red Hat Mono" pitchFamily="34" charset="-120"/>
              </a:rPr>
              <a:t># apicurio-registry-avro; producer pins AvroKafkaSerializer explicitly</a:t>
            </a:r>
            <a:endParaRPr lang="en-US" sz="1250" dirty="0"/>
          </a:p>
        </p:txBody>
      </p:sp>
      <p:sp>
        <p:nvSpPr>
          <p:cNvPr id="7" name="Text 5"/>
          <p:cNvSpPr/>
          <p:nvPr/>
        </p:nvSpPr>
        <p:spPr>
          <a:xfrm>
            <a:off x="640080" y="5605272"/>
            <a:ext cx="10911535" cy="731520"/>
          </a:xfrm>
          <a:prstGeom prst="rect">
            <a:avLst/>
          </a:prstGeom>
          <a:noFill/>
          <a:ln/>
        </p:spPr>
        <p:txBody>
          <a:bodyPr wrap="square" lIns="0" tIns="0" rIns="0" bIns="0" rtlCol="0" anchor="t"/>
          <a:lstStyle/>
          <a:p>
            <a:pPr indent="0" marL="0">
              <a:buNone/>
            </a:pPr>
            <a:r>
              <a:rPr lang="en-US" sz="1300" i="1" dirty="0">
                <a:solidFill>
                  <a:srgbClr val="5A5A5A"/>
                </a:solidFill>
                <a:latin typeface="Red Hat Text" pitchFamily="34" charset="0"/>
                <a:ea typeface="Red Hat Text" pitchFamily="34" charset="-122"/>
                <a:cs typeface="Red Hat Text" pitchFamily="34" charset="-120"/>
              </a:rPr>
              <a:t>Illustrative of the contracts module's shape (datamesh.order.v1.OrderPlaced). The producer pins AvroKafkaSerializer in application.properties.</a:t>
            </a:r>
            <a:endParaRPr lang="en-US" sz="1300" dirty="0"/>
          </a:p>
        </p:txBody>
      </p:sp>
      <p:sp>
        <p:nvSpPr>
          <p:cNvPr id="8" name="Text 6"/>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9"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AS A PRODUCT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full contract picture</a:t>
            </a:r>
            <a:endParaRPr lang="en-US" sz="3000" dirty="0"/>
          </a:p>
        </p:txBody>
      </p:sp>
      <p:pic>
        <p:nvPicPr>
          <p:cNvPr id="4" name="Image 0" descr="dpng/04-final-project-contracts.png">    </p:cNvPr>
          <p:cNvPicPr>
            <a:picLocks noChangeAspect="1"/>
          </p:cNvPicPr>
          <p:nvPr/>
        </p:nvPicPr>
        <p:blipFill>
          <a:blip r:embed="rId1"/>
          <a:stretch>
            <a:fillRect/>
          </a:stretch>
        </p:blipFill>
        <p:spPr>
          <a:xfrm>
            <a:off x="2819575" y="1645920"/>
            <a:ext cx="6552545"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Every protocol's contract type feeds Apicurio Registry; a catalog downstream builds lineage from the registry and the running data stores.</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03</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The three engines</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Three ways to coordinate the same order-to-shipment domain: choreography, and two shapes of orchestration.</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THREE ENGINES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Three coordination shapes, one domain</a:t>
            </a:r>
            <a:endParaRPr lang="en-US" sz="3000" dirty="0"/>
          </a:p>
        </p:txBody>
      </p:sp>
      <p:pic>
        <p:nvPicPr>
          <p:cNvPr id="4" name="Image 0" descr="dpng/13-orchestration-styles.png">    </p:cNvPr>
          <p:cNvPicPr>
            <a:picLocks noChangeAspect="1"/>
          </p:cNvPicPr>
          <p:nvPr/>
        </p:nvPicPr>
        <p:blipFill>
          <a:blip r:embed="rId1"/>
          <a:stretch>
            <a:fillRect/>
          </a:stretch>
        </p:blipFill>
        <p:spPr>
          <a:xfrm>
            <a:off x="3043068" y="1645920"/>
            <a:ext cx="6105558"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Decentralized Kafka choreography; a Camel route that sequences steps; a declarative Quarkus Flow workflow expressing the same two tasks.</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THREE ENGINES</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Engine 1: Kafka choreography</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No single service owns the sequence</a:t>
            </a:r>
            <a:endParaRPr lang="en-US" sz="1700" dirty="0"/>
          </a:p>
        </p:txBody>
      </p:sp>
      <p:sp>
        <p:nvSpPr>
          <p:cNvPr id="5" name="Text 3"/>
          <p:cNvSpPr/>
          <p:nvPr/>
        </p:nvSpPr>
        <p:spPr>
          <a:xfrm>
            <a:off x="640080" y="1965960"/>
            <a:ext cx="10911535" cy="4114800"/>
          </a:xfrm>
          <a:prstGeom prst="rect">
            <a:avLst/>
          </a:prstGeom>
          <a:noFill/>
          <a:ln/>
        </p:spPr>
        <p:txBody>
          <a:bodyPr wrap="square" lIns="0" tIns="0" rIns="0" bIns="0" rtlCol="0" anchor="t"/>
          <a:lstStyle/>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order-service</a:t>
            </a:r>
            <a:r>
              <a:rPr lang="en-US" sz="1600" dirty="0">
                <a:solidFill>
                  <a:srgbClr val="242424"/>
                </a:solidFill>
                <a:latin typeface="Red Hat Text" pitchFamily="34" charset="0"/>
                <a:ea typeface="Red Hat Text" pitchFamily="34" charset="-122"/>
                <a:cs typeface="Red Hat Text" pitchFamily="34" charset="-120"/>
              </a:rPr>
              <a:t> publishes order.placed and does not know payment-service or shipping-service exist. It does not call them or wait on them.</a:t>
            </a:r>
            <a:endParaRPr lang="en-US" sz="1600" dirty="0"/>
          </a:p>
          <a:p>
            <a:pPr lvl="1" marL="457200" indent="-228600">
              <a:spcAft>
                <a:spcPts val="8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payment-service</a:t>
            </a:r>
            <a:r>
              <a:rPr lang="en-US" sz="1500" dirty="0">
                <a:solidFill>
                  <a:srgbClr val="5A5A5A"/>
                </a:solidFill>
                <a:latin typeface="Red Hat Text" pitchFamily="34" charset="0"/>
                <a:ea typeface="Red Hat Text" pitchFamily="34" charset="-122"/>
                <a:cs typeface="Red Hat Text" pitchFamily="34" charset="-120"/>
              </a:rPr>
              <a:t> subscribes to order.placed, captures payment, and publishes payment.captured. shipping-service subscribes to that and publishes shipment.dispatched.</a:t>
            </a:r>
            <a:endParaRPr lang="en-US" sz="1600" dirty="0"/>
          </a:p>
          <a:p>
            <a:pPr lvl="1" marL="457200" indent="-228600">
              <a:spcAft>
                <a:spcPts val="8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notification-service</a:t>
            </a:r>
            <a:r>
              <a:rPr lang="en-US" sz="1500" dirty="0">
                <a:solidFill>
                  <a:srgbClr val="5A5A5A"/>
                </a:solidFill>
                <a:latin typeface="Red Hat Text" pitchFamily="34" charset="0"/>
                <a:ea typeface="Red Hat Text" pitchFamily="34" charset="-122"/>
                <a:cs typeface="Red Hat Text" pitchFamily="34" charset="-120"/>
              </a:rPr>
              <a:t> also subscribes to order.placed, as a parallel reaction to the same event rather than a step after the chain.</a:t>
            </a:r>
            <a:endParaRPr lang="en-US" sz="1600" dirty="0"/>
          </a:p>
          <a:p>
            <a:pPr indent="0" marL="0">
              <a:spcBef>
                <a:spcPts val="800"/>
              </a:spcBef>
              <a:spcAft>
                <a:spcPts val="400"/>
              </a:spcAft>
              <a:buNone/>
            </a:pPr>
            <a:r>
              <a:rPr lang="en-US" sz="1700" b="1" dirty="0">
                <a:solidFill>
                  <a:srgbClr val="151515"/>
                </a:solidFill>
                <a:latin typeface="Overpass SemiBold" pitchFamily="34" charset="0"/>
                <a:ea typeface="Overpass SemiBold" pitchFamily="34" charset="-122"/>
                <a:cs typeface="Overpass SemiBold" pitchFamily="34" charset="-120"/>
              </a:rPr>
              <a:t>Trade-off</a:t>
            </a:r>
            <a:endParaRPr lang="en-US" sz="1600" dirty="0"/>
          </a:p>
          <a:p>
            <a:pPr marL="228600" indent="-228600">
              <a:spcBef>
                <a:spcPts val="400"/>
              </a:spcBef>
              <a:spcAft>
                <a:spcPts val="1400"/>
              </a:spcAft>
              <a:buSzPct val="100000"/>
              <a:buChar char="•"/>
            </a:pPr>
            <a:r>
              <a:rPr lang="en-US" sz="1600" dirty="0">
                <a:solidFill>
                  <a:srgbClr val="151515"/>
                </a:solidFill>
                <a:latin typeface="Red Hat Text" pitchFamily="34" charset="0"/>
                <a:ea typeface="Red Hat Text" pitchFamily="34" charset="-122"/>
                <a:cs typeface="Red Hat Text" pitchFamily="34" charset="-120"/>
              </a:rPr>
              <a:t>No single place describes what happens when an order is placed; you find every subscriber. Adding a fifth reaction, such as analytics, changes no existing service.</a:t>
            </a:r>
            <a:endParaRPr lang="en-US" sz="1600" dirty="0"/>
          </a:p>
        </p:txBody>
      </p:sp>
      <p:sp>
        <p:nvSpPr>
          <p:cNvPr id="6" name="Text 4"/>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7"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THREE ENGINES</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Engine 2: Camel orchestration</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The route is the coordinator</a:t>
            </a:r>
            <a:endParaRPr lang="en-US" sz="1700" dirty="0"/>
          </a:p>
        </p:txBody>
      </p:sp>
      <p:sp>
        <p:nvSpPr>
          <p:cNvPr id="5" name="Shape 3"/>
          <p:cNvSpPr/>
          <p:nvPr/>
        </p:nvSpPr>
        <p:spPr>
          <a:xfrm>
            <a:off x="640080" y="1920240"/>
            <a:ext cx="10911535" cy="3520440"/>
          </a:xfrm>
          <a:prstGeom prst="roundRect">
            <a:avLst>
              <a:gd name="adj" fmla="val 3117"/>
            </a:avLst>
          </a:prstGeom>
          <a:solidFill>
            <a:srgbClr val="1A1A1A"/>
          </a:solidFill>
          <a:ln/>
          <a:effectLst>
            <a:outerShdw sx="100000" sy="100000" kx="0" ky="0" algn="bl" rotWithShape="0" blurRad="101600" dist="38100" dir="5400000">
              <a:srgbClr val="000000">
                <a:alpha val="16000"/>
              </a:srgbClr>
            </a:outerShdw>
          </a:effectLst>
        </p:spPr>
      </p:sp>
      <p:sp>
        <p:nvSpPr>
          <p:cNvPr id="6" name="Text 4"/>
          <p:cNvSpPr/>
          <p:nvPr/>
        </p:nvSpPr>
        <p:spPr>
          <a:xfrm>
            <a:off x="8625535" y="2048256"/>
            <a:ext cx="2743200" cy="256032"/>
          </a:xfrm>
          <a:prstGeom prst="rect">
            <a:avLst/>
          </a:prstGeom>
          <a:noFill/>
          <a:ln/>
        </p:spPr>
        <p:txBody>
          <a:bodyPr wrap="square" lIns="0" tIns="0" rIns="0" bIns="0" rtlCol="0" anchor="ctr"/>
          <a:lstStyle/>
          <a:p>
            <a:pPr algn="r" indent="0" marL="0">
              <a:buNone/>
            </a:pPr>
            <a:r>
              <a:rPr lang="en-US" sz="1100" dirty="0">
                <a:solidFill>
                  <a:srgbClr val="8A8A8A"/>
                </a:solidFill>
                <a:latin typeface="Red Hat Mono" pitchFamily="34" charset="0"/>
                <a:ea typeface="Red Hat Mono" pitchFamily="34" charset="-122"/>
                <a:cs typeface="Red Hat Mono" pitchFamily="34" charset="-120"/>
              </a:rPr>
              <a:t>Java · Camel route · POST /api/orders/triage</a:t>
            </a:r>
            <a:endParaRPr lang="en-US" sz="1100" dirty="0"/>
          </a:p>
        </p:txBody>
      </p:sp>
      <p:sp>
        <p:nvSpPr>
          <p:cNvPr id="7" name="Text 5"/>
          <p:cNvSpPr/>
          <p:nvPr/>
        </p:nvSpPr>
        <p:spPr>
          <a:xfrm>
            <a:off x="960120" y="2304288"/>
            <a:ext cx="10271455" cy="2907792"/>
          </a:xfrm>
          <a:prstGeom prst="rect">
            <a:avLst/>
          </a:prstGeom>
          <a:noFill/>
          <a:ln/>
        </p:spPr>
        <p:txBody>
          <a:bodyPr wrap="square" lIns="0" tIns="0" rIns="0" bIns="0" rtlCol="0" anchor="t"/>
          <a:lstStyle/>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from("direct:triage")</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.routeId("triage-order")</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.unmarshal().json(JsonLibrary.Jackson, OrderCreate.class)</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.bean(triageService, "classify")</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.bean(triageService, "decide")</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.marshal().json(JsonLibrary.Jackson);</a:t>
            </a:r>
            <a:endParaRPr lang="en-US" sz="1300" dirty="0"/>
          </a:p>
        </p:txBody>
      </p:sp>
      <p:sp>
        <p:nvSpPr>
          <p:cNvPr id="8" name="Text 6"/>
          <p:cNvSpPr/>
          <p:nvPr/>
        </p:nvSpPr>
        <p:spPr>
          <a:xfrm>
            <a:off x="640080" y="5605272"/>
            <a:ext cx="10911535" cy="731520"/>
          </a:xfrm>
          <a:prstGeom prst="rect">
            <a:avLst/>
          </a:prstGeom>
          <a:noFill/>
          <a:ln/>
        </p:spPr>
        <p:txBody>
          <a:bodyPr wrap="square" lIns="0" tIns="0" rIns="0" bIns="0" rtlCol="0" anchor="t"/>
          <a:lstStyle/>
          <a:p>
            <a:pPr indent="0" marL="0">
              <a:buNone/>
            </a:pPr>
            <a:r>
              <a:rPr lang="en-US" sz="1300" i="1" dirty="0">
                <a:solidFill>
                  <a:srgbClr val="5A5A5A"/>
                </a:solidFill>
                <a:latin typeface="Red Hat Text" pitchFamily="34" charset="0"/>
                <a:ea typeface="Red Hat Text" pitchFamily="34" charset="-122"/>
                <a:cs typeface="Red Hat Text" pitchFamily="34" charset="-120"/>
              </a:rPr>
              <a:t>One route sequences every step; reading it top to bottom is reading the business process.</a:t>
            </a:r>
            <a:endParaRPr lang="en-US" sz="1300" dirty="0"/>
          </a:p>
        </p:txBody>
      </p:sp>
      <p:sp>
        <p:nvSpPr>
          <p:cNvPr id="9" name="Text 7"/>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10"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THREE ENGINES</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Engine 3: Quarkus Flow</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The same two steps, declared</a:t>
            </a:r>
            <a:endParaRPr lang="en-US" sz="1700" dirty="0"/>
          </a:p>
        </p:txBody>
      </p:sp>
      <p:sp>
        <p:nvSpPr>
          <p:cNvPr id="5" name="Shape 3"/>
          <p:cNvSpPr/>
          <p:nvPr/>
        </p:nvSpPr>
        <p:spPr>
          <a:xfrm>
            <a:off x="640080" y="1920240"/>
            <a:ext cx="10911535" cy="3520440"/>
          </a:xfrm>
          <a:prstGeom prst="roundRect">
            <a:avLst>
              <a:gd name="adj" fmla="val 3117"/>
            </a:avLst>
          </a:prstGeom>
          <a:solidFill>
            <a:srgbClr val="1A1A1A"/>
          </a:solidFill>
          <a:ln/>
          <a:effectLst>
            <a:outerShdw sx="100000" sy="100000" kx="0" ky="0" algn="bl" rotWithShape="0" blurRad="101600" dist="38100" dir="5400000">
              <a:srgbClr val="000000">
                <a:alpha val="16000"/>
              </a:srgbClr>
            </a:outerShdw>
          </a:effectLst>
        </p:spPr>
      </p:sp>
      <p:sp>
        <p:nvSpPr>
          <p:cNvPr id="6" name="Text 4"/>
          <p:cNvSpPr/>
          <p:nvPr/>
        </p:nvSpPr>
        <p:spPr>
          <a:xfrm>
            <a:off x="8625535" y="2048256"/>
            <a:ext cx="2743200" cy="256032"/>
          </a:xfrm>
          <a:prstGeom prst="rect">
            <a:avLst/>
          </a:prstGeom>
          <a:noFill/>
          <a:ln/>
        </p:spPr>
        <p:txBody>
          <a:bodyPr wrap="square" lIns="0" tIns="0" rIns="0" bIns="0" rtlCol="0" anchor="ctr"/>
          <a:lstStyle/>
          <a:p>
            <a:pPr algn="r" indent="0" marL="0">
              <a:buNone/>
            </a:pPr>
            <a:r>
              <a:rPr lang="en-US" sz="1100" dirty="0">
                <a:solidFill>
                  <a:srgbClr val="8A8A8A"/>
                </a:solidFill>
                <a:latin typeface="Red Hat Mono" pitchFamily="34" charset="0"/>
                <a:ea typeface="Red Hat Mono" pitchFamily="34" charset="-122"/>
                <a:cs typeface="Red Hat Mono" pitchFamily="34" charset="-120"/>
              </a:rPr>
              <a:t>Java · Quarkus Flow (CNCF Serverless Workflow) · POST /api/orders/triage-flow</a:t>
            </a:r>
            <a:endParaRPr lang="en-US" sz="1100" dirty="0"/>
          </a:p>
        </p:txBody>
      </p:sp>
      <p:sp>
        <p:nvSpPr>
          <p:cNvPr id="7" name="Text 5"/>
          <p:cNvSpPr/>
          <p:nvPr/>
        </p:nvSpPr>
        <p:spPr>
          <a:xfrm>
            <a:off x="960120" y="2304288"/>
            <a:ext cx="10271455" cy="2907792"/>
          </a:xfrm>
          <a:prstGeom prst="rect">
            <a:avLst/>
          </a:prstGeom>
          <a:noFill/>
          <a:ln/>
        </p:spPr>
        <p:txBody>
          <a:bodyPr wrap="square" lIns="0" tIns="0" rIns="0" bIns="0" rtlCol="0" anchor="t"/>
          <a:lstStyle/>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return FlowWorkflowBuilder.workflow("order-triage")</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.tasks(</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FlowDSL.function("classify", triageService::classify),</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FlowDSL.function("decide", triageService::decide))</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.build();</a:t>
            </a:r>
            <a:endParaRPr lang="en-US" sz="1300" dirty="0"/>
          </a:p>
        </p:txBody>
      </p:sp>
      <p:sp>
        <p:nvSpPr>
          <p:cNvPr id="8" name="Text 6"/>
          <p:cNvSpPr/>
          <p:nvPr/>
        </p:nvSpPr>
        <p:spPr>
          <a:xfrm>
            <a:off x="640080" y="5605272"/>
            <a:ext cx="10911535" cy="731520"/>
          </a:xfrm>
          <a:prstGeom prst="rect">
            <a:avLst/>
          </a:prstGeom>
          <a:noFill/>
          <a:ln/>
        </p:spPr>
        <p:txBody>
          <a:bodyPr wrap="square" lIns="0" tIns="0" rIns="0" bIns="0" rtlCol="0" anchor="t"/>
          <a:lstStyle/>
          <a:p>
            <a:pPr indent="0" marL="0">
              <a:buNone/>
            </a:pPr>
            <a:r>
              <a:rPr lang="en-US" sz="1300" i="1" dirty="0">
                <a:solidFill>
                  <a:srgbClr val="5A5A5A"/>
                </a:solidFill>
                <a:latin typeface="Red Hat Text" pitchFamily="34" charset="0"/>
                <a:ea typeface="Red Hat Text" pitchFamily="34" charset="-122"/>
                <a:cs typeface="Red Hat Text" pitchFamily="34" charset="-120"/>
              </a:rPr>
              <a:t>A declarative coordinator: a workflow definition shaped like a CNCF Serverless Workflow document, not imperative route code.</a:t>
            </a:r>
            <a:endParaRPr lang="en-US" sz="1300" dirty="0"/>
          </a:p>
        </p:txBody>
      </p:sp>
      <p:sp>
        <p:nvSpPr>
          <p:cNvPr id="9" name="Text 7"/>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10"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THREE ENGINES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When to reach for which</a:t>
            </a:r>
            <a:endParaRPr lang="en-US" sz="3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5455768"/>
                <a:gridCol w="5455768"/>
              </a:tblGrid>
              <a:tr h="457200">
                <a:tc>
                  <a:txBody>
                    <a:bodyPr/>
                    <a:lstStyle/>
                    <a:p>
                      <a:pPr algn="l" indent="0" marL="0">
                        <a:buNone/>
                      </a:pPr>
                      <a:r>
                        <a:rPr lang="en-US" sz="1400" b="1" dirty="0">
                          <a:solidFill>
                            <a:srgbClr val="FFFFFF"/>
                          </a:solidFill>
                          <a:latin typeface="Red Hat Text" pitchFamily="34" charset="0"/>
                          <a:ea typeface="Red Hat Text" pitchFamily="34" charset="-122"/>
                          <a:cs typeface="Red Hat Text" pitchFamily="34" charset="-120"/>
                        </a:rPr>
                        <a:t>Engine</a:t>
                      </a:r>
                      <a:endParaRPr lang="en-US" sz="14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EE0000"/>
                    </a:solidFill>
                  </a:tcPr>
                </a:tc>
                <a:tc>
                  <a:txBody>
                    <a:bodyPr/>
                    <a:lstStyle/>
                    <a:p>
                      <a:pPr algn="l" indent="0" marL="0">
                        <a:buNone/>
                      </a:pPr>
                      <a:r>
                        <a:rPr lang="en-US" sz="1400" b="1" dirty="0">
                          <a:solidFill>
                            <a:srgbClr val="FFFFFF"/>
                          </a:solidFill>
                          <a:latin typeface="Red Hat Text" pitchFamily="34" charset="0"/>
                          <a:ea typeface="Red Hat Text" pitchFamily="34" charset="-122"/>
                          <a:cs typeface="Red Hat Text" pitchFamily="34" charset="-120"/>
                        </a:rPr>
                        <a:t>Reach for it when</a:t>
                      </a:r>
                      <a:endParaRPr lang="en-US" sz="14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EE0000"/>
                    </a:solidFill>
                  </a:tcPr>
                </a:tc>
              </a:tr>
              <a:tr h="457200">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Choreography</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Reactions are independent and the set of subscribers is growing or unknown.</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Camel orchestration</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E3E3"/>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process needs full imperative control: branching, EIPs, code review as the artifact.</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E3E3"/>
                    </a:solidFill>
                  </a:tcPr>
                </a:tc>
              </a:tr>
              <a:tr h="457200">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Quarkus Flow</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same fixed process is better reviewed, versioned, or edited as a document than as a Java release.</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bl>
          </a:graphicData>
        </a:graphic>
      </p:graphicFrame>
      <p:sp>
        <p:nvSpPr>
          <p:cNvPr id="5" name="Text 2"/>
          <p:cNvSpPr/>
          <p:nvPr/>
        </p:nvSpPr>
        <p:spPr>
          <a:xfrm>
            <a:off x="640080" y="5897880"/>
            <a:ext cx="10911535" cy="411480"/>
          </a:xfrm>
          <a:prstGeom prst="rect">
            <a:avLst/>
          </a:prstGeom>
          <a:noFill/>
          <a:ln/>
        </p:spPr>
        <p:txBody>
          <a:bodyPr wrap="square" lIns="0" tIns="0" rIns="0" bIns="0" rtlCol="0" anchor="t"/>
          <a:lstStyle/>
          <a:p>
            <a:pPr indent="0" marL="0">
              <a:buNone/>
            </a:pPr>
            <a:r>
              <a:rPr lang="en-US" sz="1300" i="1" dirty="0">
                <a:solidFill>
                  <a:srgbClr val="5A5A5A"/>
                </a:solidFill>
                <a:latin typeface="Red Hat Text" pitchFamily="34" charset="0"/>
                <a:ea typeface="Red Hat Text" pitchFamily="34" charset="-122"/>
                <a:cs typeface="Red Hat Text" pitchFamily="34" charset="-120"/>
              </a:rPr>
              <a:t>All three paths reach the same TriageService.classify and decide methods; Drools makes the business decision.</a:t>
            </a:r>
            <a:endParaRPr lang="en-US" sz="130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7"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THREE ENGINES</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All three engines, back to back</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Choreography, Camel, and Quarkus Flow on one domain</a:t>
            </a:r>
            <a:endParaRPr lang="en-US" sz="1700" dirty="0"/>
          </a:p>
        </p:txBody>
      </p:sp>
      <p:sp>
        <p:nvSpPr>
          <p:cNvPr id="5" name="Text 3"/>
          <p:cNvSpPr/>
          <p:nvPr/>
        </p:nvSpPr>
        <p:spPr>
          <a:xfrm>
            <a:off x="640080" y="1965960"/>
            <a:ext cx="10911535" cy="4114800"/>
          </a:xfrm>
          <a:prstGeom prst="rect">
            <a:avLst/>
          </a:prstGeom>
          <a:noFill/>
          <a:ln/>
        </p:spPr>
        <p:txBody>
          <a:bodyPr wrap="square" lIns="0" tIns="0" rIns="0" bIns="0" rtlCol="0" anchor="t"/>
          <a:lstStyle/>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Act 1, choreography:</a:t>
            </a:r>
            <a:r>
              <a:rPr lang="en-US" sz="1600" dirty="0">
                <a:solidFill>
                  <a:srgbClr val="242424"/>
                </a:solidFill>
                <a:latin typeface="Red Hat Text" pitchFamily="34" charset="0"/>
                <a:ea typeface="Red Hat Text" pitchFamily="34" charset="-122"/>
                <a:cs typeface="Red Hat Text" pitchFamily="34" charset="-120"/>
              </a:rPr>
              <a:t> places one order, polls each downstream topic with a byte-level consumer, and asserts the Avro magic byte on every hop.</a:t>
            </a:r>
            <a:endParaRPr lang="en-US" sz="1600" dirty="0"/>
          </a:p>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Act 2, Camel:</a:t>
            </a:r>
            <a:r>
              <a:rPr lang="en-US" sz="1600" dirty="0">
                <a:solidFill>
                  <a:srgbClr val="242424"/>
                </a:solidFill>
                <a:latin typeface="Red Hat Text" pitchFamily="34" charset="0"/>
                <a:ea typeface="Red Hat Text" pitchFamily="34" charset="-122"/>
                <a:cs typeface="Red Hat Text" pitchFamily="34" charset="-120"/>
              </a:rPr>
              <a:t> posts to /triage and asserts the strict decision ROUTE_TO_WAREHOUSE for a pre-validated, stable low-risk input.</a:t>
            </a:r>
            <a:endParaRPr lang="en-US" sz="1600" dirty="0"/>
          </a:p>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Act 3, Quarkus Flow:</a:t>
            </a:r>
            <a:r>
              <a:rPr lang="en-US" sz="1600" dirty="0">
                <a:solidFill>
                  <a:srgbClr val="242424"/>
                </a:solidFill>
                <a:latin typeface="Red Hat Text" pitchFamily="34" charset="0"/>
                <a:ea typeface="Red Hat Text" pitchFamily="34" charset="-122"/>
                <a:cs typeface="Red Hat Text" pitchFamily="34" charset="-120"/>
              </a:rPr>
              <a:t> posts the same input to /triage-flow and asserts the same decision, showing both shapes drive the same logic.</a:t>
            </a:r>
            <a:endParaRPr lang="en-US" sz="1600" dirty="0"/>
          </a:p>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Known limit:</a:t>
            </a:r>
            <a:r>
              <a:rPr lang="en-US" sz="1600" dirty="0">
                <a:solidFill>
                  <a:srgbClr val="151515"/>
                </a:solidFill>
                <a:latin typeface="Red Hat Text" pitchFamily="34" charset="0"/>
                <a:ea typeface="Red Hat Text" pitchFamily="34" charset="-122"/>
                <a:cs typeface="Red Hat Text" pitchFamily="34" charset="-120"/>
              </a:rPr>
              <a:t> the acts share a domain and a comparison, not one order flowing through all three.</a:t>
            </a:r>
            <a:endParaRPr lang="en-US" sz="1600" dirty="0"/>
          </a:p>
        </p:txBody>
      </p:sp>
      <p:sp>
        <p:nvSpPr>
          <p:cNvPr id="6" name="Text 4"/>
          <p:cNvSpPr/>
          <p:nvPr/>
        </p:nvSpPr>
        <p:spPr>
          <a:xfrm>
            <a:off x="1463040" y="6428232"/>
            <a:ext cx="6858000" cy="228600"/>
          </a:xfrm>
          <a:prstGeom prst="rect">
            <a:avLst/>
          </a:prstGeom>
          <a:noFill/>
          <a:ln/>
        </p:spPr>
        <p:txBody>
          <a:bodyPr wrap="square" lIns="0" tIns="0" rIns="0" bIns="0" rtlCol="0" anchor="ctr"/>
          <a:lstStyle/>
          <a:p>
            <a:pPr algn="l" indent="0" marL="0">
              <a:buNone/>
            </a:pPr>
            <a:r>
              <a:rPr lang="en-US" sz="800" dirty="0">
                <a:solidFill>
                  <a:srgbClr val="8A8A8A"/>
                </a:solidFill>
                <a:latin typeface="Red Hat Mono" pitchFamily="34" charset="0"/>
                <a:ea typeface="Red Hat Mono" pitchFamily="34" charset="-122"/>
                <a:cs typeface="Red Hat Mono" pitchFamily="34" charset="-120"/>
              </a:rPr>
              <a:t>Demo script: demos/demo-orchestration-styles.sh</a:t>
            </a:r>
            <a:endParaRPr lang="en-US" sz="800" dirty="0"/>
          </a:p>
        </p:txBody>
      </p:sp>
      <p:sp>
        <p:nvSpPr>
          <p:cNvPr id="7"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8"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04</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AI + rules triage</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An LLM extracts structured fields; a deterministic Drools rule set makes the business decision.</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AI + RULES TRIAGE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Ollama classifies, Drools decides</a:t>
            </a:r>
            <a:endParaRPr lang="en-US" sz="3000" dirty="0"/>
          </a:p>
        </p:txBody>
      </p:sp>
      <p:pic>
        <p:nvPicPr>
          <p:cNvPr id="4" name="Image 0" descr="dpng/14-ai-rules-triage.png">    </p:cNvPr>
          <p:cNvPicPr>
            <a:picLocks noChangeAspect="1"/>
          </p:cNvPicPr>
          <p:nvPr/>
        </p:nvPicPr>
        <p:blipFill>
          <a:blip r:embed="rId1"/>
          <a:stretch>
            <a:fillRect/>
          </a:stretch>
        </p:blipFill>
        <p:spPr>
          <a:xfrm>
            <a:off x="1954192" y="1645920"/>
            <a:ext cx="8283312"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classify (Ollama qwen2.5:3b) produces category, priority, and riskSignal; decide (a Drools KieSession firing order-triage.drl) returns FRAUD_HOLD, EXPEDITE, or ROUTE_TO_WAREHOUSE. A separate branch shows where in-process tool calling breaks and where the MCP server path works.</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AI + RULES TRIAGE</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Single-shot classification</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One LLM call, outside the tool-calling limitation</a:t>
            </a:r>
            <a:endParaRPr lang="en-US" sz="1700" dirty="0"/>
          </a:p>
        </p:txBody>
      </p:sp>
      <p:sp>
        <p:nvSpPr>
          <p:cNvPr id="5" name="Text 3"/>
          <p:cNvSpPr/>
          <p:nvPr/>
        </p:nvSpPr>
        <p:spPr>
          <a:xfrm>
            <a:off x="640080" y="1965960"/>
            <a:ext cx="10911535" cy="4114800"/>
          </a:xfrm>
          <a:prstGeom prst="rect">
            <a:avLst/>
          </a:prstGeom>
          <a:noFill/>
          <a:ln/>
        </p:spPr>
        <p:txBody>
          <a:bodyPr wrap="square" lIns="0" tIns="0" rIns="0" bIns="0" rtlCol="0" anchor="t"/>
          <a:lstStyle/>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ai-mcp-service's</a:t>
            </a:r>
            <a:r>
              <a:rPr lang="en-US" sz="1600" dirty="0">
                <a:solidFill>
                  <a:srgbClr val="242424"/>
                </a:solidFill>
                <a:latin typeface="Red Hat Text" pitchFamily="34" charset="0"/>
                <a:ea typeface="Red Hat Text" pitchFamily="34" charset="-122"/>
                <a:cs typeface="Red Hat Text" pitchFamily="34" charset="-120"/>
              </a:rPr>
              <a:t> OrderClassifierRoute exposes POST /api/orders/classify, a single-shot langchain4j chat call (CHAT_SINGLE_MESSAGE_WITH_PROMPT). It is not an agent and does not call tools.</a:t>
            </a:r>
            <a:endParaRPr lang="en-US" sz="1600" dirty="0"/>
          </a:p>
          <a:p>
            <a:pPr lvl="1" marL="457200" indent="-228600">
              <a:spcAft>
                <a:spcPts val="8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The tool-calling limitation lives in a separate path (OrderLookupToolRoute and OrderAssistantRoute) that this demo never touches.</a:t>
            </a:r>
            <a:endParaRPr lang="en-US" sz="1600" dirty="0"/>
          </a:p>
          <a:p>
            <a:pPr lvl="1" marL="457200" indent="-228600">
              <a:spcAft>
                <a:spcPts val="800"/>
              </a:spcAft>
              <a:buSzPct val="100000"/>
              <a:buChar char="•"/>
            </a:pPr>
            <a:r>
              <a:rPr lang="en-US" sz="1500" dirty="0">
                <a:solidFill>
                  <a:srgbClr val="5A5A5A"/>
                </a:solidFill>
                <a:latin typeface="Red Hat Text" pitchFamily="34" charset="0"/>
                <a:ea typeface="Red Hat Text" pitchFamily="34" charset="-122"/>
                <a:cs typeface="Red Hat Text" pitchFamily="34" charset="-120"/>
              </a:rPr>
              <a:t>It needed its own fix: a misnamed prompt-template header and the default operation mode made the model chat about the order instead of classifying it.</a:t>
            </a:r>
            <a:endParaRPr lang="en-US" sz="1600" dirty="0"/>
          </a:p>
        </p:txBody>
      </p:sp>
      <p:sp>
        <p:nvSpPr>
          <p:cNvPr id="6" name="Text 4"/>
          <p:cNvSpPr/>
          <p:nvPr/>
        </p:nvSpPr>
        <p:spPr>
          <a:xfrm>
            <a:off x="1463040" y="6428232"/>
            <a:ext cx="6858000" cy="228600"/>
          </a:xfrm>
          <a:prstGeom prst="rect">
            <a:avLst/>
          </a:prstGeom>
          <a:noFill/>
          <a:ln/>
        </p:spPr>
        <p:txBody>
          <a:bodyPr wrap="square" lIns="0" tIns="0" rIns="0" bIns="0" rtlCol="0" anchor="ctr"/>
          <a:lstStyle/>
          <a:p>
            <a:pPr algn="l" indent="0" marL="0">
              <a:buNone/>
            </a:pPr>
            <a:r>
              <a:rPr lang="en-US" sz="800" dirty="0">
                <a:solidFill>
                  <a:srgbClr val="8A8A8A"/>
                </a:solidFill>
                <a:latin typeface="Red Hat Mono" pitchFamily="34" charset="0"/>
                <a:ea typeface="Red Hat Mono" pitchFamily="34" charset="-122"/>
                <a:cs typeface="Red Hat Mono" pitchFamily="34" charset="-120"/>
              </a:rPr>
              <a:t>Demo script: demos/demo-ai-classify.sh</a:t>
            </a:r>
            <a:endParaRPr lang="en-US" sz="800" dirty="0"/>
          </a:p>
        </p:txBody>
      </p:sp>
      <p:sp>
        <p:nvSpPr>
          <p:cNvPr id="7"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38</a:t>
            </a:r>
            <a:endParaRPr lang="en-US" sz="1000" dirty="0"/>
          </a:p>
        </p:txBody>
      </p:sp>
      <p:pic>
        <p:nvPicPr>
          <p:cNvPr id="8"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AI + RULES TRIAGE</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AI and rules showcase</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The same decision from both orchestration paths</a:t>
            </a:r>
            <a:endParaRPr lang="en-US" sz="1700" dirty="0"/>
          </a:p>
        </p:txBody>
      </p:sp>
      <p:sp>
        <p:nvSpPr>
          <p:cNvPr id="5" name="Text 3"/>
          <p:cNvSpPr/>
          <p:nvPr/>
        </p:nvSpPr>
        <p:spPr>
          <a:xfrm>
            <a:off x="640080" y="1965960"/>
            <a:ext cx="10911535" cy="4114800"/>
          </a:xfrm>
          <a:prstGeom prst="rect">
            <a:avLst/>
          </a:prstGeom>
          <a:noFill/>
          <a:ln/>
        </p:spPr>
        <p:txBody>
          <a:bodyPr wrap="square" lIns="0" tIns="0" rIns="0" bIns="0" rtlCol="0" anchor="t"/>
          <a:lstStyle/>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POST /api/orders/triage</a:t>
            </a:r>
            <a:r>
              <a:rPr lang="en-US" sz="1600" dirty="0">
                <a:solidFill>
                  <a:srgbClr val="242424"/>
                </a:solidFill>
                <a:latin typeface="Red Hat Text" pitchFamily="34" charset="0"/>
                <a:ea typeface="Red Hat Text" pitchFamily="34" charset="-122"/>
                <a:cs typeface="Red Hat Text" pitchFamily="34" charset="-120"/>
              </a:rPr>
              <a:t> (Camel) and /triage-flow (Quarkus Flow) run the same pipeline: Ollama classifies, a Drools KieSession fires order-triage.drl and decides.</a:t>
            </a:r>
            <a:endParaRPr lang="en-US" sz="1600" dirty="0"/>
          </a:p>
          <a:p>
            <a:pPr lvl="1" marL="457200" indent="-228600">
              <a:spcAft>
                <a:spcPts val="8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Three salience-guarded rules: FRAUD_HOLD (HIGH risk signal), EXPEDITE (amount ≥ 1000 with LOW risk), ROUTE_TO_WAREHOUSE (default). The model never makes the business call.</a:t>
            </a:r>
            <a:endParaRPr lang="en-US" sz="1600" dirty="0"/>
          </a:p>
          <a:p>
            <a:pPr lvl="1" marL="457200" indent="-228600">
              <a:spcAft>
                <a:spcPts val="8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Three inputs, sampled against the live model until their classification was stable, assert the exact expected decision on both endpoints.</a:t>
            </a:r>
            <a:endParaRPr lang="en-US" sz="1600" dirty="0"/>
          </a:p>
        </p:txBody>
      </p:sp>
      <p:sp>
        <p:nvSpPr>
          <p:cNvPr id="6" name="Text 4"/>
          <p:cNvSpPr/>
          <p:nvPr/>
        </p:nvSpPr>
        <p:spPr>
          <a:xfrm>
            <a:off x="1463040" y="6428232"/>
            <a:ext cx="6858000" cy="228600"/>
          </a:xfrm>
          <a:prstGeom prst="rect">
            <a:avLst/>
          </a:prstGeom>
          <a:noFill/>
          <a:ln/>
        </p:spPr>
        <p:txBody>
          <a:bodyPr wrap="square" lIns="0" tIns="0" rIns="0" bIns="0" rtlCol="0" anchor="ctr"/>
          <a:lstStyle/>
          <a:p>
            <a:pPr algn="l" indent="0" marL="0">
              <a:buNone/>
            </a:pPr>
            <a:r>
              <a:rPr lang="en-US" sz="800" dirty="0">
                <a:solidFill>
                  <a:srgbClr val="8A8A8A"/>
                </a:solidFill>
                <a:latin typeface="Red Hat Mono" pitchFamily="34" charset="0"/>
                <a:ea typeface="Red Hat Mono" pitchFamily="34" charset="-122"/>
                <a:cs typeface="Red Hat Mono" pitchFamily="34" charset="-120"/>
              </a:rPr>
              <a:t>Demo script: demos/demo-ai-triage.sh</a:t>
            </a:r>
            <a:endParaRPr lang="en-US" sz="800" dirty="0"/>
          </a:p>
        </p:txBody>
      </p:sp>
      <p:sp>
        <p:nvSpPr>
          <p:cNvPr id="7"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8"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AI + RULES TRIAGE</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Camel EIP routing, tested in isolation</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Content-based router verified independently of tool calling</a:t>
            </a:r>
            <a:endParaRPr lang="en-US" sz="1700" dirty="0"/>
          </a:p>
        </p:txBody>
      </p:sp>
      <p:sp>
        <p:nvSpPr>
          <p:cNvPr id="5" name="Text 3"/>
          <p:cNvSpPr/>
          <p:nvPr/>
        </p:nvSpPr>
        <p:spPr>
          <a:xfrm>
            <a:off x="640080" y="1965960"/>
            <a:ext cx="10911535" cy="4114800"/>
          </a:xfrm>
          <a:prstGeom prst="rect">
            <a:avLst/>
          </a:prstGeom>
          <a:noFill/>
          <a:ln/>
        </p:spPr>
        <p:txBody>
          <a:bodyPr wrap="square" lIns="0" tIns="0" rIns="0" bIns="0" rtlCol="0" anchor="t"/>
          <a:lstStyle/>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OrderLookupToolRoute</a:t>
            </a:r>
            <a:r>
              <a:rPr lang="en-US" sz="1600" dirty="0">
                <a:solidFill>
                  <a:srgbClr val="242424"/>
                </a:solidFill>
                <a:latin typeface="Red Hat Text" pitchFamily="34" charset="0"/>
                <a:ea typeface="Red Hat Text" pitchFamily="34" charset="-122"/>
                <a:cs typeface="Red Hat Text" pitchFamily="34" charset="-120"/>
              </a:rPr>
              <a:t> is a Content-Based Router EIP (.choice(), three .when(), .otherwise()) that inspects an orderId and returns one of four static response bodies.</a:t>
            </a:r>
            <a:endParaRPr lang="en-US" sz="1600" dirty="0"/>
          </a:p>
          <a:p>
            <a:pPr lvl="1" marL="457200" indent="-228600">
              <a:spcAft>
                <a:spcPts val="8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The demo reaches it through the same MCP server surface as demo-ai-mcp.sh and asserts all four branches, including the .otherwise() fallback for an unknown id.</a:t>
            </a:r>
            <a:endParaRPr lang="en-US" sz="1600" dirty="0"/>
          </a:p>
          <a:p>
            <a:pPr marL="228600" indent="-228600">
              <a:spcBef>
                <a:spcPts val="400"/>
              </a:spcBef>
              <a:spcAft>
                <a:spcPts val="1400"/>
              </a:spcAft>
              <a:buSzPct val="100000"/>
              <a:buChar char="•"/>
            </a:pPr>
            <a:r>
              <a:rPr lang="en-US" sz="1600" dirty="0">
                <a:solidFill>
                  <a:srgbClr val="151515"/>
                </a:solidFill>
                <a:latin typeface="Red Hat Text" pitchFamily="34" charset="0"/>
                <a:ea typeface="Red Hat Text" pitchFamily="34" charset="-122"/>
                <a:cs typeface="Red Hat Text" pitchFamily="34" charset="-120"/>
              </a:rPr>
              <a:t>The routing logic is correct regardless of whether in-process tool calling works.</a:t>
            </a:r>
            <a:endParaRPr lang="en-US" sz="1600" dirty="0"/>
          </a:p>
        </p:txBody>
      </p:sp>
      <p:sp>
        <p:nvSpPr>
          <p:cNvPr id="6" name="Text 4"/>
          <p:cNvSpPr/>
          <p:nvPr/>
        </p:nvSpPr>
        <p:spPr>
          <a:xfrm>
            <a:off x="1463040" y="6428232"/>
            <a:ext cx="6858000" cy="228600"/>
          </a:xfrm>
          <a:prstGeom prst="rect">
            <a:avLst/>
          </a:prstGeom>
          <a:noFill/>
          <a:ln/>
        </p:spPr>
        <p:txBody>
          <a:bodyPr wrap="square" lIns="0" tIns="0" rIns="0" bIns="0" rtlCol="0" anchor="ctr"/>
          <a:lstStyle/>
          <a:p>
            <a:pPr algn="l" indent="0" marL="0">
              <a:buNone/>
            </a:pPr>
            <a:r>
              <a:rPr lang="en-US" sz="800" dirty="0">
                <a:solidFill>
                  <a:srgbClr val="8A8A8A"/>
                </a:solidFill>
                <a:latin typeface="Red Hat Mono" pitchFamily="34" charset="0"/>
                <a:ea typeface="Red Hat Mono" pitchFamily="34" charset="-122"/>
                <a:cs typeface="Red Hat Mono" pitchFamily="34" charset="-120"/>
              </a:rPr>
              <a:t>Demo script: demos/demo-camel-integration.sh</a:t>
            </a:r>
            <a:endParaRPr lang="en-US" sz="800" dirty="0"/>
          </a:p>
        </p:txBody>
      </p:sp>
      <p:sp>
        <p:nvSpPr>
          <p:cNvPr id="7"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8"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AI + RULES TRIAGE</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Tool calling through the MCP server</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The working path alongside a known limitation</a:t>
            </a:r>
            <a:endParaRPr lang="en-US" sz="1700" dirty="0"/>
          </a:p>
        </p:txBody>
      </p:sp>
      <p:sp>
        <p:nvSpPr>
          <p:cNvPr id="5" name="Text 3"/>
          <p:cNvSpPr/>
          <p:nvPr/>
        </p:nvSpPr>
        <p:spPr>
          <a:xfrm>
            <a:off x="640080" y="1965960"/>
            <a:ext cx="10911535" cy="4114800"/>
          </a:xfrm>
          <a:prstGeom prst="rect">
            <a:avLst/>
          </a:prstGeom>
          <a:noFill/>
          <a:ln/>
        </p:spPr>
        <p:txBody>
          <a:bodyPr wrap="square" lIns="0" tIns="0" rIns="0" bIns="0" rtlCol="0" anchor="t"/>
          <a:lstStyle/>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Known limitation:</a:t>
            </a:r>
            <a:r>
              <a:rPr lang="en-US" sz="1600" dirty="0">
                <a:solidFill>
                  <a:srgbClr val="242424"/>
                </a:solidFill>
                <a:latin typeface="Red Hat Text" pitchFamily="34" charset="0"/>
                <a:ea typeface="Red Hat Text" pitchFamily="34" charset="-122"/>
                <a:cs typeface="Red Hat Text" pitchFamily="34" charset="-120"/>
              </a:rPr>
              <a:t> in-process langchain4j agent tool calling does not fire on this stack. The cause is a transport-wiring defect in camel-quarkus-support-langchain4j, not model capability.</a:t>
            </a:r>
            <a:endParaRPr lang="en-US" sz="1600" dirty="0"/>
          </a:p>
          <a:p>
            <a:pPr lvl="1" marL="457200" indent="-228600">
              <a:spcAft>
                <a:spcPts val="8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The demo</a:t>
            </a:r>
            <a:r>
              <a:rPr lang="en-US" sz="1500" dirty="0">
                <a:solidFill>
                  <a:srgbClr val="5A5A5A"/>
                </a:solidFill>
                <a:latin typeface="Red Hat Text" pitchFamily="34" charset="0"/>
                <a:ea typeface="Red Hat Text" pitchFamily="34" charset="-122"/>
                <a:cs typeface="Red Hat Text" pitchFamily="34" charset="-120"/>
              </a:rPr>
              <a:t> never calls POST /api/assistant/chat and prints a banner before running anything.</a:t>
            </a:r>
            <a:endParaRPr lang="en-US" sz="1600" dirty="0"/>
          </a:p>
          <a:p>
            <a:pPr lvl="1" marL="457200" indent="-228600">
              <a:spcAft>
                <a:spcPts val="8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What works:</a:t>
            </a:r>
            <a:r>
              <a:rPr lang="en-US" sz="1500" dirty="0">
                <a:solidFill>
                  <a:srgbClr val="5A5A5A"/>
                </a:solidFill>
                <a:latin typeface="Red Hat Text" pitchFamily="34" charset="0"/>
                <a:ea typeface="Red Hat Text" pitchFamily="34" charset="-122"/>
                <a:cs typeface="Red Hat Text" pitchFamily="34" charset="-120"/>
              </a:rPr>
              <a:t> the embedded Camel MCP server, a separate code path with no langchain4j agent. It speaks MCP Streamable HTTP and JSON-RPC 2.0: initialize, tools/list, tools/call(order-status) for ORD-001, 002, 003.</a:t>
            </a:r>
            <a:endParaRPr lang="en-US" sz="1600" dirty="0"/>
          </a:p>
        </p:txBody>
      </p:sp>
      <p:sp>
        <p:nvSpPr>
          <p:cNvPr id="6" name="Text 4"/>
          <p:cNvSpPr/>
          <p:nvPr/>
        </p:nvSpPr>
        <p:spPr>
          <a:xfrm>
            <a:off x="1463040" y="6428232"/>
            <a:ext cx="6858000" cy="228600"/>
          </a:xfrm>
          <a:prstGeom prst="rect">
            <a:avLst/>
          </a:prstGeom>
          <a:noFill/>
          <a:ln/>
        </p:spPr>
        <p:txBody>
          <a:bodyPr wrap="square" lIns="0" tIns="0" rIns="0" bIns="0" rtlCol="0" anchor="ctr"/>
          <a:lstStyle/>
          <a:p>
            <a:pPr algn="l" indent="0" marL="0">
              <a:buNone/>
            </a:pPr>
            <a:r>
              <a:rPr lang="en-US" sz="800" dirty="0">
                <a:solidFill>
                  <a:srgbClr val="8A8A8A"/>
                </a:solidFill>
                <a:latin typeface="Red Hat Mono" pitchFamily="34" charset="0"/>
                <a:ea typeface="Red Hat Mono" pitchFamily="34" charset="-122"/>
                <a:cs typeface="Red Hat Mono" pitchFamily="34" charset="-120"/>
              </a:rPr>
              <a:t>Demo script: demos/demo-ai-mcp.sh</a:t>
            </a:r>
            <a:endParaRPr lang="en-US" sz="800" dirty="0"/>
          </a:p>
        </p:txBody>
      </p:sp>
      <p:sp>
        <p:nvSpPr>
          <p:cNvPr id="7"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41</a:t>
            </a:r>
            <a:endParaRPr lang="en-US" sz="1000" dirty="0"/>
          </a:p>
        </p:txBody>
      </p:sp>
      <p:pic>
        <p:nvPicPr>
          <p:cNvPr id="8"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05</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Quarkus vs. Spring Boot</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The same order-service data product, rebuilt as a Spring Boot twin and measured side by side on the JVM, with and without the AOT cache.</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VS. SPRING BOOT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Same workload, same JVM, two startup paths</a:t>
            </a:r>
            <a:endParaRPr lang="en-US" sz="3000" dirty="0"/>
          </a:p>
        </p:txBody>
      </p:sp>
      <p:pic>
        <p:nvPicPr>
          <p:cNvPr id="4" name="Image 0" descr="dpng/12-quarkus-vs-spring-boot.png">    </p:cNvPr>
          <p:cNvPicPr>
            <a:picLocks noChangeAspect="1"/>
          </p:cNvPicPr>
          <p:nvPr/>
        </p:nvPicPr>
        <p:blipFill>
          <a:blip r:embed="rId1"/>
          <a:stretch>
            <a:fillRect/>
          </a:stretch>
        </p:blipFill>
        <p:spPr>
          <a:xfrm>
            <a:off x="2353445" y="1645920"/>
            <a:ext cx="7484805"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order-service (Quarkus, build-time processing) and spring-boot-compare (Spring Boot 4.0.8, classpath scanning and reflection at startup) boot against the same throwaway postgres:18 container under identical JVM flags, each measured by its own started-log line.</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43</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VS. SPRING BOOT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numbers on the plain JVM</a:t>
            </a:r>
            <a:endParaRPr lang="en-US" sz="30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3637178"/>
                <a:gridCol w="3637178"/>
                <a:gridCol w="3637178"/>
              </a:tblGrid>
              <a:tr h="457200">
                <a:tc>
                  <a:txBody>
                    <a:bodyPr/>
                    <a:lstStyle/>
                    <a:p>
                      <a:pPr algn="l" indent="0" marL="0">
                        <a:buNone/>
                      </a:pPr>
                      <a:r>
                        <a:rPr lang="en-US" sz="1400" b="1" dirty="0">
                          <a:solidFill>
                            <a:srgbClr val="FFFFFF"/>
                          </a:solidFill>
                          <a:latin typeface="Red Hat Text" pitchFamily="34" charset="0"/>
                          <a:ea typeface="Red Hat Text" pitchFamily="34" charset="-122"/>
                          <a:cs typeface="Red Hat Text" pitchFamily="34" charset="-120"/>
                        </a:rPr>
                        <a:t>Metric</a:t>
                      </a:r>
                      <a:endParaRPr lang="en-US" sz="14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EE0000"/>
                    </a:solidFill>
                  </a:tcPr>
                </a:tc>
                <a:tc>
                  <a:txBody>
                    <a:bodyPr/>
                    <a:lstStyle/>
                    <a:p>
                      <a:pPr algn="l" indent="0" marL="0">
                        <a:buNone/>
                      </a:pPr>
                      <a:r>
                        <a:rPr lang="en-US" sz="1400" b="1" dirty="0">
                          <a:solidFill>
                            <a:srgbClr val="FFFFFF"/>
                          </a:solidFill>
                          <a:latin typeface="Red Hat Text" pitchFamily="34" charset="0"/>
                          <a:ea typeface="Red Hat Text" pitchFamily="34" charset="-122"/>
                          <a:cs typeface="Red Hat Text" pitchFamily="34" charset="-120"/>
                        </a:rPr>
                        <a:t>Quarkus order-service</a:t>
                      </a:r>
                      <a:endParaRPr lang="en-US" sz="14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EE0000"/>
                    </a:solidFill>
                  </a:tcPr>
                </a:tc>
                <a:tc>
                  <a:txBody>
                    <a:bodyPr/>
                    <a:lstStyle/>
                    <a:p>
                      <a:pPr algn="l" indent="0" marL="0">
                        <a:buNone/>
                      </a:pPr>
                      <a:r>
                        <a:rPr lang="en-US" sz="1400" b="1" dirty="0">
                          <a:solidFill>
                            <a:srgbClr val="FFFFFF"/>
                          </a:solidFill>
                          <a:latin typeface="Red Hat Text" pitchFamily="34" charset="0"/>
                          <a:ea typeface="Red Hat Text" pitchFamily="34" charset="-122"/>
                          <a:cs typeface="Red Hat Text" pitchFamily="34" charset="-120"/>
                        </a:rPr>
                        <a:t>Spring Boot twin</a:t>
                      </a:r>
                      <a:endParaRPr lang="en-US" sz="14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EE0000"/>
                    </a:solidFill>
                  </a:tcPr>
                </a:tc>
              </a:tr>
              <a:tr h="457200">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Startup (self-reported)</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2.045 s</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4.018 s</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Resident memory (RSS)</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E3E3"/>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337 MB</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E3E3"/>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548 MB</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E3E3"/>
                    </a:solidFill>
                  </a:tcPr>
                </a:tc>
              </a:tr>
              <a:tr h="457200">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Native image</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separate axis</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n/a</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Persistence idiom</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E3E3"/>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Panache active record</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E3E3"/>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Spring Data JPA</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E3E3"/>
                    </a:solidFill>
                  </a:tcPr>
                </a:tc>
              </a:tr>
            </a:tbl>
          </a:graphicData>
        </a:graphic>
      </p:graphicFrame>
      <p:sp>
        <p:nvSpPr>
          <p:cNvPr id="5" name="Text 2"/>
          <p:cNvSpPr/>
          <p:nvPr/>
        </p:nvSpPr>
        <p:spPr>
          <a:xfrm>
            <a:off x="640080" y="5897880"/>
            <a:ext cx="10911535" cy="411480"/>
          </a:xfrm>
          <a:prstGeom prst="rect">
            <a:avLst/>
          </a:prstGeom>
          <a:noFill/>
          <a:ln/>
        </p:spPr>
        <p:txBody>
          <a:bodyPr wrap="square" lIns="0" tIns="0" rIns="0" bIns="0" rtlCol="0" anchor="t"/>
          <a:lstStyle/>
          <a:p>
            <a:pPr indent="0" marL="0">
              <a:buNone/>
            </a:pPr>
            <a:r>
              <a:rPr lang="en-US" sz="1300" i="1" dirty="0">
                <a:solidFill>
                  <a:srgbClr val="5A5A5A"/>
                </a:solidFill>
                <a:latin typeface="Red Hat Text" pitchFamily="34" charset="0"/>
                <a:ea typeface="Red Hat Text" pitchFamily="34" charset="-122"/>
                <a:cs typeface="Red Hat Text" pitchFamily="34" charset="-120"/>
              </a:rPr>
              <a:t>Quarkus starts in about half the time and uses about 60% of the memory of the Spring Boot service on the same REST, JPA, Kafka/Avro, and gRPC surface.</a:t>
            </a:r>
            <a:endParaRPr lang="en-US" sz="130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44</a:t>
            </a:r>
            <a:endParaRPr lang="en-US" sz="1000" dirty="0"/>
          </a:p>
        </p:txBody>
      </p:sp>
      <p:pic>
        <p:nvPicPr>
          <p:cNvPr id="7"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VS. SPRING BOOT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With the JDK 25 AOT cache on both</a:t>
            </a:r>
            <a:endParaRPr lang="en-US" sz="30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2182307"/>
                <a:gridCol w="2182307"/>
                <a:gridCol w="2182307"/>
                <a:gridCol w="2182307"/>
                <a:gridCol w="2182307"/>
              </a:tblGrid>
              <a:tr h="457200">
                <a:tc>
                  <a:txBody>
                    <a:bodyPr/>
                    <a:lstStyle/>
                    <a:p>
                      <a:pPr algn="l" indent="0" marL="0">
                        <a:buNone/>
                      </a:pPr>
                      <a:r>
                        <a:rPr lang="en-US" sz="1400" b="1" dirty="0">
                          <a:solidFill>
                            <a:srgbClr val="FFFFFF"/>
                          </a:solidFill>
                          <a:latin typeface="Red Hat Text" pitchFamily="34" charset="0"/>
                          <a:ea typeface="Red Hat Text" pitchFamily="34" charset="-122"/>
                          <a:cs typeface="Red Hat Text" pitchFamily="34" charset="-120"/>
                        </a:rPr>
                        <a:t>Metric</a:t>
                      </a:r>
                      <a:endParaRPr lang="en-US" sz="14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EE0000"/>
                    </a:solidFill>
                  </a:tcPr>
                </a:tc>
                <a:tc>
                  <a:txBody>
                    <a:bodyPr/>
                    <a:lstStyle/>
                    <a:p>
                      <a:pPr algn="l" indent="0" marL="0">
                        <a:buNone/>
                      </a:pPr>
                      <a:r>
                        <a:rPr lang="en-US" sz="1400" b="1" dirty="0">
                          <a:solidFill>
                            <a:srgbClr val="FFFFFF"/>
                          </a:solidFill>
                          <a:latin typeface="Red Hat Text" pitchFamily="34" charset="0"/>
                          <a:ea typeface="Red Hat Text" pitchFamily="34" charset="-122"/>
                          <a:cs typeface="Red Hat Text" pitchFamily="34" charset="-120"/>
                        </a:rPr>
                        <a:t>Quarkus JVM</a:t>
                      </a:r>
                      <a:endParaRPr lang="en-US" sz="14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EE0000"/>
                    </a:solidFill>
                  </a:tcPr>
                </a:tc>
                <a:tc>
                  <a:txBody>
                    <a:bodyPr/>
                    <a:lstStyle/>
                    <a:p>
                      <a:pPr algn="l" indent="0" marL="0">
                        <a:buNone/>
                      </a:pPr>
                      <a:r>
                        <a:rPr lang="en-US" sz="1400" b="1" dirty="0">
                          <a:solidFill>
                            <a:srgbClr val="FFFFFF"/>
                          </a:solidFill>
                          <a:latin typeface="Red Hat Text" pitchFamily="34" charset="0"/>
                          <a:ea typeface="Red Hat Text" pitchFamily="34" charset="-122"/>
                          <a:cs typeface="Red Hat Text" pitchFamily="34" charset="-120"/>
                        </a:rPr>
                        <a:t>Spring Boot JVM</a:t>
                      </a:r>
                      <a:endParaRPr lang="en-US" sz="14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EE0000"/>
                    </a:solidFill>
                  </a:tcPr>
                </a:tc>
                <a:tc>
                  <a:txBody>
                    <a:bodyPr/>
                    <a:lstStyle/>
                    <a:p>
                      <a:pPr algn="l" indent="0" marL="0">
                        <a:buNone/>
                      </a:pPr>
                      <a:r>
                        <a:rPr lang="en-US" sz="1400" b="1" dirty="0">
                          <a:solidFill>
                            <a:srgbClr val="FFFFFF"/>
                          </a:solidFill>
                          <a:latin typeface="Red Hat Text" pitchFamily="34" charset="0"/>
                          <a:ea typeface="Red Hat Text" pitchFamily="34" charset="-122"/>
                          <a:cs typeface="Red Hat Text" pitchFamily="34" charset="-120"/>
                        </a:rPr>
                        <a:t>Quarkus + AOT</a:t>
                      </a:r>
                      <a:endParaRPr lang="en-US" sz="14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EE0000"/>
                    </a:solidFill>
                  </a:tcPr>
                </a:tc>
                <a:tc>
                  <a:txBody>
                    <a:bodyPr/>
                    <a:lstStyle/>
                    <a:p>
                      <a:pPr algn="l" indent="0" marL="0">
                        <a:buNone/>
                      </a:pPr>
                      <a:r>
                        <a:rPr lang="en-US" sz="1400" b="1" dirty="0">
                          <a:solidFill>
                            <a:srgbClr val="FFFFFF"/>
                          </a:solidFill>
                          <a:latin typeface="Red Hat Text" pitchFamily="34" charset="0"/>
                          <a:ea typeface="Red Hat Text" pitchFamily="34" charset="-122"/>
                          <a:cs typeface="Red Hat Text" pitchFamily="34" charset="-120"/>
                        </a:rPr>
                        <a:t>Spring Boot + AOT</a:t>
                      </a:r>
                      <a:endParaRPr lang="en-US" sz="14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EE0000"/>
                    </a:solidFill>
                  </a:tcPr>
                </a:tc>
              </a:tr>
              <a:tr h="457200">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Startup (self-reported)</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2.045 s</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4.018 s</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0.992 s</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1.021 s</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Startup (wall clock)</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E3E3"/>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2.22 s</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E3E3"/>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4.45 s</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E3E3"/>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1.21 s</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E3E3"/>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1.21 s</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E3E3"/>
                    </a:solidFill>
                  </a:tcPr>
                </a:tc>
              </a:tr>
              <a:tr h="457200">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Resident memory (RSS)</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337 MB</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548 MB</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372 MB</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446 MB</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AOT cache size</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E3E3"/>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n/a</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E3E3"/>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n/a</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E3E3"/>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103 MB</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E3E3"/>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123 MB</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E3E3"/>
                    </a:solidFill>
                  </a:tcPr>
                </a:tc>
              </a:tr>
            </a:tbl>
          </a:graphicData>
        </a:graphic>
      </p:graphicFrame>
      <p:sp>
        <p:nvSpPr>
          <p:cNvPr id="5" name="Text 2"/>
          <p:cNvSpPr/>
          <p:nvPr/>
        </p:nvSpPr>
        <p:spPr>
          <a:xfrm>
            <a:off x="640080" y="5897880"/>
            <a:ext cx="10911535" cy="411480"/>
          </a:xfrm>
          <a:prstGeom prst="rect">
            <a:avLst/>
          </a:prstGeom>
          <a:noFill/>
          <a:ln/>
        </p:spPr>
        <p:txBody>
          <a:bodyPr wrap="square" lIns="0" tIns="0" rIns="0" bIns="0" rtlCol="0" anchor="t"/>
          <a:lstStyle/>
          <a:p>
            <a:pPr indent="0" marL="0">
              <a:buNone/>
            </a:pPr>
            <a:r>
              <a:rPr lang="en-US" sz="1300" i="1" dirty="0">
                <a:solidFill>
                  <a:srgbClr val="5A5A5A"/>
                </a:solidFill>
                <a:latin typeface="Red Hat Text" pitchFamily="34" charset="0"/>
                <a:ea typeface="Red Hat Text" pitchFamily="34" charset="-122"/>
                <a:cs typeface="Red Hat Text" pitchFamily="34" charset="-120"/>
              </a:rPr>
              <a:t>Single run on Temurin JDK 25.0.3, same JDK flags on both frameworks. Indicative, not a benchmark.</a:t>
            </a:r>
            <a:endParaRPr lang="en-US" sz="1300" dirty="0"/>
          </a:p>
        </p:txBody>
      </p:sp>
      <p:sp>
        <p:nvSpPr>
          <p:cNvPr id="6" name="Text 3"/>
          <p:cNvSpPr/>
          <p:nvPr/>
        </p:nvSpPr>
        <p:spPr>
          <a:xfrm>
            <a:off x="1463040" y="6428232"/>
            <a:ext cx="6858000" cy="228600"/>
          </a:xfrm>
          <a:prstGeom prst="rect">
            <a:avLst/>
          </a:prstGeom>
          <a:noFill/>
          <a:ln/>
        </p:spPr>
        <p:txBody>
          <a:bodyPr wrap="square" lIns="0" tIns="0" rIns="0" bIns="0" rtlCol="0" anchor="ctr"/>
          <a:lstStyle/>
          <a:p>
            <a:pPr algn="l" indent="0" marL="0">
              <a:buNone/>
            </a:pPr>
            <a:r>
              <a:rPr lang="en-US" sz="800" dirty="0">
                <a:solidFill>
                  <a:srgbClr val="8A8A8A"/>
                </a:solidFill>
                <a:latin typeface="Red Hat Mono" pitchFamily="34" charset="0"/>
                <a:ea typeface="Red Hat Mono" pitchFamily="34" charset="-122"/>
                <a:cs typeface="Red Hat Mono" pitchFamily="34" charset="-120"/>
              </a:rPr>
              <a:t>Demo script: scripts/compare-quarkus-springboot.sh --aot</a:t>
            </a:r>
            <a:endParaRPr lang="en-US" sz="800" dirty="0"/>
          </a:p>
        </p:txBody>
      </p:sp>
      <p:sp>
        <p:nvSpPr>
          <p:cNvPr id="7" name="Text 4"/>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45</a:t>
            </a:r>
            <a:endParaRPr lang="en-US" sz="1000" dirty="0"/>
          </a:p>
        </p:txBody>
      </p:sp>
      <p:pic>
        <p:nvPicPr>
          <p:cNvPr id="8"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VS. SPRING BOOT</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How the AOT cache is trained and used</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Same jar, same JDK: a training run, then a production run</a:t>
            </a:r>
            <a:endParaRPr lang="en-US" sz="1700" dirty="0"/>
          </a:p>
        </p:txBody>
      </p:sp>
      <p:pic>
        <p:nvPicPr>
          <p:cNvPr id="5" name="Image 0" descr="dpng/11-aot-cache-build.png">    </p:cNvPr>
          <p:cNvPicPr>
            <a:picLocks noChangeAspect="1"/>
          </p:cNvPicPr>
          <p:nvPr/>
        </p:nvPicPr>
        <p:blipFill>
          <a:blip r:embed="rId1"/>
          <a:stretch>
            <a:fillRect/>
          </a:stretch>
        </p:blipFill>
        <p:spPr>
          <a:xfrm>
            <a:off x="2049353" y="1874520"/>
            <a:ext cx="8092989" cy="3703320"/>
          </a:xfrm>
          <a:prstGeom prst="rect">
            <a:avLst/>
          </a:prstGeom>
        </p:spPr>
      </p:pic>
      <p:sp>
        <p:nvSpPr>
          <p:cNvPr id="6" name="Text 3"/>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The training run writes the cache at exit; the production run maps it and fails fast if it is stale.</a:t>
            </a:r>
            <a:endParaRPr lang="en-US" sz="1250" dirty="0"/>
          </a:p>
        </p:txBody>
      </p:sp>
      <p:sp>
        <p:nvSpPr>
          <p:cNvPr id="7" name="Text 4"/>
          <p:cNvSpPr/>
          <p:nvPr/>
        </p:nvSpPr>
        <p:spPr>
          <a:xfrm>
            <a:off x="1463040" y="6428232"/>
            <a:ext cx="6858000" cy="228600"/>
          </a:xfrm>
          <a:prstGeom prst="rect">
            <a:avLst/>
          </a:prstGeom>
          <a:noFill/>
          <a:ln/>
        </p:spPr>
        <p:txBody>
          <a:bodyPr wrap="square" lIns="0" tIns="0" rIns="0" bIns="0" rtlCol="0" anchor="ctr"/>
          <a:lstStyle/>
          <a:p>
            <a:pPr algn="l" indent="0" marL="0">
              <a:buNone/>
            </a:pPr>
            <a:r>
              <a:rPr lang="en-US" sz="800" dirty="0">
                <a:solidFill>
                  <a:srgbClr val="8A8A8A"/>
                </a:solidFill>
                <a:latin typeface="Red Hat Mono" pitchFamily="34" charset="0"/>
                <a:ea typeface="Red Hat Mono" pitchFamily="34" charset="-122"/>
                <a:cs typeface="Red Hat Mono" pitchFamily="34" charset="-120"/>
              </a:rPr>
              <a:t>Demo script: scripts/compare-quarkus-springboot.sh --aot</a:t>
            </a:r>
            <a:endParaRPr lang="en-US" sz="800" dirty="0"/>
          </a:p>
        </p:txBody>
      </p:sp>
      <p:sp>
        <p:nvSpPr>
          <p:cNvPr id="8"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46</a:t>
            </a:r>
            <a:endParaRPr lang="en-US" sz="1000" dirty="0"/>
          </a:p>
        </p:txBody>
      </p:sp>
      <p:pic>
        <p:nvPicPr>
          <p:cNvPr id="9"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06</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Platform: self-serve, elastic, resilient</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KEDA scales two data products to demand, and to zero: the self-serve platform in action.</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PLATFORM: SELF-SERVE, ELASTIC, RESILIENT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three planes of the platform</a:t>
            </a:r>
            <a:endParaRPr lang="en-US" sz="3000" dirty="0"/>
          </a:p>
        </p:txBody>
      </p:sp>
      <p:pic>
        <p:nvPicPr>
          <p:cNvPr id="4" name="Image 0" descr="dpng/02-platform-planes.png">    </p:cNvPr>
          <p:cNvPicPr>
            <a:picLocks noChangeAspect="1"/>
          </p:cNvPicPr>
          <p:nvPr/>
        </p:nvPicPr>
        <p:blipFill>
          <a:blip r:embed="rId1"/>
          <a:stretch>
            <a:fillRect/>
          </a:stretch>
        </p:blipFill>
        <p:spPr>
          <a:xfrm>
            <a:off x="1632955" y="1645920"/>
            <a:ext cx="8925785"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External clients, the service-mesh plane running the domain services, and the self-serve platform plane underneath, with protocols labeled on every flow.</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48</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PLATFORM: SELF-SERVE, ELASTIC, RESILIENT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stock HPA vs. KEDA's two-tier model</a:t>
            </a:r>
            <a:endParaRPr lang="en-US" sz="3000" dirty="0"/>
          </a:p>
        </p:txBody>
      </p:sp>
      <p:pic>
        <p:nvPicPr>
          <p:cNvPr id="4" name="Image 0" descr="dpng/07-hpa-vs-keda.png">    </p:cNvPr>
          <p:cNvPicPr>
            <a:picLocks noChangeAspect="1"/>
          </p:cNvPicPr>
          <p:nvPr/>
        </p:nvPicPr>
        <p:blipFill>
          <a:blip r:embed="rId1"/>
          <a:stretch>
            <a:fillRect/>
          </a:stretch>
        </p:blipFill>
        <p:spPr>
          <a:xfrm>
            <a:off x="2478142" y="1645920"/>
            <a:ext cx="7235412"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The stock Kubernetes HPA scales on CPU and memory; KEDA drives an HPA from external signals (Kafka lag, HTTP rate) and handles the zero-to-one activation the HPA cannot do alone.</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49</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PLATFORM: SELF-SERVE, ELASTIC, RESILIENT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Elastic products: scale on lag, even to zero</a:t>
            </a:r>
            <a:endParaRPr lang="en-US" sz="3000" dirty="0"/>
          </a:p>
        </p:txBody>
      </p:sp>
      <p:pic>
        <p:nvPicPr>
          <p:cNvPr id="4" name="Image 0" descr="dpng/07-keda-lag.png">    </p:cNvPr>
          <p:cNvPicPr>
            <a:picLocks noChangeAspect="1"/>
          </p:cNvPicPr>
          <p:nvPr/>
        </p:nvPicPr>
        <p:blipFill>
          <a:blip r:embed="rId1"/>
          <a:stretch>
            <a:fillRect/>
          </a:stretch>
        </p:blipFill>
        <p:spPr>
          <a:xfrm>
            <a:off x="1456239" y="1645920"/>
            <a:ext cx="9279218"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The KEDA Kafka-lag scaler polls consumer-group lag on order.placed and scales notification-service from zero to N replicas once lag crosses the threshold, then back to zero after the cooldown.</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50</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PLATFORM: SELF-SERVE, ELASTIC, RESILIENT</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Scaling on Kafka lag</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Zero to N replicas and back on Kubernetes</a:t>
            </a:r>
            <a:endParaRPr lang="en-US" sz="1700" dirty="0"/>
          </a:p>
        </p:txBody>
      </p:sp>
      <p:sp>
        <p:nvSpPr>
          <p:cNvPr id="5" name="Text 3"/>
          <p:cNvSpPr/>
          <p:nvPr/>
        </p:nvSpPr>
        <p:spPr>
          <a:xfrm>
            <a:off x="640080" y="1965960"/>
            <a:ext cx="10911535" cy="4114800"/>
          </a:xfrm>
          <a:prstGeom prst="rect">
            <a:avLst/>
          </a:prstGeom>
          <a:noFill/>
          <a:ln/>
        </p:spPr>
        <p:txBody>
          <a:bodyPr wrap="square" lIns="0" tIns="0" rIns="0" bIns="0" rtlCol="0" anchor="t"/>
          <a:lstStyle/>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KEDA core</a:t>
            </a:r>
            <a:r>
              <a:rPr lang="en-US" sz="1600" dirty="0">
                <a:solidFill>
                  <a:srgbClr val="242424"/>
                </a:solidFill>
                <a:latin typeface="Red Hat Text" pitchFamily="34" charset="0"/>
                <a:ea typeface="Red Hat Text" pitchFamily="34" charset="-122"/>
                <a:cs typeface="Red Hat Text" pitchFamily="34" charset="-120"/>
              </a:rPr>
              <a:t> scales notification-service from zero to N on Kafka consumer-group lag, using the manifests k8s/base/notification-service.yaml and k8s/keda/consumer-scaledobject.yaml.</a:t>
            </a:r>
            <a:endParaRPr lang="en-US" sz="1600" dirty="0"/>
          </a:p>
          <a:p>
            <a:pPr lvl="1" marL="457200" indent="-228600">
              <a:spcAft>
                <a:spcPts val="800"/>
              </a:spcAft>
              <a:buSzPct val="100000"/>
              <a:buChar char="•"/>
            </a:pPr>
            <a:r>
              <a:rPr lang="en-US" sz="1500" dirty="0">
                <a:solidFill>
                  <a:srgbClr val="5A5A5A"/>
                </a:solidFill>
                <a:latin typeface="Red Hat Text" pitchFamily="34" charset="0"/>
                <a:ea typeface="Red Hat Text" pitchFamily="34" charset="-122"/>
                <a:cs typeface="Red Hat Text" pitchFamily="34" charset="-120"/>
              </a:rPr>
              <a:t>Asserted: the replica count climbs from zero on a lag burst and returns to zero as the backlog drains.</a:t>
            </a:r>
            <a:endParaRPr lang="en-US" sz="1600" dirty="0"/>
          </a:p>
        </p:txBody>
      </p:sp>
      <p:sp>
        <p:nvSpPr>
          <p:cNvPr id="6" name="Text 4"/>
          <p:cNvSpPr/>
          <p:nvPr/>
        </p:nvSpPr>
        <p:spPr>
          <a:xfrm>
            <a:off x="1463040" y="6428232"/>
            <a:ext cx="6858000" cy="228600"/>
          </a:xfrm>
          <a:prstGeom prst="rect">
            <a:avLst/>
          </a:prstGeom>
          <a:noFill/>
          <a:ln/>
        </p:spPr>
        <p:txBody>
          <a:bodyPr wrap="square" lIns="0" tIns="0" rIns="0" bIns="0" rtlCol="0" anchor="ctr"/>
          <a:lstStyle/>
          <a:p>
            <a:pPr algn="l" indent="0" marL="0">
              <a:buNone/>
            </a:pPr>
            <a:r>
              <a:rPr lang="en-US" sz="800" dirty="0">
                <a:solidFill>
                  <a:srgbClr val="8A8A8A"/>
                </a:solidFill>
                <a:latin typeface="Red Hat Mono" pitchFamily="34" charset="0"/>
                <a:ea typeface="Red Hat Mono" pitchFamily="34" charset="-122"/>
                <a:cs typeface="Red Hat Mono" pitchFamily="34" charset="-120"/>
              </a:rPr>
              <a:t>Demo script: demos/demo-keda-kafka.sh</a:t>
            </a:r>
            <a:endParaRPr lang="en-US" sz="800" dirty="0"/>
          </a:p>
        </p:txBody>
      </p:sp>
      <p:sp>
        <p:nvSpPr>
          <p:cNvPr id="7"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51</a:t>
            </a:r>
            <a:endParaRPr lang="en-US" sz="1000" dirty="0"/>
          </a:p>
        </p:txBody>
      </p:sp>
      <p:pic>
        <p:nvPicPr>
          <p:cNvPr id="8"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PLATFORM: SELF-SERVE, ELASTIC, RESILIENT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KEDA HTTP add-on, as a system</a:t>
            </a:r>
            <a:endParaRPr lang="en-US" sz="3000" dirty="0"/>
          </a:p>
        </p:txBody>
      </p:sp>
      <p:pic>
        <p:nvPicPr>
          <p:cNvPr id="4" name="Image 0" descr="dpng/07-keda-http-addon.png">    </p:cNvPr>
          <p:cNvPicPr>
            <a:picLocks noChangeAspect="1"/>
          </p:cNvPicPr>
          <p:nvPr/>
        </p:nvPicPr>
        <p:blipFill>
          <a:blip r:embed="rId1"/>
          <a:stretch>
            <a:fillRect/>
          </a:stretch>
        </p:blipFill>
        <p:spPr>
          <a:xfrm>
            <a:off x="2478142" y="1645920"/>
            <a:ext cx="7235412"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The interceptor proxy buffers requests to graphql-gateway and reports request rate to the external scaler, which drives the HTTPScaledObject's zero-to-N activation.</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52</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PLATFORM: SELF-SERVE, ELASTIC, RESILIENT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Elastic reads: scaling on request volume</a:t>
            </a:r>
            <a:endParaRPr lang="en-US" sz="3000" dirty="0"/>
          </a:p>
        </p:txBody>
      </p:sp>
      <p:pic>
        <p:nvPicPr>
          <p:cNvPr id="4" name="Image 0" descr="dpng/07-keda-http.png">    </p:cNvPr>
          <p:cNvPicPr>
            <a:picLocks noChangeAspect="1"/>
          </p:cNvPicPr>
          <p:nvPr/>
        </p:nvPicPr>
        <p:blipFill>
          <a:blip r:embed="rId1"/>
          <a:stretch>
            <a:fillRect/>
          </a:stretch>
        </p:blipFill>
        <p:spPr>
          <a:xfrm>
            <a:off x="1456239" y="1645920"/>
            <a:ext cx="9279218"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demo-keda-http.sh drives a request burst through the interceptor with the Host header set and polls graphql-gateway's replica count until it climbs off baseline within the 240-second budget.</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53</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PLATFORM: SELF-SERVE, ELASTIC, RESILIENT</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Scale to zero on HTTP</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The KEDA HTTP add-on wakes graphql-gateway on demand</a:t>
            </a:r>
            <a:endParaRPr lang="en-US" sz="1700" dirty="0"/>
          </a:p>
        </p:txBody>
      </p:sp>
      <p:sp>
        <p:nvSpPr>
          <p:cNvPr id="5" name="Text 3"/>
          <p:cNvSpPr/>
          <p:nvPr/>
        </p:nvSpPr>
        <p:spPr>
          <a:xfrm>
            <a:off x="640080" y="1965960"/>
            <a:ext cx="10911535" cy="4114800"/>
          </a:xfrm>
          <a:prstGeom prst="rect">
            <a:avLst/>
          </a:prstGeom>
          <a:noFill/>
          <a:ln/>
        </p:spPr>
        <p:txBody>
          <a:bodyPr wrap="square" lIns="0" tIns="0" rIns="0" bIns="0" rtlCol="0" anchor="t"/>
          <a:lstStyle/>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KEDA HTTP add-on</a:t>
            </a:r>
            <a:r>
              <a:rPr lang="en-US" sz="1600" dirty="0">
                <a:solidFill>
                  <a:srgbClr val="242424"/>
                </a:solidFill>
                <a:latin typeface="Red Hat Text" pitchFamily="34" charset="0"/>
                <a:ea typeface="Red Hat Text" pitchFamily="34" charset="-122"/>
                <a:cs typeface="Red Hat Text" pitchFamily="34" charset="-120"/>
              </a:rPr>
              <a:t> scales graphql-gateway from zero on inbound request rate: k8s/base/graphql-gateway.yaml and k8s/keda/gateway-httpscaledobject.yaml (http.keda.sh/v1alpha1, add-on 0.16.0).</a:t>
            </a:r>
            <a:endParaRPr lang="en-US" sz="1600" dirty="0"/>
          </a:p>
          <a:p>
            <a:pPr lvl="1" marL="457200" indent="-228600">
              <a:spcAft>
                <a:spcPts val="8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The interceptor's wait timeout is raised from 20 s to 180 s to cover a cold JVM boot.</a:t>
            </a:r>
            <a:endParaRPr lang="en-US" sz="1600" dirty="0"/>
          </a:p>
          <a:p>
            <a:pPr lvl="1" marL="457200" indent="-228600">
              <a:spcAft>
                <a:spcPts val="800"/>
              </a:spcAft>
              <a:buSzPct val="100000"/>
              <a:buChar char="•"/>
            </a:pPr>
            <a:r>
              <a:rPr lang="en-US" sz="1500" dirty="0">
                <a:solidFill>
                  <a:srgbClr val="5A5A5A"/>
                </a:solidFill>
                <a:latin typeface="Red Hat Text" pitchFamily="34" charset="0"/>
                <a:ea typeface="Red Hat Text" pitchFamily="34" charset="-122"/>
                <a:cs typeface="Red Hat Text" pitchFamily="34" charset="-120"/>
              </a:rPr>
              <a:t>Asserted: a scaled-to-zero deployment reaches at least one replica within a 240-second budget.</a:t>
            </a:r>
            <a:endParaRPr lang="en-US" sz="1600" dirty="0"/>
          </a:p>
        </p:txBody>
      </p:sp>
      <p:sp>
        <p:nvSpPr>
          <p:cNvPr id="6" name="Text 4"/>
          <p:cNvSpPr/>
          <p:nvPr/>
        </p:nvSpPr>
        <p:spPr>
          <a:xfrm>
            <a:off x="1463040" y="6428232"/>
            <a:ext cx="6858000" cy="228600"/>
          </a:xfrm>
          <a:prstGeom prst="rect">
            <a:avLst/>
          </a:prstGeom>
          <a:noFill/>
          <a:ln/>
        </p:spPr>
        <p:txBody>
          <a:bodyPr wrap="square" lIns="0" tIns="0" rIns="0" bIns="0" rtlCol="0" anchor="ctr"/>
          <a:lstStyle/>
          <a:p>
            <a:pPr algn="l" indent="0" marL="0">
              <a:buNone/>
            </a:pPr>
            <a:r>
              <a:rPr lang="en-US" sz="800" dirty="0">
                <a:solidFill>
                  <a:srgbClr val="8A8A8A"/>
                </a:solidFill>
                <a:latin typeface="Red Hat Mono" pitchFamily="34" charset="0"/>
                <a:ea typeface="Red Hat Mono" pitchFamily="34" charset="-122"/>
                <a:cs typeface="Red Hat Mono" pitchFamily="34" charset="-120"/>
              </a:rPr>
              <a:t>Demo script: demos/demo-keda-http.sh</a:t>
            </a:r>
            <a:endParaRPr lang="en-US" sz="800" dirty="0"/>
          </a:p>
        </p:txBody>
      </p:sp>
      <p:sp>
        <p:nvSpPr>
          <p:cNvPr id="7"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54</a:t>
            </a:r>
            <a:endParaRPr lang="en-US" sz="1000" dirty="0"/>
          </a:p>
        </p:txBody>
      </p:sp>
      <p:pic>
        <p:nvPicPr>
          <p:cNvPr id="8"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07</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Governance, mesh, observability</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Standards enforced by the platform: mTLS by default, three correlated signals, and a trust path from contract to runtime.</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GOVERNANCE, MESH, OBSERVABILITY</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Istio: control plane in, selective injection</a:t>
            </a:r>
            <a:endParaRPr lang="en-US" sz="3000" dirty="0"/>
          </a:p>
        </p:txBody>
      </p:sp>
      <p:pic>
        <p:nvPicPr>
          <p:cNvPr id="4" name="Image 0" descr="dpng/06-istio-mesh.png">    </p:cNvPr>
          <p:cNvPicPr>
            <a:picLocks noChangeAspect="1"/>
          </p:cNvPicPr>
          <p:nvPr/>
        </p:nvPicPr>
        <p:blipFill>
          <a:blip r:embed="rId1"/>
          <a:stretch>
            <a:fillRect/>
          </a:stretch>
        </p:blipFill>
        <p:spPr>
          <a:xfrm>
            <a:off x="2478142" y="1645920"/>
            <a:ext cx="7235412"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The Istio control plane is installed cluster-wide through Helm (1.31.1, charts from the checksum-verified release tarball). The datamesh namespace is left unlabeled for auto-injection; sidecar membership is opted in per Deployment.</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56</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GOVERNANCE, MESH, OBSERVABILITY</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mTLS between meshed services, and what stays outside</a:t>
            </a:r>
            <a:endParaRPr lang="en-US" sz="3000" dirty="0"/>
          </a:p>
        </p:txBody>
      </p:sp>
      <p:pic>
        <p:nvPicPr>
          <p:cNvPr id="4" name="Image 0" descr="dpng/06-service-mesh.png">    </p:cNvPr>
          <p:cNvPicPr>
            <a:picLocks noChangeAspect="1"/>
          </p:cNvPicPr>
          <p:nvPr/>
        </p:nvPicPr>
        <p:blipFill>
          <a:blip r:embed="rId1"/>
          <a:stretch>
            <a:fillRect/>
          </a:stretch>
        </p:blipFill>
        <p:spPr>
          <a:xfrm>
            <a:off x="1954192" y="1645920"/>
            <a:ext cx="8283312"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Meshed data-mesh services communicate over automatic mutual TLS between Istio sidecars; Postgres and batch jobs stay outside the mesh.</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57</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GOVERNANCE, MESH, OBSERVABILITY</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LGTM stack: four backends, one Collector</a:t>
            </a:r>
            <a:endParaRPr lang="en-US" sz="3000" dirty="0"/>
          </a:p>
        </p:txBody>
      </p:sp>
      <p:pic>
        <p:nvPicPr>
          <p:cNvPr id="4" name="Image 0" descr="dpng/08-observability-stack.png">    </p:cNvPr>
          <p:cNvPicPr>
            <a:picLocks noChangeAspect="1"/>
          </p:cNvPicPr>
          <p:nvPr/>
        </p:nvPicPr>
        <p:blipFill>
          <a:blip r:embed="rId1"/>
          <a:stretch>
            <a:fillRect/>
          </a:stretch>
        </p:blipFill>
        <p:spPr>
          <a:xfrm>
            <a:off x="1799570" y="1645920"/>
            <a:ext cx="859255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Loki, Tempo, Mimir, and Grafana, filesystem-backed and single-replica, fed by one shared OpenTelemetry Collector (on compose, all of it in grafana/otel-lgtm:0.36.0).</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58</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GOVERNANCE, MESH, OBSERVABILITY</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Three signals, correlated across a domain</a:t>
            </a:r>
            <a:endParaRPr lang="en-US" sz="3000" dirty="0"/>
          </a:p>
        </p:txBody>
      </p:sp>
      <p:pic>
        <p:nvPicPr>
          <p:cNvPr id="4" name="Image 0" descr="dpng/08-three-signals.png">    </p:cNvPr>
          <p:cNvPicPr>
            <a:picLocks noChangeAspect="1"/>
          </p:cNvPicPr>
          <p:nvPr/>
        </p:nvPicPr>
        <p:blipFill>
          <a:blip r:embed="rId1"/>
          <a:stretch>
            <a:fillRect/>
          </a:stretch>
        </p:blipFill>
        <p:spPr>
          <a:xfrm>
            <a:off x="1954192" y="1645920"/>
            <a:ext cx="8283312"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Metrics, traces, and logs: what each answers for a request crossing graphql-gateway, order-service, and inventory-service.</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59</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GOVERNANCE, MESH, OBSERVABILITY</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One request, one distributed trace</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REST, gRPC, and Postgres spans in Tempo</a:t>
            </a:r>
            <a:endParaRPr lang="en-US" sz="1700" dirty="0"/>
          </a:p>
        </p:txBody>
      </p:sp>
      <p:sp>
        <p:nvSpPr>
          <p:cNvPr id="5" name="Text 3"/>
          <p:cNvSpPr/>
          <p:nvPr/>
        </p:nvSpPr>
        <p:spPr>
          <a:xfrm>
            <a:off x="640080" y="1965960"/>
            <a:ext cx="10911535" cy="4114800"/>
          </a:xfrm>
          <a:prstGeom prst="rect">
            <a:avLst/>
          </a:prstGeom>
          <a:noFill/>
          <a:ln/>
        </p:spPr>
        <p:txBody>
          <a:bodyPr wrap="square" lIns="0" tIns="0" rIns="0" bIns="0" rtlCol="0" anchor="t"/>
          <a:lstStyle/>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POST /orders</a:t>
            </a:r>
            <a:r>
              <a:rPr lang="en-US" sz="1600" dirty="0">
                <a:solidFill>
                  <a:srgbClr val="242424"/>
                </a:solidFill>
                <a:latin typeface="Red Hat Text" pitchFamily="34" charset="0"/>
                <a:ea typeface="Red Hat Text" pitchFamily="34" charset="-122"/>
                <a:cs typeface="Red Hat Text" pitchFamily="34" charset="-120"/>
              </a:rPr>
              <a:t> on order-service calls inventory-service over gRPC (CheckStock), the same hop demo-order.sh exercises for Panache.</a:t>
            </a:r>
            <a:endParaRPr lang="en-US" sz="1600" dirty="0"/>
          </a:p>
          <a:p>
            <a:pPr lvl="1" marL="457200" indent="-228600">
              <a:spcAft>
                <a:spcPts val="8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The demo checks that this request yields one multi-service trace in Tempo: order-service's REST span is the root, with a CheckStock gRPC span and Postgres spans from both services as children.</a:t>
            </a:r>
            <a:endParaRPr lang="en-US" sz="1600" dirty="0"/>
          </a:p>
          <a:p>
            <a:pPr lvl="1" marL="457200" indent="-228600">
              <a:spcAft>
                <a:spcPts val="800"/>
              </a:spcAft>
              <a:buSzPct val="100000"/>
              <a:buChar char="•"/>
            </a:pPr>
            <a:r>
              <a:rPr lang="en-US" sz="1500" dirty="0">
                <a:solidFill>
                  <a:srgbClr val="5A5A5A"/>
                </a:solidFill>
                <a:latin typeface="Red Hat Text" pitchFamily="34" charset="0"/>
                <a:ea typeface="Red Hat Text" pitchFamily="34" charset="-122"/>
                <a:cs typeface="Red Hat Text" pitchFamily="34" charset="-120"/>
              </a:rPr>
              <a:t>It runs against the compose otel-lgtm stack, which is always on, so no profile flag is needed.</a:t>
            </a:r>
            <a:endParaRPr lang="en-US" sz="1600" dirty="0"/>
          </a:p>
        </p:txBody>
      </p:sp>
      <p:sp>
        <p:nvSpPr>
          <p:cNvPr id="6" name="Text 4"/>
          <p:cNvSpPr/>
          <p:nvPr/>
        </p:nvSpPr>
        <p:spPr>
          <a:xfrm>
            <a:off x="1463040" y="6428232"/>
            <a:ext cx="6858000" cy="228600"/>
          </a:xfrm>
          <a:prstGeom prst="rect">
            <a:avLst/>
          </a:prstGeom>
          <a:noFill/>
          <a:ln/>
        </p:spPr>
        <p:txBody>
          <a:bodyPr wrap="square" lIns="0" tIns="0" rIns="0" bIns="0" rtlCol="0" anchor="ctr"/>
          <a:lstStyle/>
          <a:p>
            <a:pPr algn="l" indent="0" marL="0">
              <a:buNone/>
            </a:pPr>
            <a:r>
              <a:rPr lang="en-US" sz="800" dirty="0">
                <a:solidFill>
                  <a:srgbClr val="8A8A8A"/>
                </a:solidFill>
                <a:latin typeface="Red Hat Mono" pitchFamily="34" charset="0"/>
                <a:ea typeface="Red Hat Mono" pitchFamily="34" charset="-122"/>
                <a:cs typeface="Red Hat Mono" pitchFamily="34" charset="-120"/>
              </a:rPr>
              <a:t>Demo script: demos/demo-tracing.sh</a:t>
            </a:r>
            <a:endParaRPr lang="en-US" sz="800" dirty="0"/>
          </a:p>
        </p:txBody>
      </p:sp>
      <p:sp>
        <p:nvSpPr>
          <p:cNvPr id="7"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60</a:t>
            </a:r>
            <a:endParaRPr lang="en-US" sz="1000" dirty="0"/>
          </a:p>
        </p:txBody>
      </p:sp>
      <p:pic>
        <p:nvPicPr>
          <p:cNvPr id="8"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GOVERNANCE, MESH, OBSERVABILITY</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trusted supply chain</a:t>
            </a:r>
            <a:endParaRPr lang="en-US" sz="3000" dirty="0"/>
          </a:p>
        </p:txBody>
      </p:sp>
      <p:pic>
        <p:nvPicPr>
          <p:cNvPr id="4" name="Image 0" descr="dpng/10-trusted-supply-chain.png">    </p:cNvPr>
          <p:cNvPicPr>
            <a:picLocks noChangeAspect="1"/>
          </p:cNvPicPr>
          <p:nvPr/>
        </p:nvPicPr>
        <p:blipFill>
          <a:blip r:embed="rId1"/>
          <a:stretch>
            <a:fillRect/>
          </a:stretch>
        </p:blipFill>
        <p:spPr>
          <a:xfrm>
            <a:off x="1954192" y="1645920"/>
            <a:ext cx="8283312"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The trust path from a contract defined once, through registration and wire-format verification, to runtime observability.</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61</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08</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Security</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quarkus-oidc, run live against Keycloak on the smallest module in this project.</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SECURITY</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How OIDC protects review-service</a:t>
            </a:r>
            <a:endParaRPr lang="en-US" sz="3000" dirty="0"/>
          </a:p>
        </p:txBody>
      </p:sp>
      <p:pic>
        <p:nvPicPr>
          <p:cNvPr id="4" name="Image 0" descr="dpng/11-oidc-token-flow.png">    </p:cNvPr>
          <p:cNvPicPr>
            <a:picLocks noChangeAspect="1"/>
          </p:cNvPicPr>
          <p:nvPr/>
        </p:nvPicPr>
        <p:blipFill>
          <a:blip r:embed="rId1"/>
          <a:stretch>
            <a:fillRect/>
          </a:stretch>
        </p:blipFill>
        <p:spPr>
          <a:xfrm>
            <a:off x="1632955" y="1645920"/>
            <a:ext cx="8925785"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Dev Services starts Keycloak; the client obtains a JWT and calls DELETE /reviews/{id}; quarkus-oidc verifies it and @RolesAllowed("admin") decides.</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63</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SECURITY</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OIDC with live bearer tokens</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401, 403, and 204 against a Dev Services Keycloak</a:t>
            </a:r>
            <a:endParaRPr lang="en-US" sz="1700" dirty="0"/>
          </a:p>
        </p:txBody>
      </p:sp>
      <p:sp>
        <p:nvSpPr>
          <p:cNvPr id="5" name="Text 3"/>
          <p:cNvSpPr/>
          <p:nvPr/>
        </p:nvSpPr>
        <p:spPr>
          <a:xfrm>
            <a:off x="640080" y="1965960"/>
            <a:ext cx="10911535" cy="4114800"/>
          </a:xfrm>
          <a:prstGeom prst="rect">
            <a:avLst/>
          </a:prstGeom>
          <a:noFill/>
          <a:ln/>
        </p:spPr>
        <p:txBody>
          <a:bodyPr wrap="square" lIns="0" tIns="0" rIns="0" bIns="0" rtlCol="0" anchor="t"/>
          <a:lstStyle/>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review-service</a:t>
            </a:r>
            <a:r>
              <a:rPr lang="en-US" sz="1600" dirty="0">
                <a:solidFill>
                  <a:srgbClr val="242424"/>
                </a:solidFill>
                <a:latin typeface="Red Hat Text" pitchFamily="34" charset="0"/>
                <a:ea typeface="Red Hat Text" pitchFamily="34" charset="-122"/>
                <a:cs typeface="Red Hat Text" pitchFamily="34" charset="-120"/>
              </a:rPr>
              <a:t> added quarkus-oidc with no quarkus.oidc.* configuration. Dev Services starts a disposable Keycloak: realm quarkus, client quarkus-app, accounts alice (admin, user) and bob (user).</a:t>
            </a:r>
            <a:endParaRPr lang="en-US" sz="1600" dirty="0"/>
          </a:p>
          <a:p>
            <a:pPr lvl="1" marL="457200" indent="-228600">
              <a:spcAft>
                <a:spcPts val="8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DELETE /reviews/{id}</a:t>
            </a:r>
            <a:r>
              <a:rPr lang="en-US" sz="1500" dirty="0">
                <a:solidFill>
                  <a:srgbClr val="5A5A5A"/>
                </a:solidFill>
                <a:latin typeface="Red Hat Text" pitchFamily="34" charset="0"/>
                <a:ea typeface="Red Hat Text" pitchFamily="34" charset="-122"/>
                <a:cs typeface="Red Hat Text" pitchFamily="34" charset="-120"/>
              </a:rPr>
              <a:t> is the only endpoint annotated @RolesAllowed("admin"); the others are untouched.</a:t>
            </a:r>
            <a:endParaRPr lang="en-US" sz="1600" dirty="0"/>
          </a:p>
          <a:p>
            <a:pPr lvl="1" marL="457200" indent="-228600">
              <a:spcAft>
                <a:spcPts val="8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Three password-grant token requests show the outcomes: no token gives 401; Bob's valid token without the admin role gives 403; Alice's token gives 204, and a follow-up GET returns 404.</a:t>
            </a:r>
            <a:endParaRPr lang="en-US" sz="1600" dirty="0"/>
          </a:p>
        </p:txBody>
      </p:sp>
      <p:sp>
        <p:nvSpPr>
          <p:cNvPr id="6" name="Text 4"/>
          <p:cNvSpPr/>
          <p:nvPr/>
        </p:nvSpPr>
        <p:spPr>
          <a:xfrm>
            <a:off x="1463040" y="6428232"/>
            <a:ext cx="6858000" cy="228600"/>
          </a:xfrm>
          <a:prstGeom prst="rect">
            <a:avLst/>
          </a:prstGeom>
          <a:noFill/>
          <a:ln/>
        </p:spPr>
        <p:txBody>
          <a:bodyPr wrap="square" lIns="0" tIns="0" rIns="0" bIns="0" rtlCol="0" anchor="ctr"/>
          <a:lstStyle/>
          <a:p>
            <a:pPr algn="l" indent="0" marL="0">
              <a:buNone/>
            </a:pPr>
            <a:r>
              <a:rPr lang="en-US" sz="800" dirty="0">
                <a:solidFill>
                  <a:srgbClr val="8A8A8A"/>
                </a:solidFill>
                <a:latin typeface="Red Hat Mono" pitchFamily="34" charset="0"/>
                <a:ea typeface="Red Hat Mono" pitchFamily="34" charset="-122"/>
                <a:cs typeface="Red Hat Mono" pitchFamily="34" charset="-120"/>
              </a:rPr>
              <a:t>Demo script: demos/demo-oidc.sh</a:t>
            </a:r>
            <a:endParaRPr lang="en-US" sz="800" dirty="0"/>
          </a:p>
        </p:txBody>
      </p:sp>
      <p:sp>
        <p:nvSpPr>
          <p:cNvPr id="7"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64</a:t>
            </a:r>
            <a:endParaRPr lang="en-US" sz="1000" dirty="0"/>
          </a:p>
        </p:txBody>
      </p:sp>
      <p:pic>
        <p:nvPicPr>
          <p:cNvPr id="8"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09</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Native</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A separate axis from the JVM comparison: Quarkus with no JVM in the process.</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NATIVE</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Native executable: no JVM</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order-service compiled ahead of time with Mandrel</a:t>
            </a:r>
            <a:endParaRPr lang="en-US" sz="1700" dirty="0"/>
          </a:p>
        </p:txBody>
      </p:sp>
      <p:sp>
        <p:nvSpPr>
          <p:cNvPr id="5" name="Text 3"/>
          <p:cNvSpPr/>
          <p:nvPr/>
        </p:nvSpPr>
        <p:spPr>
          <a:xfrm>
            <a:off x="640080" y="1965960"/>
            <a:ext cx="10911535" cy="4114800"/>
          </a:xfrm>
          <a:prstGeom prst="rect">
            <a:avLst/>
          </a:prstGeom>
          <a:noFill/>
          <a:ln/>
        </p:spPr>
        <p:txBody>
          <a:bodyPr wrap="square" lIns="0" tIns="0" rIns="0" bIns="0" rtlCol="0" anchor="t"/>
          <a:lstStyle/>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demo-native.sh</a:t>
            </a:r>
            <a:r>
              <a:rPr lang="en-US" sz="1600" dirty="0">
                <a:solidFill>
                  <a:srgbClr val="242424"/>
                </a:solidFill>
                <a:latin typeface="Red Hat Text" pitchFamily="34" charset="0"/>
                <a:ea typeface="Red Hat Text" pitchFamily="34" charset="-122"/>
                <a:cs typeface="Red Hat Text" pitchFamily="34" charset="-120"/>
              </a:rPr>
              <a:t> compiles order-service to a native executable, using a local GraalVM or Mandrel native-image or a Docker-based Mandrel builder. It fails if neither exists; it never builds a JVM jar and calls it native.</a:t>
            </a:r>
            <a:endParaRPr lang="en-US" sz="1600" dirty="0"/>
          </a:p>
          <a:p>
            <a:pPr lvl="1" marL="457200" indent="-228600">
              <a:spcAft>
                <a:spcPts val="800"/>
              </a:spcAft>
              <a:buSzPct val="100000"/>
              <a:buChar char="•"/>
            </a:pPr>
            <a:r>
              <a:rPr lang="en-US" sz="1500" dirty="0">
                <a:solidFill>
                  <a:srgbClr val="5A5A5A"/>
                </a:solidFill>
                <a:latin typeface="Red Hat Text" pitchFamily="34" charset="0"/>
                <a:ea typeface="Red Hat Text" pitchFamily="34" charset="-122"/>
                <a:cs typeface="Red Hat Text" pitchFamily="34" charset="-120"/>
              </a:rPr>
              <a:t>It runs the *-runner binary directly, with no java and no quarkus-run.jar, against a throwaway Postgres container. Native mode gets no Dev Services, so %prod needs a reachable database.</a:t>
            </a:r>
            <a:endParaRPr lang="en-US" sz="1600" dirty="0"/>
          </a:p>
          <a:p>
            <a:pPr lvl="1" marL="457200" indent="-228600">
              <a:spcAft>
                <a:spcPts val="800"/>
              </a:spcAft>
              <a:buSzPct val="100000"/>
              <a:buChar char="•"/>
            </a:pPr>
            <a:r>
              <a:rPr lang="en-US" sz="1500" dirty="0">
                <a:solidFill>
                  <a:srgbClr val="5A5A5A"/>
                </a:solidFill>
                <a:latin typeface="Red Hat Text" pitchFamily="34" charset="0"/>
                <a:ea typeface="Red Hat Text" pitchFamily="34" charset="-122"/>
                <a:cs typeface="Red Hat Text" pitchFamily="34" charset="-120"/>
              </a:rPr>
              <a:t>Asserted: GET /orders returns a JSON array through the REST, Hibernate ORM, and Panache stack with no JVM in the process.</a:t>
            </a:r>
            <a:endParaRPr lang="en-US" sz="1600" dirty="0"/>
          </a:p>
        </p:txBody>
      </p:sp>
      <p:sp>
        <p:nvSpPr>
          <p:cNvPr id="6" name="Text 4"/>
          <p:cNvSpPr/>
          <p:nvPr/>
        </p:nvSpPr>
        <p:spPr>
          <a:xfrm>
            <a:off x="1463040" y="6428232"/>
            <a:ext cx="6858000" cy="228600"/>
          </a:xfrm>
          <a:prstGeom prst="rect">
            <a:avLst/>
          </a:prstGeom>
          <a:noFill/>
          <a:ln/>
        </p:spPr>
        <p:txBody>
          <a:bodyPr wrap="square" lIns="0" tIns="0" rIns="0" bIns="0" rtlCol="0" anchor="ctr"/>
          <a:lstStyle/>
          <a:p>
            <a:pPr algn="l" indent="0" marL="0">
              <a:buNone/>
            </a:pPr>
            <a:r>
              <a:rPr lang="en-US" sz="800" dirty="0">
                <a:solidFill>
                  <a:srgbClr val="8A8A8A"/>
                </a:solidFill>
                <a:latin typeface="Red Hat Mono" pitchFamily="34" charset="0"/>
                <a:ea typeface="Red Hat Mono" pitchFamily="34" charset="-122"/>
                <a:cs typeface="Red Hat Mono" pitchFamily="34" charset="-120"/>
              </a:rPr>
              <a:t>Demo script: demos/demo-native.sh</a:t>
            </a:r>
            <a:endParaRPr lang="en-US" sz="800" dirty="0"/>
          </a:p>
        </p:txBody>
      </p:sp>
      <p:sp>
        <p:nvSpPr>
          <p:cNvPr id="7"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66</a:t>
            </a:r>
            <a:endParaRPr lang="en-US" sz="1000" dirty="0"/>
          </a:p>
        </p:txBody>
      </p:sp>
      <p:pic>
        <p:nvPicPr>
          <p:cNvPr id="8"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NATIVE</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How the native executable is built</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Quarkus build, then native-image, then a binary with no JVM</a:t>
            </a:r>
            <a:endParaRPr lang="en-US" sz="1700" dirty="0"/>
          </a:p>
        </p:txBody>
      </p:sp>
      <p:pic>
        <p:nvPicPr>
          <p:cNvPr id="5" name="Image 0" descr="dpng/11-native-build.png">    </p:cNvPr>
          <p:cNvPicPr>
            <a:picLocks noChangeAspect="1"/>
          </p:cNvPicPr>
          <p:nvPr/>
        </p:nvPicPr>
        <p:blipFill>
          <a:blip r:embed="rId1"/>
          <a:stretch>
            <a:fillRect/>
          </a:stretch>
        </p:blipFill>
        <p:spPr>
          <a:xfrm>
            <a:off x="2454731" y="1874520"/>
            <a:ext cx="7282233" cy="3703320"/>
          </a:xfrm>
          <a:prstGeom prst="rect">
            <a:avLst/>
          </a:prstGeom>
        </p:spPr>
      </p:pic>
      <p:sp>
        <p:nvSpPr>
          <p:cNvPr id="6" name="Text 3"/>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Build: Quarkus build steps, then native-image. Run: the binary against a throwaway Postgres, with no Dev Services.</a:t>
            </a:r>
            <a:endParaRPr lang="en-US" sz="1250" dirty="0"/>
          </a:p>
        </p:txBody>
      </p:sp>
      <p:sp>
        <p:nvSpPr>
          <p:cNvPr id="7" name="Text 4"/>
          <p:cNvSpPr/>
          <p:nvPr/>
        </p:nvSpPr>
        <p:spPr>
          <a:xfrm>
            <a:off x="1463040" y="6428232"/>
            <a:ext cx="6858000" cy="228600"/>
          </a:xfrm>
          <a:prstGeom prst="rect">
            <a:avLst/>
          </a:prstGeom>
          <a:noFill/>
          <a:ln/>
        </p:spPr>
        <p:txBody>
          <a:bodyPr wrap="square" lIns="0" tIns="0" rIns="0" bIns="0" rtlCol="0" anchor="ctr"/>
          <a:lstStyle/>
          <a:p>
            <a:pPr algn="l" indent="0" marL="0">
              <a:buNone/>
            </a:pPr>
            <a:r>
              <a:rPr lang="en-US" sz="800" dirty="0">
                <a:solidFill>
                  <a:srgbClr val="8A8A8A"/>
                </a:solidFill>
                <a:latin typeface="Red Hat Mono" pitchFamily="34" charset="0"/>
                <a:ea typeface="Red Hat Mono" pitchFamily="34" charset="-122"/>
                <a:cs typeface="Red Hat Mono" pitchFamily="34" charset="-120"/>
              </a:rPr>
              <a:t>Demo script: demos/demo-native.sh</a:t>
            </a:r>
            <a:endParaRPr lang="en-US" sz="800" dirty="0"/>
          </a:p>
        </p:txBody>
      </p:sp>
      <p:sp>
        <p:nvSpPr>
          <p:cNvPr id="8"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67</a:t>
            </a:r>
            <a:endParaRPr lang="en-US" sz="1000" dirty="0"/>
          </a:p>
        </p:txBody>
      </p:sp>
      <p:pic>
        <p:nvPicPr>
          <p:cNvPr id="9"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10</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The whole picture</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The reference architecture assembled, and the four principles in practice on Quarkus and Kubernetes.</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WHOLE PICTURE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reference architecture, assembled</a:t>
            </a:r>
            <a:endParaRPr lang="en-US" sz="3000" dirty="0"/>
          </a:p>
        </p:txBody>
      </p:sp>
      <p:pic>
        <p:nvPicPr>
          <p:cNvPr id="4" name="Image 0" descr="dpng/08-reference-architecture.png">    </p:cNvPr>
          <p:cNvPicPr>
            <a:picLocks noChangeAspect="1"/>
          </p:cNvPicPr>
          <p:nvPr/>
        </p:nvPicPr>
        <p:blipFill>
          <a:blip r:embed="rId1"/>
          <a:stretch>
            <a:fillRect/>
          </a:stretch>
        </p:blipFill>
        <p:spPr>
          <a:xfrm>
            <a:off x="3032479" y="1645920"/>
            <a:ext cx="612673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Data products behind the Istio mesh, KEDA-driven autoscaling, and every signal flowing through the Collector into Grafana LGTM and Kiali.</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69</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WHOLE PICTURE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Domain ownership in practice</a:t>
            </a:r>
            <a:endParaRPr lang="en-US" sz="3000" dirty="0"/>
          </a:p>
        </p:txBody>
      </p:sp>
      <p:pic>
        <p:nvPicPr>
          <p:cNvPr id="4" name="Image 0" descr="dpng/10-value-domain-ownership.png">    </p:cNvPr>
          <p:cNvPicPr>
            <a:picLocks noChangeAspect="1"/>
          </p:cNvPicPr>
          <p:nvPr/>
        </p:nvPicPr>
        <p:blipFill>
          <a:blip r:embed="rId1"/>
          <a:stretch>
            <a:fillRect/>
          </a:stretch>
        </p:blipFill>
        <p:spPr>
          <a:xfrm>
            <a:off x="1799570" y="1645920"/>
            <a:ext cx="859255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Each domain owns its service, data, and contract boundary end to end, with no central team in the path.</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70</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WHOLE PICTURE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Data as a product in practice</a:t>
            </a:r>
            <a:endParaRPr lang="en-US" sz="3000" dirty="0"/>
          </a:p>
        </p:txBody>
      </p:sp>
      <p:pic>
        <p:nvPicPr>
          <p:cNvPr id="4" name="Image 0" descr="dpng/10-value-data-product.png">    </p:cNvPr>
          <p:cNvPicPr>
            <a:picLocks noChangeAspect="1"/>
          </p:cNvPicPr>
          <p:nvPr/>
        </p:nvPicPr>
        <p:blipFill>
          <a:blip r:embed="rId1"/>
          <a:stretch>
            <a:fillRect/>
          </a:stretch>
        </p:blipFill>
        <p:spPr>
          <a:xfrm>
            <a:off x="1799570" y="1645920"/>
            <a:ext cx="859255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A data product is discoverable, addressable, trustworthy, and self-describing, backed by a versioned Avro contract and the Apicurio Schema Registry.</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71</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WHOLE PICTURE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Self-serve platform in practice</a:t>
            </a:r>
            <a:endParaRPr lang="en-US" sz="3000" dirty="0"/>
          </a:p>
        </p:txBody>
      </p:sp>
      <p:pic>
        <p:nvPicPr>
          <p:cNvPr id="4" name="Image 0" descr="dpng/10-value-self-serve.png">    </p:cNvPr>
          <p:cNvPicPr>
            <a:picLocks noChangeAspect="1"/>
          </p:cNvPicPr>
          <p:nvPr/>
        </p:nvPicPr>
        <p:blipFill>
          <a:blip r:embed="rId1"/>
          <a:stretch>
            <a:fillRect/>
          </a:stretch>
        </p:blipFill>
        <p:spPr>
          <a:xfrm>
            <a:off x="1799570" y="1645920"/>
            <a:ext cx="859255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Domains declare their infrastructure needs (topics, databases, scaling policies) and the platform's operators fulfil them.</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72</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WHOLE PICTURE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Federated governance in practice</a:t>
            </a:r>
            <a:endParaRPr lang="en-US" sz="3000" dirty="0"/>
          </a:p>
        </p:txBody>
      </p:sp>
      <p:pic>
        <p:nvPicPr>
          <p:cNvPr id="4" name="Image 0" descr="dpng/10-value-governance.png">    </p:cNvPr>
          <p:cNvPicPr>
            <a:picLocks noChangeAspect="1"/>
          </p:cNvPicPr>
          <p:nvPr/>
        </p:nvPicPr>
        <p:blipFill>
          <a:blip r:embed="rId1"/>
          <a:stretch>
            <a:fillRect/>
          </a:stretch>
        </p:blipFill>
        <p:spPr>
          <a:xfrm>
            <a:off x="1799570" y="1645920"/>
            <a:ext cx="859255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Global rules for contract format, security, and observability are enforced at the platform boundary while domains keep ownership.</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73</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WHOLE PICTURE</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five-act walkthrough</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One presenter script runs every demo</a:t>
            </a:r>
            <a:endParaRPr lang="en-US" sz="1700" dirty="0"/>
          </a:p>
        </p:txBody>
      </p:sp>
      <p:sp>
        <p:nvSpPr>
          <p:cNvPr id="5" name="Text 3"/>
          <p:cNvSpPr/>
          <p:nvPr/>
        </p:nvSpPr>
        <p:spPr>
          <a:xfrm>
            <a:off x="640080" y="1965960"/>
            <a:ext cx="10911535" cy="4114800"/>
          </a:xfrm>
          <a:prstGeom prst="rect">
            <a:avLst/>
          </a:prstGeom>
          <a:noFill/>
          <a:ln/>
        </p:spPr>
        <p:txBody>
          <a:bodyPr wrap="square" lIns="0" tIns="0" rIns="0" bIns="0" rtlCol="0" anchor="t"/>
          <a:lstStyle/>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ACT 1, Data products &amp; protocols (default):</a:t>
            </a:r>
            <a:r>
              <a:rPr lang="en-US" sz="1600" dirty="0">
                <a:solidFill>
                  <a:srgbClr val="242424"/>
                </a:solidFill>
                <a:latin typeface="Red Hat Text" pitchFamily="34" charset="0"/>
                <a:ea typeface="Red Hat Text" pitchFamily="34" charset="-122"/>
                <a:cs typeface="Red Hat Text" pitchFamily="34" charset="-120"/>
              </a:rPr>
              <a:t> order, grpc, graphql, kafka, tracing, websocket, reactive-vertx, oidc.</a:t>
            </a:r>
            <a:endParaRPr lang="en-US" sz="1600" dirty="0"/>
          </a:p>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ACT 2, Three orchestration styles (gated):</a:t>
            </a:r>
            <a:r>
              <a:rPr lang="en-US" sz="1600" dirty="0">
                <a:solidFill>
                  <a:srgbClr val="242424"/>
                </a:solidFill>
                <a:latin typeface="Red Hat Text" pitchFamily="34" charset="0"/>
                <a:ea typeface="Red Hat Text" pitchFamily="34" charset="-122"/>
                <a:cs typeface="Red Hat Text" pitchFamily="34" charset="-120"/>
              </a:rPr>
              <a:t> orchestration-styles.</a:t>
            </a:r>
            <a:endParaRPr lang="en-US" sz="1600" dirty="0"/>
          </a:p>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ACT 3, AI / Camel / Drools / MCP (gated):</a:t>
            </a:r>
            <a:r>
              <a:rPr lang="en-US" sz="1600" dirty="0">
                <a:solidFill>
                  <a:srgbClr val="242424"/>
                </a:solidFill>
                <a:latin typeface="Red Hat Text" pitchFamily="34" charset="0"/>
                <a:ea typeface="Red Hat Text" pitchFamily="34" charset="-122"/>
                <a:cs typeface="Red Hat Text" pitchFamily="34" charset="-120"/>
              </a:rPr>
              <a:t> ai-classify, ai-mcp, camel-integration, ai-triage.</a:t>
            </a:r>
            <a:endParaRPr lang="en-US" sz="1600" dirty="0"/>
          </a:p>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ACT 4, Developer experience &amp; native:</a:t>
            </a:r>
            <a:r>
              <a:rPr lang="en-US" sz="1600" dirty="0">
                <a:solidFill>
                  <a:srgbClr val="242424"/>
                </a:solidFill>
                <a:latin typeface="Red Hat Text" pitchFamily="34" charset="0"/>
                <a:ea typeface="Red Hat Text" pitchFamily="34" charset="-122"/>
                <a:cs typeface="Red Hat Text" pitchFamily="34" charset="-120"/>
              </a:rPr>
              <a:t> jbang-prototype, panama, continuous-testing (default); native (gated).</a:t>
            </a:r>
            <a:endParaRPr lang="en-US" sz="1600" dirty="0"/>
          </a:p>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ACT 5, Platform autoscaling (gated):</a:t>
            </a:r>
            <a:r>
              <a:rPr lang="en-US" sz="1600" dirty="0">
                <a:solidFill>
                  <a:srgbClr val="242424"/>
                </a:solidFill>
                <a:latin typeface="Red Hat Text" pitchFamily="34" charset="0"/>
                <a:ea typeface="Red Hat Text" pitchFamily="34" charset="-122"/>
                <a:cs typeface="Red Hat Text" pitchFamily="34" charset="-120"/>
              </a:rPr>
              <a:t> keda-kafka, keda-http.</a:t>
            </a:r>
            <a:endParaRPr lang="en-US" sz="1600" dirty="0"/>
          </a:p>
        </p:txBody>
      </p:sp>
      <p:sp>
        <p:nvSpPr>
          <p:cNvPr id="6" name="Text 4"/>
          <p:cNvSpPr/>
          <p:nvPr/>
        </p:nvSpPr>
        <p:spPr>
          <a:xfrm>
            <a:off x="1463040" y="6428232"/>
            <a:ext cx="6858000" cy="228600"/>
          </a:xfrm>
          <a:prstGeom prst="rect">
            <a:avLst/>
          </a:prstGeom>
          <a:noFill/>
          <a:ln/>
        </p:spPr>
        <p:txBody>
          <a:bodyPr wrap="square" lIns="0" tIns="0" rIns="0" bIns="0" rtlCol="0" anchor="ctr"/>
          <a:lstStyle/>
          <a:p>
            <a:pPr algn="l" indent="0" marL="0">
              <a:buNone/>
            </a:pPr>
            <a:r>
              <a:rPr lang="en-US" sz="800" dirty="0">
                <a:solidFill>
                  <a:srgbClr val="8A8A8A"/>
                </a:solidFill>
                <a:latin typeface="Red Hat Mono" pitchFamily="34" charset="0"/>
                <a:ea typeface="Red Hat Mono" pitchFamily="34" charset="-122"/>
                <a:cs typeface="Red Hat Mono" pitchFamily="34" charset="-120"/>
              </a:rPr>
              <a:t>Demo script: demos/walkthrough.sh</a:t>
            </a:r>
            <a:endParaRPr lang="en-US" sz="800" dirty="0"/>
          </a:p>
        </p:txBody>
      </p:sp>
      <p:sp>
        <p:nvSpPr>
          <p:cNvPr id="7"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74</a:t>
            </a:r>
            <a:endParaRPr lang="en-US" sz="1000" dirty="0"/>
          </a:p>
        </p:txBody>
      </p:sp>
      <p:pic>
        <p:nvPicPr>
          <p:cNvPr id="8"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WHOLE PICTURE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Adoption: start small</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Start with one domain and one product.</a:t>
            </a:r>
            <a:r>
              <a:rPr lang="en-US" sz="1600" dirty="0">
                <a:solidFill>
                  <a:srgbClr val="242424"/>
                </a:solidFill>
                <a:latin typeface="Red Hat Text" pitchFamily="34" charset="0"/>
                <a:ea typeface="Red Hat Text" pitchFamily="34" charset="-122"/>
                <a:cs typeface="Red Hat Text" pitchFamily="34" charset="-120"/>
              </a:rPr>
              <a:t> order-service's shape (entity, REST resource, one synchronous call out, one event published) is the template to copy first.</a:t>
            </a:r>
            <a:endParaRPr lang="en-US" sz="1600" dirty="0"/>
          </a:p>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Add platform pieces as products need them:</a:t>
            </a:r>
            <a:r>
              <a:rPr lang="en-US" sz="1600" dirty="0">
                <a:solidFill>
                  <a:srgbClr val="242424"/>
                </a:solidFill>
                <a:latin typeface="Red Hat Text" pitchFamily="34" charset="0"/>
                <a:ea typeface="Red Hat Text" pitchFamily="34" charset="-122"/>
                <a:cs typeface="Red Hat Text" pitchFamily="34" charset="-120"/>
              </a:rPr>
              <a:t> Kafka, the registry, and KEDA first; then governance once there are products to govern. The registry comes before the catalog, and mTLS before admission policy.</a:t>
            </a:r>
            <a:endParaRPr lang="en-US" sz="1600" dirty="0"/>
          </a:p>
          <a:p>
            <a:pPr indent="0" marL="0">
              <a:spcBef>
                <a:spcPts val="800"/>
              </a:spcBef>
              <a:spcAft>
                <a:spcPts val="400"/>
              </a:spcAft>
              <a:buNone/>
            </a:pPr>
            <a:r>
              <a:rPr lang="en-US" sz="1700" b="1" dirty="0">
                <a:solidFill>
                  <a:srgbClr val="151515"/>
                </a:solidFill>
                <a:latin typeface="Overpass SemiBold" pitchFamily="34" charset="0"/>
                <a:ea typeface="Overpass SemiBold" pitchFamily="34" charset="-122"/>
                <a:cs typeface="Overpass SemiBold" pitchFamily="34" charset="-120"/>
              </a:rPr>
              <a:t>Verify each piece before adding the next</a:t>
            </a:r>
            <a:endParaRPr lang="en-US" sz="1600" dirty="0"/>
          </a:p>
          <a:p>
            <a:pPr marL="228600" indent="-228600">
              <a:spcBef>
                <a:spcPts val="400"/>
              </a:spcBef>
              <a:spcAft>
                <a:spcPts val="1400"/>
              </a:spcAft>
              <a:buSzPct val="100000"/>
              <a:buChar char="•"/>
            </a:pPr>
            <a:r>
              <a:rPr lang="en-US" sz="1600" dirty="0">
                <a:solidFill>
                  <a:srgbClr val="151515"/>
                </a:solidFill>
                <a:latin typeface="Red Hat Text" pitchFamily="34" charset="0"/>
                <a:ea typeface="Red Hat Text" pitchFamily="34" charset="-122"/>
                <a:cs typeface="Red Hat Text" pitchFamily="34" charset="-120"/>
              </a:rPr>
              <a:t>Each piece in this deck can be verified on its own: stand it up, confirm it with its own demo, then add the next. The project was built that way, and each chapter ends with a verification status footer.</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75</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WHOLE PICTURE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Analytical data: what it is and why it matters</a:t>
            </a:r>
            <a:endParaRPr lang="en-US" sz="3000" dirty="0"/>
          </a:p>
        </p:txBody>
      </p:sp>
      <p:pic>
        <p:nvPicPr>
          <p:cNvPr id="4" name="Image 0" descr="dpng/05-analytical-data-composition.png">    </p:cNvPr>
          <p:cNvPicPr>
            <a:picLocks noChangeAspect="1"/>
          </p:cNvPicPr>
          <p:nvPr/>
        </p:nvPicPr>
        <p:blipFill>
          <a:blip r:embed="rId1"/>
          <a:stretch>
            <a:fillRect/>
          </a:stretch>
        </p:blipFill>
        <p:spPr>
          <a:xfrm>
            <a:off x="1944320" y="1325880"/>
            <a:ext cx="8303056" cy="3657600"/>
          </a:xfrm>
          <a:prstGeom prst="rect">
            <a:avLst/>
          </a:prstGeom>
        </p:spPr>
      </p:pic>
      <p:sp>
        <p:nvSpPr>
          <p:cNvPr id="5" name="Text 2"/>
          <p:cNvSpPr/>
          <p:nvPr/>
        </p:nvSpPr>
        <p:spPr>
          <a:xfrm>
            <a:off x="640080" y="5074920"/>
            <a:ext cx="5272888" cy="1097280"/>
          </a:xfrm>
          <a:prstGeom prst="rect">
            <a:avLst/>
          </a:prstGeom>
          <a:noFill/>
          <a:ln/>
        </p:spPr>
        <p:txBody>
          <a:bodyPr wrap="square" lIns="0" tIns="0" rIns="0" bIns="0" rtlCol="0" anchor="t"/>
          <a:lstStyle/>
          <a:p>
            <a:pPr marL="228600" indent="-228600">
              <a:spcBef>
                <a:spcPts val="400"/>
              </a:spcBef>
              <a:spcAft>
                <a:spcPts val="1400"/>
              </a:spcAft>
              <a:buSzPct val="100000"/>
              <a:buChar char="•"/>
            </a:pPr>
            <a:r>
              <a:rPr lang="en-US" sz="1200" b="1" dirty="0">
                <a:solidFill>
                  <a:srgbClr val="151515"/>
                </a:solidFill>
                <a:latin typeface="Red Hat Text" pitchFamily="34" charset="0"/>
                <a:ea typeface="Red Hat Text" pitchFamily="34" charset="-122"/>
                <a:cs typeface="Red Hat Text" pitchFamily="34" charset="-120"/>
              </a:rPr>
              <a:t>What it is:</a:t>
            </a:r>
            <a:r>
              <a:rPr lang="en-US" sz="1200" dirty="0">
                <a:solidFill>
                  <a:srgbClr val="242424"/>
                </a:solidFill>
                <a:latin typeface="Red Hat Text" pitchFamily="34" charset="0"/>
                <a:ea typeface="Red Hat Text" pitchFamily="34" charset="-122"/>
                <a:cs typeface="Red Hat Text" pitchFamily="34" charset="-120"/>
              </a:rPr>
              <a:t> historical, integrated, read-optimized views across domains, used for decisions and models.</a:t>
            </a:r>
            <a:endParaRPr lang="en-US" sz="1200" dirty="0"/>
          </a:p>
          <a:p>
            <a:pPr marL="228600" indent="-228600">
              <a:spcBef>
                <a:spcPts val="400"/>
              </a:spcBef>
              <a:spcAft>
                <a:spcPts val="1400"/>
              </a:spcAft>
              <a:buSzPct val="100000"/>
              <a:buChar char="•"/>
            </a:pPr>
            <a:r>
              <a:rPr lang="en-US" sz="1200" b="1" dirty="0">
                <a:solidFill>
                  <a:srgbClr val="151515"/>
                </a:solidFill>
                <a:latin typeface="Red Hat Text" pitchFamily="34" charset="0"/>
                <a:ea typeface="Red Hat Text" pitchFamily="34" charset="-122"/>
                <a:cs typeface="Red Hat Text" pitchFamily="34" charset="-120"/>
              </a:rPr>
              <a:t>How a mesh produces it:</a:t>
            </a:r>
            <a:r>
              <a:rPr lang="en-US" sz="1200" dirty="0">
                <a:solidFill>
                  <a:srgbClr val="242424"/>
                </a:solidFill>
                <a:latin typeface="Red Hat Text" pitchFamily="34" charset="0"/>
                <a:ea typeface="Red Hat Text" pitchFamily="34" charset="-122"/>
                <a:cs typeface="Red Hat Text" pitchFamily="34" charset="-120"/>
              </a:rPr>
              <a:t> domain-owned analytical data products derived from operational events and published with contracts.</a:t>
            </a:r>
            <a:endParaRPr lang="en-US" sz="1200" dirty="0"/>
          </a:p>
        </p:txBody>
      </p:sp>
      <p:sp>
        <p:nvSpPr>
          <p:cNvPr id="6" name="Text 3"/>
          <p:cNvSpPr/>
          <p:nvPr/>
        </p:nvSpPr>
        <p:spPr>
          <a:xfrm>
            <a:off x="6278728" y="5074920"/>
            <a:ext cx="4998568" cy="1097280"/>
          </a:xfrm>
          <a:prstGeom prst="rect">
            <a:avLst/>
          </a:prstGeom>
          <a:noFill/>
          <a:ln/>
        </p:spPr>
        <p:txBody>
          <a:bodyPr wrap="square" lIns="0" tIns="0" rIns="0" bIns="0" rtlCol="0" anchor="t"/>
          <a:lstStyle/>
          <a:p>
            <a:pPr marL="228600" indent="-228600">
              <a:spcBef>
                <a:spcPts val="400"/>
              </a:spcBef>
              <a:spcAft>
                <a:spcPts val="1400"/>
              </a:spcAft>
              <a:buSzPct val="100000"/>
              <a:buChar char="•"/>
            </a:pPr>
            <a:r>
              <a:rPr lang="en-US" sz="1200" b="1" dirty="0">
                <a:solidFill>
                  <a:srgbClr val="151515"/>
                </a:solidFill>
                <a:latin typeface="Red Hat Text" pitchFamily="34" charset="0"/>
                <a:ea typeface="Red Hat Text" pitchFamily="34" charset="-122"/>
                <a:cs typeface="Red Hat Text" pitchFamily="34" charset="-120"/>
              </a:rPr>
              <a:t>Value:</a:t>
            </a:r>
            <a:r>
              <a:rPr lang="en-US" sz="1200" dirty="0">
                <a:solidFill>
                  <a:srgbClr val="242424"/>
                </a:solidFill>
                <a:latin typeface="Red Hat Text" pitchFamily="34" charset="0"/>
                <a:ea typeface="Red Hat Text" pitchFamily="34" charset="-122"/>
                <a:cs typeface="Red Hat Text" pitchFamily="34" charset="-120"/>
              </a:rPr>
              <a:t> trusted, discoverable data for decisions, ML features, and compliance, reused by many consumers without a central bottleneck.</a:t>
            </a:r>
            <a:endParaRPr lang="en-US" sz="1200" dirty="0"/>
          </a:p>
          <a:p>
            <a:pPr marL="228600" indent="-228600">
              <a:spcBef>
                <a:spcPts val="400"/>
              </a:spcBef>
              <a:spcAft>
                <a:spcPts val="1400"/>
              </a:spcAft>
              <a:buSzPct val="100000"/>
              <a:buChar char="•"/>
            </a:pPr>
            <a:r>
              <a:rPr lang="en-US" sz="1200" b="1" dirty="0">
                <a:solidFill>
                  <a:srgbClr val="151515"/>
                </a:solidFill>
                <a:latin typeface="Red Hat Text" pitchFamily="34" charset="0"/>
                <a:ea typeface="Red Hat Text" pitchFamily="34" charset="-122"/>
                <a:cs typeface="Red Hat Text" pitchFamily="34" charset="-120"/>
              </a:rPr>
              <a:t>Here:</a:t>
            </a:r>
            <a:r>
              <a:rPr lang="en-US" sz="1200" dirty="0">
                <a:solidFill>
                  <a:srgbClr val="242424"/>
                </a:solidFill>
                <a:latin typeface="Red Hat Text" pitchFamily="34" charset="0"/>
                <a:ea typeface="Red Hat Text" pitchFamily="34" charset="-122"/>
                <a:cs typeface="Red Hat Text" pitchFamily="34" charset="-120"/>
              </a:rPr>
              <a:t> the operational half is built; the analytical half is designed (sourcing and composition) and not built.</a:t>
            </a:r>
            <a:endParaRPr lang="en-US" sz="1200" dirty="0"/>
          </a:p>
        </p:txBody>
      </p:sp>
      <p:sp>
        <p:nvSpPr>
          <p:cNvPr id="7" name="Text 4"/>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76</a:t>
            </a:r>
            <a:endParaRPr lang="en-US" sz="1000" dirty="0"/>
          </a:p>
        </p:txBody>
      </p:sp>
      <p:pic>
        <p:nvPicPr>
          <p:cNvPr id="8"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286000"/>
            <a:ext cx="6431103" cy="1280160"/>
          </a:xfrm>
          <a:prstGeom prst="rect">
            <a:avLst/>
          </a:prstGeom>
          <a:noFill/>
          <a:ln/>
        </p:spPr>
        <p:txBody>
          <a:bodyPr wrap="square" lIns="0" tIns="0" rIns="0" bIns="0" rtlCol="0" anchor="t"/>
          <a:lstStyle/>
          <a:p>
            <a:pPr indent="0" marL="0">
              <a:buNone/>
            </a:pPr>
            <a:r>
              <a:rPr lang="en-US" sz="2700" b="1" dirty="0">
                <a:solidFill>
                  <a:srgbClr val="FFFFFF"/>
                </a:solidFill>
                <a:latin typeface="Overpass SemiBold" pitchFamily="34" charset="0"/>
                <a:ea typeface="Overpass SemiBold" pitchFamily="34" charset="-122"/>
                <a:cs typeface="Overpass SemiBold" pitchFamily="34" charset="-120"/>
              </a:rPr>
              <a:t>Nineteen demos. Three orchestration engines.</a:t>
            </a:r>
            <a:endParaRPr lang="en-US" sz="2700" dirty="0"/>
          </a:p>
        </p:txBody>
      </p:sp>
      <p:sp>
        <p:nvSpPr>
          <p:cNvPr id="4" name="Text 1"/>
          <p:cNvSpPr/>
          <p:nvPr/>
        </p:nvSpPr>
        <p:spPr>
          <a:xfrm>
            <a:off x="5120512" y="3566160"/>
            <a:ext cx="6431103" cy="822960"/>
          </a:xfrm>
          <a:prstGeom prst="rect">
            <a:avLst/>
          </a:prstGeom>
          <a:noFill/>
          <a:ln/>
        </p:spPr>
        <p:txBody>
          <a:bodyPr wrap="square" lIns="0" tIns="0" rIns="0" bIns="0" rtlCol="0" anchor="t"/>
          <a:lstStyle/>
          <a:p>
            <a:pPr indent="0" marL="0">
              <a:buNone/>
            </a:pPr>
            <a:r>
              <a:rPr lang="en-US" sz="2700" b="1" dirty="0">
                <a:solidFill>
                  <a:srgbClr val="FFD9D9"/>
                </a:solidFill>
                <a:latin typeface="Overpass SemiBold" pitchFamily="34" charset="0"/>
                <a:ea typeface="Overpass SemiBold" pitchFamily="34" charset="-122"/>
                <a:cs typeface="Overpass SemiBold" pitchFamily="34" charset="-120"/>
              </a:rPr>
              <a:t>Every capability backed by code in this project.</a:t>
            </a:r>
            <a:endParaRPr lang="en-US" sz="2700" dirty="0"/>
          </a:p>
        </p:txBody>
      </p:sp>
      <p:sp>
        <p:nvSpPr>
          <p:cNvPr id="5" name="Text 2"/>
          <p:cNvSpPr/>
          <p:nvPr/>
        </p:nvSpPr>
        <p:spPr>
          <a:xfrm>
            <a:off x="5120512" y="4572000"/>
            <a:ext cx="6431103" cy="548640"/>
          </a:xfrm>
          <a:prstGeom prst="rect">
            <a:avLst/>
          </a:prstGeom>
          <a:noFill/>
          <a:ln/>
        </p:spPr>
        <p:txBody>
          <a:bodyPr wrap="square" lIns="0" tIns="0" rIns="0" bIns="0" rtlCol="0" anchor="t"/>
          <a:lstStyle/>
          <a:p>
            <a:pPr indent="0" marL="0">
              <a:buNone/>
            </a:pPr>
            <a:r>
              <a:rPr lang="en-US" sz="1450" i="1" dirty="0">
                <a:solidFill>
                  <a:srgbClr val="FFFFFF"/>
                </a:solidFill>
                <a:latin typeface="Red Hat Text" pitchFamily="34" charset="0"/>
                <a:ea typeface="Red Hat Text" pitchFamily="34" charset="-122"/>
                <a:cs typeface="Red Hat Text" pitchFamily="34" charset="-120"/>
              </a:rPr>
              <a:t>Quarkus and Kubernetes give the four principles a working platform.</a:t>
            </a:r>
            <a:endParaRPr lang="en-US" sz="145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
        <p:nvSpPr>
          <p:cNvPr id="7"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FFFFFF">
                    <a:alpha val="80000"/>
                  </a:srgbClr>
                </a:solidFill>
                <a:latin typeface="Red Hat Text" pitchFamily="34" charset="0"/>
                <a:ea typeface="Red Hat Text" pitchFamily="34" charset="-122"/>
                <a:cs typeface="Red Hat Text" pitchFamily="34" charset="-120"/>
              </a:rPr>
              <a:t>77</a:t>
            </a:r>
            <a:endParaRPr lang="en-US" sz="10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11</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Appendices</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Seven optional deep-dives, one topic each.</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A1</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Scaling WebSocket push with Kafka</a:t>
            </a:r>
            <a:endParaRPr lang="en-US" sz="3000" dirty="0"/>
          </a:p>
        </p:txBody>
      </p:sp>
      <p:pic>
        <p:nvPicPr>
          <p:cNvPr id="4" name="Image 0" descr="dpng/16-websocket-scaling.png">    </p:cNvPr>
          <p:cNvPicPr>
            <a:picLocks noChangeAspect="1"/>
          </p:cNvPicPr>
          <p:nvPr/>
        </p:nvPicPr>
        <p:blipFill>
          <a:blip r:embed="rId1"/>
          <a:stretch>
            <a:fillRect/>
          </a:stretch>
        </p:blipFill>
        <p:spPr>
          <a:xfrm>
            <a:off x="1598697" y="1645920"/>
            <a:ext cx="8994301"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A shared consumer group persists notifications; each replica also consumes the topic under its own group and pushes to its local sockets.</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79</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A1</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Surviving a replica failure</a:t>
            </a:r>
            <a:endParaRPr lang="en-US" sz="3000" dirty="0"/>
          </a:p>
        </p:txBody>
      </p:sp>
      <p:pic>
        <p:nvPicPr>
          <p:cNvPr id="4" name="Image 0" descr="dpng/16-websocket-failover.png">    </p:cNvPr>
          <p:cNvPicPr>
            <a:picLocks noChangeAspect="1"/>
          </p:cNvPicPr>
          <p:nvPr/>
        </p:nvPicPr>
        <p:blipFill>
          <a:blip r:embed="rId1"/>
          <a:stretch>
            <a:fillRect/>
          </a:stretch>
        </p:blipFill>
        <p:spPr>
          <a:xfrm>
            <a:off x="731520" y="1793769"/>
            <a:ext cx="10728655" cy="3636222"/>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The socket closes, the client backs off with jitter, and a reconnect lands on a replica that already receives every event.</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80</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A2</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Gotchas</a:t>
            </a:r>
            <a:endParaRPr lang="en-US" sz="3000" dirty="0"/>
          </a:p>
        </p:txBody>
      </p:sp>
      <p:pic>
        <p:nvPicPr>
          <p:cNvPr id="4" name="Image 0" descr="dpng/17-gotchas.png">    </p:cNvPr>
          <p:cNvPicPr>
            <a:picLocks noChangeAspect="1"/>
          </p:cNvPicPr>
          <p:nvPr/>
        </p:nvPicPr>
        <p:blipFill>
          <a:blip r:embed="rId1"/>
          <a:stretch>
            <a:fillRect/>
          </a:stretch>
        </p:blipFill>
        <p:spPr>
          <a:xfrm>
            <a:off x="2780818" y="1645920"/>
            <a:ext cx="6630059"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Eight pitfalls hit while building this project, each with its symptom and the fix that landed.</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81</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A3</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Agentic recommendations</a:t>
            </a:r>
            <a:endParaRPr lang="en-US" sz="3000" dirty="0"/>
          </a:p>
        </p:txBody>
      </p:sp>
      <p:pic>
        <p:nvPicPr>
          <p:cNvPr id="4" name="Image 0" descr="dpng/18-agentic-recommendations.png">    </p:cNvPr>
          <p:cNvPicPr>
            <a:picLocks noChangeAspect="1"/>
          </p:cNvPicPr>
          <p:nvPr/>
        </p:nvPicPr>
        <p:blipFill>
          <a:blip r:embed="rId1"/>
          <a:stretch>
            <a:fillRect/>
          </a:stretch>
        </p:blipFill>
        <p:spPr>
          <a:xfrm>
            <a:off x="2060521" y="1645920"/>
            <a:ext cx="8070654"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A plan, execute, validate relay: a stronger model plans and validates, a faster model executes, and the diff is verified independently.</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82</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A4</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Testing in detail</a:t>
            </a:r>
            <a:endParaRPr lang="en-US" sz="3000" dirty="0"/>
          </a:p>
        </p:txBody>
      </p:sp>
      <p:pic>
        <p:nvPicPr>
          <p:cNvPr id="4" name="Image 0" descr="dpng/19-testing-pyramid.png">    </p:cNvPr>
          <p:cNvPicPr>
            <a:picLocks noChangeAspect="1"/>
          </p:cNvPicPr>
          <p:nvPr/>
        </p:nvPicPr>
        <p:blipFill>
          <a:blip r:embed="rId1"/>
          <a:stretch>
            <a:fillRect/>
          </a:stretch>
        </p:blipFill>
        <p:spPr>
          <a:xfrm>
            <a:off x="2471316" y="1645920"/>
            <a:ext cx="7249063"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Unit @QuarkusTest at the base, failsafe integration tests above, functional (Newman) and load (hey, ghz) at the top, and the phases run-all-tests.sh walks.</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83</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A5</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Vert.x in-memory messaging</a:t>
            </a:r>
            <a:endParaRPr lang="en-US" sz="3000" dirty="0"/>
          </a:p>
        </p:txBody>
      </p:sp>
      <p:pic>
        <p:nvPicPr>
          <p:cNvPr id="4" name="Image 0" descr="dpng/20-vertx-in-memory.png">    </p:cNvPr>
          <p:cNvPicPr>
            <a:picLocks noChangeAspect="1"/>
          </p:cNvPicPr>
          <p:nvPr/>
        </p:nvPicPr>
        <p:blipFill>
          <a:blip r:embed="rId1"/>
          <a:stretch>
            <a:fillRect/>
          </a:stretch>
        </p:blipFill>
        <p:spPr>
          <a:xfrm>
            <a:off x="1381570" y="1645920"/>
            <a:ext cx="9428554"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Producers and consumers inside one JVM, over Vert.x's event bus, scaling up with cores. Illustrative; this project uses the in-memory connector in shipping-service tests.</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84</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A5</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Kafka messaging</a:t>
            </a:r>
            <a:endParaRPr lang="en-US" sz="3000" dirty="0"/>
          </a:p>
        </p:txBody>
      </p:sp>
      <p:pic>
        <p:nvPicPr>
          <p:cNvPr id="4" name="Image 0" descr="dpng/20-kafka-messaging.png">    </p:cNvPr>
          <p:cNvPicPr>
            <a:picLocks noChangeAspect="1"/>
          </p:cNvPicPr>
          <p:nvPr/>
        </p:nvPicPr>
        <p:blipFill>
          <a:blip r:embed="rId1"/>
          <a:stretch>
            <a:fillRect/>
          </a:stretch>
        </p:blipFill>
        <p:spPr>
          <a:xfrm>
            <a:off x="1563909" y="1645920"/>
            <a:ext cx="9063877"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Producers write to partitions; consumer groups read independently, with retention and offsets giving replay and Apicurio holding the schemas.</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85</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A5</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In-memory vs. Kafka, side by side</a:t>
            </a:r>
            <a:endParaRPr lang="en-US" sz="3000" dirty="0"/>
          </a:p>
        </p:txBody>
      </p:sp>
      <p:pic>
        <p:nvPicPr>
          <p:cNvPr id="4" name="Image 0" descr="dpng/20-inmemory-vs-kafka.png">    </p:cNvPr>
          <p:cNvPicPr>
            <a:picLocks noChangeAspect="1"/>
          </p:cNvPicPr>
          <p:nvPr/>
        </p:nvPicPr>
        <p:blipFill>
          <a:blip r:embed="rId1"/>
          <a:stretch>
            <a:fillRect/>
          </a:stretch>
        </p:blipFill>
        <p:spPr>
          <a:xfrm>
            <a:off x="1456239" y="1645920"/>
            <a:ext cx="9279218"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The same @Incoming and @Outgoing code over two connectors: in-memory Vert.x for fast, deterministic tests and Kafka for the durable, partitioned production transport.</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86</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A6</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three engines, compared</a:t>
            </a:r>
            <a:endParaRPr lang="en-US" sz="3000" dirty="0"/>
          </a:p>
        </p:txBody>
      </p:sp>
      <p:pic>
        <p:nvPicPr>
          <p:cNvPr id="4" name="Image 0" descr="dpng/21-three-engines-compare.png">    </p:cNvPr>
          <p:cNvPicPr>
            <a:picLocks noChangeAspect="1"/>
          </p:cNvPicPr>
          <p:nvPr/>
        </p:nvPicPr>
        <p:blipFill>
          <a:blip r:embed="rId1"/>
          <a:stretch>
            <a:fillRect/>
          </a:stretch>
        </p:blipFill>
        <p:spPr>
          <a:xfrm>
            <a:off x="1300895" y="1645920"/>
            <a:ext cx="958990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Kafka choreography against two shapes of orchestration (a Camel route and a Quarkus Flow document), compared by sequence ownership, coupling, failure handling, debugging, and where the logic lives.</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87</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A7</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Running on OpenShift Local</a:t>
            </a:r>
            <a:endParaRPr lang="en-US" sz="3000" dirty="0"/>
          </a:p>
        </p:txBody>
      </p:sp>
      <p:pic>
        <p:nvPicPr>
          <p:cNvPr id="4" name="Image 0" descr="dpng/22-crc-openshift-topology.png">    </p:cNvPr>
          <p:cNvPicPr>
            <a:picLocks noChangeAspect="1"/>
          </p:cNvPicPr>
          <p:nvPr/>
        </p:nvPicPr>
        <p:blipFill>
          <a:blip r:embed="rId1"/>
          <a:stretch>
            <a:fillRect/>
          </a:stretch>
        </p:blipFill>
        <p:spPr>
          <a:xfrm>
            <a:off x="1996346" y="1645920"/>
            <a:ext cx="8199004"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The same seven services in one project: two edge-TLS Routes in front, Kafka from AMQ Streams, PostgreSQL 18 and Apicurio 3.3.3 behind, under restricted-v2.</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88</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A7</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Building images inside the cluster</a:t>
            </a:r>
            <a:endParaRPr lang="en-US" sz="3000" dirty="0"/>
          </a:p>
        </p:txBody>
      </p:sp>
      <p:pic>
        <p:nvPicPr>
          <p:cNvPr id="4" name="Image 0" descr="dpng/22-crc-image-build.png">    </p:cNvPr>
          <p:cNvPicPr>
            <a:picLocks noChangeAspect="1"/>
          </p:cNvPicPr>
          <p:nvPr/>
        </p:nvPicPr>
        <p:blipFill>
          <a:blip r:embed="rId1"/>
          <a:stretch>
            <a:fillRect/>
          </a:stretch>
        </p:blipFill>
        <p:spPr>
          <a:xfrm>
            <a:off x="731520" y="1829771"/>
            <a:ext cx="10728655" cy="3564218"/>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mvn package -Popenshift produces a fast-jar; a binary S2I build in the cluster turns it into an ImageStream tag the Deployment pulls.</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89</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A7</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What changes on OpenShift</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Security</a:t>
            </a:r>
            <a:r>
              <a:rPr lang="en-US" sz="1600" dirty="0">
                <a:solidFill>
                  <a:srgbClr val="242424"/>
                </a:solidFill>
                <a:latin typeface="Red Hat Text" pitchFamily="34" charset="0"/>
                <a:ea typeface="Red Hat Text" pitchFamily="34" charset="-122"/>
                <a:cs typeface="Red Hat Text" pitchFamily="34" charset="-120"/>
              </a:rPr>
              <a:t>: restricted-v2 assigns the UID, so the chart sets no runAsUser.</a:t>
            </a:r>
            <a:endParaRPr lang="en-US" sz="1600" dirty="0"/>
          </a:p>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Host access</a:t>
            </a:r>
            <a:r>
              <a:rPr lang="en-US" sz="1600" dirty="0">
                <a:solidFill>
                  <a:srgbClr val="242424"/>
                </a:solidFill>
                <a:latin typeface="Red Hat Text" pitchFamily="34" charset="0"/>
                <a:ea typeface="Red Hat Text" pitchFamily="34" charset="-122"/>
                <a:cs typeface="Red Hat Text" pitchFamily="34" charset="-120"/>
              </a:rPr>
              <a:t>: Routes with edge TLS replace NodePorts on 127.0.0.1.</a:t>
            </a:r>
            <a:endParaRPr lang="en-US" sz="1600" dirty="0"/>
          </a:p>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Images</a:t>
            </a:r>
            <a:r>
              <a:rPr lang="en-US" sz="1600" dirty="0">
                <a:solidFill>
                  <a:srgbClr val="242424"/>
                </a:solidFill>
                <a:latin typeface="Red Hat Text" pitchFamily="34" charset="0"/>
                <a:ea typeface="Red Hat Text" pitchFamily="34" charset="-122"/>
                <a:cs typeface="Red Hat Text" pitchFamily="34" charset="-120"/>
              </a:rPr>
              <a:t>: built in the cluster by quarkus-openshift binary S2I.</a:t>
            </a:r>
            <a:endParaRPr lang="en-US" sz="1600" dirty="0"/>
          </a:p>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Kafka</a:t>
            </a:r>
            <a:r>
              <a:rPr lang="en-US" sz="1600" dirty="0">
                <a:solidFill>
                  <a:srgbClr val="242424"/>
                </a:solidFill>
                <a:latin typeface="Red Hat Text" pitchFamily="34" charset="0"/>
                <a:ea typeface="Red Hat Text" pitchFamily="34" charset="-122"/>
                <a:cs typeface="Red Hat Text" pitchFamily="34" charset="-120"/>
              </a:rPr>
              <a:t>: AMQ Streams from OperatorHub instead of Strimzi through Helm.</a:t>
            </a:r>
            <a:endParaRPr lang="en-US" sz="1600" dirty="0"/>
          </a:p>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Postgres</a:t>
            </a:r>
            <a:r>
              <a:rPr lang="en-US" sz="1600" dirty="0">
                <a:solidFill>
                  <a:srgbClr val="242424"/>
                </a:solidFill>
                <a:latin typeface="Red Hat Text" pitchFamily="34" charset="0"/>
                <a:ea typeface="Red Hat Text" pitchFamily="34" charset="-122"/>
                <a:cs typeface="Red Hat Text" pitchFamily="34" charset="-120"/>
              </a:rPr>
              <a:t>: a PostgreSQL 18 StatefulSet on the Red Hat image instead of CloudNativePG.</a:t>
            </a:r>
            <a:endParaRPr lang="en-US" sz="1600" dirty="0"/>
          </a:p>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review-service</a:t>
            </a:r>
            <a:r>
              <a:rPr lang="en-US" sz="1600" dirty="0">
                <a:solidFill>
                  <a:srgbClr val="242424"/>
                </a:solidFill>
                <a:latin typeface="Red Hat Text" pitchFamily="34" charset="0"/>
                <a:ea typeface="Red Hat Text" pitchFamily="34" charset="-122"/>
                <a:cs typeface="Red Hat Text" pitchFamily="34" charset="-120"/>
              </a:rPr>
              <a:t>: runs with the OIDC tenant disabled; DELETE answers 401.</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90</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A7</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What broke on the live run, and the fix</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No BuildConfig</a:t>
            </a:r>
            <a:r>
              <a:rPr lang="en-US" sz="1600" dirty="0">
                <a:solidFill>
                  <a:srgbClr val="242424"/>
                </a:solidFill>
                <a:latin typeface="Red Hat Text" pitchFamily="34" charset="0"/>
                <a:ea typeface="Red Hat Text" pitchFamily="34" charset="-122"/>
                <a:cs typeface="Red Hat Text" pitchFamily="34" charset="-120"/>
              </a:rPr>
              <a:t>: quarkus-container-image-openshift alone generated none; use the full quarkus-openshift extension.</a:t>
            </a:r>
            <a:endParaRPr lang="en-US" sz="1600" dirty="0"/>
          </a:p>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Wrong tag</a:t>
            </a:r>
            <a:r>
              <a:rPr lang="en-US" sz="1600" dirty="0">
                <a:solidFill>
                  <a:srgbClr val="242424"/>
                </a:solidFill>
                <a:latin typeface="Red Hat Text" pitchFamily="34" charset="0"/>
                <a:ea typeface="Red Hat Text" pitchFamily="34" charset="-122"/>
                <a:cs typeface="Red Hat Text" pitchFamily="34" charset="-120"/>
              </a:rPr>
              <a:t>: the output tag follows quarkus.openshift.version, not quarkus.container-image.tag.</a:t>
            </a:r>
            <a:endParaRPr lang="en-US" sz="1600" dirty="0"/>
          </a:p>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Heap sizing</a:t>
            </a:r>
            <a:r>
              <a:rPr lang="en-US" sz="1600" dirty="0">
                <a:solidFill>
                  <a:srgbClr val="242424"/>
                </a:solidFill>
                <a:latin typeface="Red Hat Text" pitchFamily="34" charset="0"/>
                <a:ea typeface="Red Hat Text" pitchFamily="34" charset="-122"/>
                <a:cs typeface="Red Hat Text" pitchFamily="34" charset="-120"/>
              </a:rPr>
              <a:t>: the S2I image reads JAVA_MAX_MEM_RATIO (default 80); set to 50.</a:t>
            </a:r>
            <a:endParaRPr lang="en-US" sz="1600" dirty="0"/>
          </a:p>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Restarts</a:t>
            </a:r>
            <a:r>
              <a:rPr lang="en-US" sz="1600" dirty="0">
                <a:solidFill>
                  <a:srgbClr val="242424"/>
                </a:solidFill>
                <a:latin typeface="Red Hat Text" pitchFamily="34" charset="0"/>
                <a:ea typeface="Red Hat Text" pitchFamily="34" charset="-122"/>
                <a:cs typeface="Red Hat Text" pitchFamily="34" charset="-120"/>
              </a:rPr>
              <a:t>: DB services restarted while Postgres initialised; a wait-for-postgres init container fixes it.</a:t>
            </a:r>
            <a:endParaRPr lang="en-US" sz="1600" dirty="0"/>
          </a:p>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Deprecated API</a:t>
            </a:r>
            <a:r>
              <a:rPr lang="en-US" sz="1600" dirty="0">
                <a:solidFill>
                  <a:srgbClr val="242424"/>
                </a:solidFill>
                <a:latin typeface="Red Hat Text" pitchFamily="34" charset="0"/>
                <a:ea typeface="Red Hat Text" pitchFamily="34" charset="-122"/>
                <a:cs typeface="Red Hat Text" pitchFamily="34" charset="-120"/>
              </a:rPr>
              <a:t>: v1beta2 Kafka is deprecated in AMQ Streams 3.2; moved to kafka.strimzi.io/v1.</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91</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A7</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platform tier on OpenShift Local</a:t>
            </a:r>
            <a:endParaRPr lang="en-US" sz="3000" dirty="0"/>
          </a:p>
        </p:txBody>
      </p:sp>
      <p:pic>
        <p:nvPicPr>
          <p:cNvPr id="4" name="Image 0" descr="dpng/22-crc-platform-tier.png">    </p:cNvPr>
          <p:cNvPicPr>
            <a:picLocks noChangeAspect="1"/>
          </p:cNvPicPr>
          <p:nvPr/>
        </p:nvPicPr>
        <p:blipFill>
          <a:blip r:embed="rId1"/>
          <a:stretch>
            <a:fillRect/>
          </a:stretch>
        </p:blipFill>
        <p:spPr>
          <a:xfrm>
            <a:off x="2305014" y="1645920"/>
            <a:ext cx="7581667"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Six operators on top of the core: Service Mesh 3, the Custom Metrics Autoscaler, OpenTelemetry, Ollama, an in-cluster native build, and OpenShift GitOps.</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92</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A7</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Platform tier: what it took</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Service mesh</a:t>
            </a:r>
            <a:r>
              <a:rPr lang="en-US" sz="1600" dirty="0">
                <a:solidFill>
                  <a:srgbClr val="242424"/>
                </a:solidFill>
                <a:latin typeface="Red Hat Text" pitchFamily="34" charset="0"/>
                <a:ea typeface="Red Hat Text" pitchFamily="34" charset="-122"/>
                <a:cs typeface="Red Hat Text" pitchFamily="34" charset="-120"/>
              </a:rPr>
              <a:t>: Service Mesh 3 injects by namespace label; the gateway needs PERMISSIVE mTLS for the Route.</a:t>
            </a:r>
            <a:endParaRPr lang="en-US" sz="1600" dirty="0"/>
          </a:p>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Autoscaling</a:t>
            </a:r>
            <a:r>
              <a:rPr lang="en-US" sz="1600" dirty="0">
                <a:solidFill>
                  <a:srgbClr val="242424"/>
                </a:solidFill>
                <a:latin typeface="Red Hat Text" pitchFamily="34" charset="0"/>
                <a:ea typeface="Red Hat Text" pitchFamily="34" charset="-122"/>
                <a:cs typeface="Red Hat Text" pitchFamily="34" charset="-120"/>
              </a:rPr>
              <a:t>: Custom Metrics Autoscaler needs the fully qualified Kafka bootstrap, since KEDA runs in openshift-keda.</a:t>
            </a:r>
            <a:endParaRPr lang="en-US" sz="1600" dirty="0"/>
          </a:p>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Tracing</a:t>
            </a:r>
            <a:r>
              <a:rPr lang="en-US" sz="1600" dirty="0">
                <a:solidFill>
                  <a:srgbClr val="242424"/>
                </a:solidFill>
                <a:latin typeface="Red Hat Text" pitchFamily="34" charset="0"/>
                <a:ea typeface="Red Hat Text" pitchFamily="34" charset="-122"/>
                <a:cs typeface="Red Hat Text" pitchFamily="34" charset="-120"/>
              </a:rPr>
              <a:t>: the OTel operator injects the agent; otel-lgtm runs under anyuid with no seccomp profile.</a:t>
            </a:r>
            <a:endParaRPr lang="en-US" sz="1600" dirty="0"/>
          </a:p>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AI</a:t>
            </a:r>
            <a:r>
              <a:rPr lang="en-US" sz="1600" dirty="0">
                <a:solidFill>
                  <a:srgbClr val="242424"/>
                </a:solidFill>
                <a:latin typeface="Red Hat Text" pitchFamily="34" charset="0"/>
                <a:ea typeface="Red Hat Text" pitchFamily="34" charset="-122"/>
                <a:cs typeface="Red Hat Text" pitchFamily="34" charset="-120"/>
              </a:rPr>
              <a:t>: Ollama runs under restricted-v2 with HOME and OLLAMA_MODELS on a PVC.</a:t>
            </a:r>
            <a:endParaRPr lang="en-US" sz="1600" dirty="0"/>
          </a:p>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Native</a:t>
            </a:r>
            <a:r>
              <a:rPr lang="en-US" sz="1600" dirty="0">
                <a:solidFill>
                  <a:srgbClr val="242424"/>
                </a:solidFill>
                <a:latin typeface="Red Hat Text" pitchFamily="34" charset="0"/>
                <a:ea typeface="Red Hat Text" pitchFamily="34" charset="-122"/>
                <a:cs typeface="Red Hat Text" pitchFamily="34" charset="-120"/>
              </a:rPr>
              <a:t>: the Avro allow-list must be a native build argument, not runtime configuration.</a:t>
            </a:r>
            <a:endParaRPr lang="en-US" sz="1600" dirty="0"/>
          </a:p>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GitOps</a:t>
            </a:r>
            <a:r>
              <a:rPr lang="en-US" sz="1600" dirty="0">
                <a:solidFill>
                  <a:srgbClr val="242424"/>
                </a:solidFill>
                <a:latin typeface="Red Hat Text" pitchFamily="34" charset="0"/>
                <a:ea typeface="Red Hat Text" pitchFamily="34" charset="-122"/>
                <a:cs typeface="Red Hat Text" pitchFamily="34" charset="-120"/>
              </a:rPr>
              <a:t>: Argo CD ignores the Postgres password field so syncs never rotate it.</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93</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A7</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Native vs JVM on OpenShift Local</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Startup</a:t>
            </a:r>
            <a:r>
              <a:rPr lang="en-US" sz="1600" dirty="0">
                <a:solidFill>
                  <a:srgbClr val="242424"/>
                </a:solidFill>
                <a:latin typeface="Red Hat Text" pitchFamily="34" charset="0"/>
                <a:ea typeface="Red Hat Text" pitchFamily="34" charset="-122"/>
                <a:cs typeface="Red Hat Text" pitchFamily="34" charset="-120"/>
              </a:rPr>
              <a:t>: 0.077 s native against 8.0 s for the JVM pod.</a:t>
            </a:r>
            <a:endParaRPr lang="en-US" sz="1600" dirty="0"/>
          </a:p>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Working set</a:t>
            </a:r>
            <a:r>
              <a:rPr lang="en-US" sz="1600" dirty="0">
                <a:solidFill>
                  <a:srgbClr val="242424"/>
                </a:solidFill>
                <a:latin typeface="Red Hat Text" pitchFamily="34" charset="0"/>
                <a:ea typeface="Red Hat Text" pitchFamily="34" charset="-122"/>
                <a:cs typeface="Red Hat Text" pitchFamily="34" charset="-120"/>
              </a:rPr>
              <a:t>: 29 MiB native against 200 MiB for the JVM pod.</a:t>
            </a:r>
            <a:endParaRPr lang="en-US" sz="1600" dirty="0"/>
          </a:p>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Build</a:t>
            </a:r>
            <a:r>
              <a:rPr lang="en-US" sz="1600" dirty="0">
                <a:solidFill>
                  <a:srgbClr val="242424"/>
                </a:solidFill>
                <a:latin typeface="Red Hat Text" pitchFamily="34" charset="0"/>
                <a:ea typeface="Red Hat Text" pitchFamily="34" charset="-122"/>
                <a:cs typeface="Red Hat Text" pitchFamily="34" charset="-120"/>
              </a:rPr>
              <a:t>: compiled in the cluster in about 2.5 min by a Mandrel 25.0 builder image.</a:t>
            </a:r>
            <a:endParaRPr lang="en-US" sz="1600" dirty="0"/>
          </a:p>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Fairness</a:t>
            </a:r>
            <a:r>
              <a:rPr lang="en-US" sz="1600" dirty="0">
                <a:solidFill>
                  <a:srgbClr val="242424"/>
                </a:solidFill>
                <a:latin typeface="Red Hat Text" pitchFamily="34" charset="0"/>
                <a:ea typeface="Red Hat Text" pitchFamily="34" charset="-122"/>
                <a:cs typeface="Red Hat Text" pitchFamily="34" charset="-120"/>
              </a:rPr>
              <a:t>: the JVM pod also carries the OpenTelemetry agent; an Envoy sidecar runs beside both.</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94</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A</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Appendix</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The full demo matrix, a known limitation in detail, infrastructure reference, a glossary, and background diagrams.</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 DEMO MATRIX</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All 19 demos by infra tier (1 of 2): bare and compose</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indent="0" marL="0">
              <a:spcAft>
                <a:spcPts val="400"/>
              </a:spcAft>
              <a:buNone/>
            </a:pPr>
            <a:r>
              <a:rPr lang="en-US" sz="1700" b="1" dirty="0">
                <a:solidFill>
                  <a:srgbClr val="151515"/>
                </a:solidFill>
                <a:latin typeface="Overpass SemiBold" pitchFamily="34" charset="0"/>
                <a:ea typeface="Overpass SemiBold" pitchFamily="34" charset="-122"/>
                <a:cs typeface="Overpass SemiBold" pitchFamily="34" charset="-120"/>
              </a:rPr>
              <a:t>bare: JVM or Dev Services only, no compose, no cluster</a:t>
            </a:r>
            <a:endParaRPr lang="en-US" sz="1700" dirty="0"/>
          </a:p>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demo-jbang-prototype.sh</a:t>
            </a:r>
            <a:r>
              <a:rPr lang="en-US" sz="1600" dirty="0">
                <a:solidFill>
                  <a:srgbClr val="242424"/>
                </a:solidFill>
                <a:latin typeface="Red Hat Text" pitchFamily="34" charset="0"/>
                <a:ea typeface="Red Hat Text" pitchFamily="34" charset="-122"/>
                <a:cs typeface="Red Hat Text" pitchFamily="34" charset="-120"/>
              </a:rPr>
              <a:t>: JBang and Camel CLI prototyping, no Maven module.</a:t>
            </a:r>
            <a:endParaRPr lang="en-US" sz="1700" dirty="0"/>
          </a:p>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demo-panama.sh</a:t>
            </a:r>
            <a:r>
              <a:rPr lang="en-US" sz="1600" dirty="0">
                <a:solidFill>
                  <a:srgbClr val="242424"/>
                </a:solidFill>
                <a:latin typeface="Red Hat Text" pitchFamily="34" charset="0"/>
                <a:ea typeface="Red Hat Text" pitchFamily="34" charset="-122"/>
                <a:cs typeface="Red Hat Text" pitchFamily="34" charset="-120"/>
              </a:rPr>
              <a:t>: Panama FFM calls to libc from a JBang script.</a:t>
            </a:r>
            <a:endParaRPr lang="en-US" sz="1700" dirty="0"/>
          </a:p>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demo-continuous-testing.sh</a:t>
            </a:r>
            <a:r>
              <a:rPr lang="en-US" sz="1600" dirty="0">
                <a:solidFill>
                  <a:srgbClr val="242424"/>
                </a:solidFill>
                <a:latin typeface="Red Hat Text" pitchFamily="34" charset="0"/>
                <a:ea typeface="Red Hat Text" pitchFamily="34" charset="-122"/>
                <a:cs typeface="Red Hat Text" pitchFamily="34" charset="-120"/>
              </a:rPr>
              <a:t>: quarkus:dev continuous testing with Dev Services.</a:t>
            </a:r>
            <a:endParaRPr lang="en-US" sz="1700" dirty="0"/>
          </a:p>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demo-native.sh</a:t>
            </a:r>
            <a:r>
              <a:rPr lang="en-US" sz="1600" dirty="0">
                <a:solidFill>
                  <a:srgbClr val="242424"/>
                </a:solidFill>
                <a:latin typeface="Red Hat Text" pitchFamily="34" charset="0"/>
                <a:ea typeface="Red Hat Text" pitchFamily="34" charset="-122"/>
                <a:cs typeface="Red Hat Text" pitchFamily="34" charset="-120"/>
              </a:rPr>
              <a:t>: GraalVM or Mandrel native build and boot (opt-in).</a:t>
            </a:r>
            <a:endParaRPr lang="en-US" sz="1700" dirty="0"/>
          </a:p>
          <a:p>
            <a:pPr indent="0" marL="0">
              <a:spcBef>
                <a:spcPts val="800"/>
              </a:spcBef>
              <a:spcAft>
                <a:spcPts val="400"/>
              </a:spcAft>
              <a:buNone/>
            </a:pPr>
            <a:r>
              <a:rPr lang="en-US" sz="1700" b="1" dirty="0">
                <a:solidFill>
                  <a:srgbClr val="151515"/>
                </a:solidFill>
                <a:latin typeface="Overpass SemiBold" pitchFamily="34" charset="0"/>
                <a:ea typeface="Overpass SemiBold" pitchFamily="34" charset="-122"/>
                <a:cs typeface="Overpass SemiBold" pitchFamily="34" charset="-120"/>
              </a:rPr>
              <a:t>compose: infra baseline (docker compose up -d)</a:t>
            </a:r>
            <a:endParaRPr lang="en-US" sz="1700" dirty="0"/>
          </a:p>
          <a:p>
            <a:pPr marL="228600" indent="-228600">
              <a:spcBef>
                <a:spcPts val="400"/>
              </a:spcBef>
              <a:spcAft>
                <a:spcPts val="1400"/>
              </a:spcAft>
              <a:buSzPct val="100000"/>
              <a:buChar char="•"/>
            </a:pPr>
            <a:r>
              <a:rPr lang="en-US" sz="1600" dirty="0">
                <a:solidFill>
                  <a:srgbClr val="242424"/>
                </a:solidFill>
                <a:latin typeface="Red Hat Text" pitchFamily="34" charset="0"/>
                <a:ea typeface="Red Hat Text" pitchFamily="34" charset="-122"/>
                <a:cs typeface="Red Hat Text" pitchFamily="34" charset="-120"/>
              </a:rPr>
              <a:t>demo-order.sh · demo-grpc.sh · demo-graphql.sh · demo-kafka.sh · demo-tracing.sh · demo-websocket.sh · demo-reactive-vertx.sh</a:t>
            </a:r>
            <a:endParaRPr lang="en-US" sz="1700" dirty="0"/>
          </a:p>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demo-oidc.sh</a:t>
            </a:r>
            <a:r>
              <a:rPr lang="en-US" sz="1600" dirty="0">
                <a:solidFill>
                  <a:srgbClr val="242424"/>
                </a:solidFill>
                <a:latin typeface="Red Hat Text" pitchFamily="34" charset="0"/>
                <a:ea typeface="Red Hat Text" pitchFamily="34" charset="-122"/>
                <a:cs typeface="Red Hat Text" pitchFamily="34" charset="-120"/>
              </a:rPr>
              <a:t>: feasibility-gated; may be skipped.</a:t>
            </a:r>
            <a:endParaRPr lang="en-US" sz="17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96</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 DEMO MATRIX</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All 19 demos by infra tier (2 of 2): ollama, Kubernetes</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indent="0" marL="0">
              <a:spcAft>
                <a:spcPts val="400"/>
              </a:spcAft>
              <a:buNone/>
            </a:pPr>
            <a:r>
              <a:rPr lang="en-US" sz="1700" b="1" dirty="0">
                <a:solidFill>
                  <a:srgbClr val="151515"/>
                </a:solidFill>
                <a:latin typeface="Overpass SemiBold" pitchFamily="34" charset="0"/>
                <a:ea typeface="Overpass SemiBold" pitchFamily="34" charset="-122"/>
                <a:cs typeface="Overpass SemiBold" pitchFamily="34" charset="-120"/>
              </a:rPr>
              <a:t>compose + --profile ollama: opt-in, heaviest infra (8g memory budget)</a:t>
            </a:r>
            <a:endParaRPr lang="en-US" sz="1700" dirty="0"/>
          </a:p>
          <a:p>
            <a:pPr marL="228600" indent="-228600">
              <a:spcBef>
                <a:spcPts val="400"/>
              </a:spcBef>
              <a:spcAft>
                <a:spcPts val="1400"/>
              </a:spcAft>
              <a:buSzPct val="100000"/>
              <a:buChar char="•"/>
            </a:pPr>
            <a:r>
              <a:rPr lang="en-US" sz="1600" dirty="0">
                <a:solidFill>
                  <a:srgbClr val="242424"/>
                </a:solidFill>
                <a:latin typeface="Red Hat Text" pitchFamily="34" charset="0"/>
                <a:ea typeface="Red Hat Text" pitchFamily="34" charset="-122"/>
                <a:cs typeface="Red Hat Text" pitchFamily="34" charset="-120"/>
              </a:rPr>
              <a:t>demo-ai-classify.sh · demo-ai-mcp.sh · demo-camel-integration.sh · demo-ai-triage.sh</a:t>
            </a:r>
            <a:endParaRPr lang="en-US" sz="1700" dirty="0"/>
          </a:p>
          <a:p>
            <a:pPr indent="0" marL="0">
              <a:spcBef>
                <a:spcPts val="800"/>
              </a:spcBef>
              <a:spcAft>
                <a:spcPts val="400"/>
              </a:spcAft>
              <a:buNone/>
            </a:pPr>
            <a:r>
              <a:rPr lang="en-US" sz="1700" b="1" dirty="0">
                <a:solidFill>
                  <a:srgbClr val="151515"/>
                </a:solidFill>
                <a:latin typeface="Overpass SemiBold" pitchFamily="34" charset="0"/>
                <a:ea typeface="Overpass SemiBold" pitchFamily="34" charset="-122"/>
                <a:cs typeface="Overpass SemiBold" pitchFamily="34" charset="-120"/>
              </a:rPr>
              <a:t>Kubernetes: the local cluster from scripts/bootstrap.sh (opt-in)</a:t>
            </a:r>
            <a:endParaRPr lang="en-US" sz="1700" dirty="0"/>
          </a:p>
          <a:p>
            <a:pPr marL="228600" indent="-228600">
              <a:spcBef>
                <a:spcPts val="400"/>
              </a:spcBef>
              <a:spcAft>
                <a:spcPts val="1400"/>
              </a:spcAft>
              <a:buSzPct val="100000"/>
              <a:buChar char="•"/>
            </a:pPr>
            <a:r>
              <a:rPr lang="en-US" sz="1600" dirty="0">
                <a:solidFill>
                  <a:srgbClr val="242424"/>
                </a:solidFill>
                <a:latin typeface="Red Hat Text" pitchFamily="34" charset="0"/>
                <a:ea typeface="Red Hat Text" pitchFamily="34" charset="-122"/>
                <a:cs typeface="Red Hat Text" pitchFamily="34" charset="-120"/>
              </a:rPr>
              <a:t>demo-keda-kafka.sh · demo-keda-http.sh</a:t>
            </a:r>
            <a:endParaRPr lang="en-US" sz="1700" dirty="0"/>
          </a:p>
          <a:p>
            <a:pPr indent="0" marL="0">
              <a:spcBef>
                <a:spcPts val="800"/>
              </a:spcBef>
              <a:spcAft>
                <a:spcPts val="400"/>
              </a:spcAft>
              <a:buNone/>
            </a:pPr>
            <a:r>
              <a:rPr lang="en-US" sz="1700" b="1" dirty="0">
                <a:solidFill>
                  <a:srgbClr val="151515"/>
                </a:solidFill>
                <a:latin typeface="Overpass SemiBold" pitchFamily="34" charset="0"/>
                <a:ea typeface="Overpass SemiBold" pitchFamily="34" charset="-122"/>
                <a:cs typeface="Overpass SemiBold" pitchFamily="34" charset="-120"/>
              </a:rPr>
              <a:t>Orchestrator</a:t>
            </a:r>
            <a:endParaRPr lang="en-US" sz="1700" dirty="0"/>
          </a:p>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walkthrough.sh</a:t>
            </a:r>
            <a:r>
              <a:rPr lang="en-US" sz="1600" dirty="0">
                <a:solidFill>
                  <a:srgbClr val="242424"/>
                </a:solidFill>
                <a:latin typeface="Red Hat Text" pitchFamily="34" charset="0"/>
                <a:ea typeface="Red Hat Text" pitchFamily="34" charset="-122"/>
                <a:cs typeface="Red Hat Text" pitchFamily="34" charset="-120"/>
              </a:rPr>
              <a:t>: five acts over all 19 demos, gated per demo by --with-ollama, --with-native, and --with-minikube.</a:t>
            </a:r>
            <a:endParaRPr lang="en-US" sz="1700" dirty="0"/>
          </a:p>
          <a:p>
            <a:pPr marL="228600" indent="-228600">
              <a:spcBef>
                <a:spcPts val="400"/>
              </a:spcBef>
              <a:spcAft>
                <a:spcPts val="1400"/>
              </a:spcAft>
              <a:buSzPct val="100000"/>
              <a:buChar char="•"/>
            </a:pPr>
            <a:r>
              <a:rPr lang="en-US" sz="1600" dirty="0">
                <a:solidFill>
                  <a:srgbClr val="151515"/>
                </a:solidFill>
                <a:latin typeface="Red Hat Text" pitchFamily="34" charset="0"/>
                <a:ea typeface="Red Hat Text" pitchFamily="34" charset="-122"/>
                <a:cs typeface="Red Hat Text" pitchFamily="34" charset="-120"/>
              </a:rPr>
              <a:t>Opt-in summary: ollama gates the four AI demos; native gates demo-native.sh; Kubernetes gates the two KEDA demos; demo-oidc.sh is feasibility-gated.</a:t>
            </a:r>
            <a:endParaRPr lang="en-US" sz="17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97</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 KNOWN LIMITATION</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Known limitation: in-process LLM tool calling</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indent="0" marL="0">
              <a:spcAft>
                <a:spcPts val="400"/>
              </a:spcAft>
              <a:buNone/>
            </a:pPr>
            <a:r>
              <a:rPr lang="en-US" sz="1700" b="1" dirty="0">
                <a:solidFill>
                  <a:srgbClr val="151515"/>
                </a:solidFill>
                <a:latin typeface="Overpass SemiBold" pitchFamily="34" charset="0"/>
                <a:ea typeface="Overpass SemiBold" pitchFamily="34" charset="-122"/>
                <a:cs typeface="Overpass SemiBold" pitchFamily="34" charset="-120"/>
              </a:rPr>
              <a:t>Symptom</a:t>
            </a:r>
            <a:endParaRPr lang="en-US" sz="1700" dirty="0"/>
          </a:p>
          <a:p>
            <a:pPr marL="228600" indent="-228600">
              <a:spcBef>
                <a:spcPts val="400"/>
              </a:spcBef>
              <a:spcAft>
                <a:spcPts val="1400"/>
              </a:spcAft>
              <a:buSzPct val="100000"/>
              <a:buChar char="•"/>
            </a:pPr>
            <a:r>
              <a:rPr lang="en-US" sz="1600" dirty="0">
                <a:solidFill>
                  <a:srgbClr val="242424"/>
                </a:solidFill>
                <a:latin typeface="Red Hat Text" pitchFamily="34" charset="0"/>
                <a:ea typeface="Red Hat Text" pitchFamily="34" charset="-122"/>
                <a:cs typeface="Red Hat Text" pitchFamily="34" charset="-120"/>
              </a:rPr>
              <a:t>OrderAssistantRouteIT asks for an order's status and asserts the agent invoked the order-status tool. It fails: the model answers in one round trip and the tool route is never invoked.</a:t>
            </a:r>
            <a:endParaRPr lang="en-US" sz="1700" dirty="0"/>
          </a:p>
          <a:p>
            <a:pPr indent="0" marL="0">
              <a:spcBef>
                <a:spcPts val="800"/>
              </a:spcBef>
              <a:spcAft>
                <a:spcPts val="400"/>
              </a:spcAft>
              <a:buNone/>
            </a:pPr>
            <a:r>
              <a:rPr lang="en-US" sz="1700" b="1" dirty="0">
                <a:solidFill>
                  <a:srgbClr val="151515"/>
                </a:solidFill>
                <a:latin typeface="Overpass SemiBold" pitchFamily="34" charset="0"/>
                <a:ea typeface="Overpass SemiBold" pitchFamily="34" charset="-122"/>
                <a:cs typeface="Overpass SemiBold" pitchFamily="34" charset="-120"/>
              </a:rPr>
              <a:t>Root cause (upstream)</a:t>
            </a:r>
            <a:endParaRPr lang="en-US" sz="1700" dirty="0"/>
          </a:p>
          <a:p>
            <a:pPr marL="228600" indent="-228600">
              <a:spcBef>
                <a:spcPts val="400"/>
              </a:spcBef>
              <a:spcAft>
                <a:spcPts val="1400"/>
              </a:spcAft>
              <a:buSzPct val="100000"/>
              <a:buChar char="•"/>
            </a:pPr>
            <a:r>
              <a:rPr lang="en-US" sz="1600" dirty="0">
                <a:solidFill>
                  <a:srgbClr val="151515"/>
                </a:solidFill>
                <a:latin typeface="Red Hat Text" pitchFamily="34" charset="0"/>
                <a:ea typeface="Red Hat Text" pitchFamily="34" charset="-122"/>
                <a:cs typeface="Red Hat Text" pitchFamily="34" charset="-120"/>
              </a:rPr>
              <a:t>camel-quarkus-support-langchain4j's enforceJaxRsHttpClient() sets the global property langchain4j.http.clientBuilderFactory for every dev.langchain4j model, with no toggle. A hand-built OllamaChatModel's base-url is never honored.</a:t>
            </a:r>
            <a:endParaRPr lang="en-US" sz="1700" dirty="0"/>
          </a:p>
          <a:p>
            <a:pPr indent="0" marL="0">
              <a:spcBef>
                <a:spcPts val="800"/>
              </a:spcBef>
              <a:spcAft>
                <a:spcPts val="400"/>
              </a:spcAft>
              <a:buNone/>
            </a:pPr>
            <a:r>
              <a:rPr lang="en-US" sz="1700" b="1" dirty="0">
                <a:solidFill>
                  <a:srgbClr val="151515"/>
                </a:solidFill>
                <a:latin typeface="Overpass SemiBold" pitchFamily="34" charset="0"/>
                <a:ea typeface="Overpass SemiBold" pitchFamily="34" charset="-122"/>
                <a:cs typeface="Overpass SemiBold" pitchFamily="34" charset="-120"/>
              </a:rPr>
              <a:t>Ruled out</a:t>
            </a:r>
            <a:endParaRPr lang="en-US" sz="1700" dirty="0"/>
          </a:p>
          <a:p>
            <a:pPr marL="228600" indent="-228600">
              <a:spcBef>
                <a:spcPts val="400"/>
              </a:spcBef>
              <a:spcAft>
                <a:spcPts val="1400"/>
              </a:spcAft>
              <a:buSzPct val="100000"/>
              <a:buChar char="•"/>
            </a:pPr>
            <a:r>
              <a:rPr lang="en-US" sz="1600" dirty="0">
                <a:solidFill>
                  <a:srgbClr val="151515"/>
                </a:solidFill>
                <a:latin typeface="Red Hat Text" pitchFamily="34" charset="0"/>
                <a:ea typeface="Red Hat Text" pitchFamily="34" charset="-122"/>
                <a:cs typeface="Red Hat Text" pitchFamily="34" charset="-120"/>
              </a:rPr>
              <a:t>Model capability, tool registration and tag matching, and the langchain4j version, including the seed-matched classpath.</a:t>
            </a:r>
            <a:endParaRPr lang="en-US" sz="17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98</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 INFRA</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compose.yaml services and .env image tags</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indent="0" marL="0">
              <a:spcAft>
                <a:spcPts val="400"/>
              </a:spcAft>
              <a:buNone/>
            </a:pPr>
            <a:r>
              <a:rPr lang="en-US" sz="1700" b="1" dirty="0">
                <a:solidFill>
                  <a:srgbClr val="151515"/>
                </a:solidFill>
                <a:latin typeface="Overpass SemiBold" pitchFamily="34" charset="0"/>
                <a:ea typeface="Overpass SemiBold" pitchFamily="34" charset="-122"/>
                <a:cs typeface="Overpass SemiBold" pitchFamily="34" charset="-120"/>
              </a:rPr>
              <a:t>Baseline services (no --profile flag)</a:t>
            </a:r>
            <a:endParaRPr lang="en-US" sz="1700" dirty="0"/>
          </a:p>
          <a:p>
            <a:pPr marL="228600" indent="-228600">
              <a:spcBef>
                <a:spcPts val="400"/>
              </a:spcBef>
              <a:spcAft>
                <a:spcPts val="1400"/>
              </a:spcAft>
              <a:buSzPct val="100000"/>
              <a:buChar char="•"/>
            </a:pPr>
            <a:r>
              <a:rPr lang="en-US" sz="1600" dirty="0">
                <a:solidFill>
                  <a:srgbClr val="242424"/>
                </a:solidFill>
                <a:latin typeface="Red Hat Text" pitchFamily="34" charset="0"/>
                <a:ea typeface="Red Hat Text" pitchFamily="34" charset="-122"/>
                <a:cs typeface="Red Hat Text" pitchFamily="34" charset="-120"/>
              </a:rPr>
              <a:t>postgres (postgres:18.6, TZ=UTC) · kafka (apache/kafka-native:4.3.1, KRaft) · apicurio (apicurio-registry:3.3.3) · lgtm (grafana/otel-lgtm:0.36.0, always on).</a:t>
            </a:r>
            <a:endParaRPr lang="en-US" sz="1700" dirty="0"/>
          </a:p>
          <a:p>
            <a:pPr indent="0" marL="0">
              <a:spcBef>
                <a:spcPts val="800"/>
              </a:spcBef>
              <a:spcAft>
                <a:spcPts val="400"/>
              </a:spcAft>
              <a:buNone/>
            </a:pPr>
            <a:r>
              <a:rPr lang="en-US" sz="1700" b="1" dirty="0">
                <a:solidFill>
                  <a:srgbClr val="151515"/>
                </a:solidFill>
                <a:latin typeface="Overpass SemiBold" pitchFamily="34" charset="0"/>
                <a:ea typeface="Overpass SemiBold" pitchFamily="34" charset="-122"/>
                <a:cs typeface="Overpass SemiBold" pitchFamily="34" charset="-120"/>
              </a:rPr>
              <a:t>Opt-in profiles</a:t>
            </a:r>
            <a:endParaRPr lang="en-US" sz="1700" dirty="0"/>
          </a:p>
          <a:p>
            <a:pPr marL="228600" indent="-228600">
              <a:spcBef>
                <a:spcPts val="400"/>
              </a:spcBef>
              <a:spcAft>
                <a:spcPts val="1400"/>
              </a:spcAft>
              <a:buSzPct val="100000"/>
              <a:buChar char="•"/>
            </a:pPr>
            <a:r>
              <a:rPr lang="en-US" sz="1600" dirty="0">
                <a:solidFill>
                  <a:srgbClr val="242424"/>
                </a:solidFill>
                <a:latin typeface="Red Hat Text" pitchFamily="34" charset="0"/>
                <a:ea typeface="Red Hat Text" pitchFamily="34" charset="-122"/>
                <a:cs typeface="Red Hat Text" pitchFamily="34" charset="-120"/>
              </a:rPr>
              <a:t>--profile tools: kafka-ui (kafbat/kafka-ui) · --profile ollama: ollama (ollama/ollama).</a:t>
            </a:r>
            <a:endParaRPr lang="en-US" sz="1700" dirty="0"/>
          </a:p>
          <a:p>
            <a:pPr indent="0" marL="0">
              <a:spcBef>
                <a:spcPts val="800"/>
              </a:spcBef>
              <a:spcAft>
                <a:spcPts val="400"/>
              </a:spcAft>
              <a:buNone/>
            </a:pPr>
            <a:r>
              <a:rPr lang="en-US" sz="1700" b="1" dirty="0">
                <a:solidFill>
                  <a:srgbClr val="151515"/>
                </a:solidFill>
                <a:latin typeface="Overpass SemiBold" pitchFamily="34" charset="0"/>
                <a:ea typeface="Overpass SemiBold" pitchFamily="34" charset="-122"/>
                <a:cs typeface="Overpass SemiBold" pitchFamily="34" charset="-120"/>
              </a:rPr>
              <a:t>Image tags</a:t>
            </a:r>
            <a:endParaRPr lang="en-US" sz="1700" dirty="0"/>
          </a:p>
          <a:p>
            <a:pPr marL="228600" indent="-228600">
              <a:spcBef>
                <a:spcPts val="400"/>
              </a:spcBef>
              <a:spcAft>
                <a:spcPts val="1400"/>
              </a:spcAft>
              <a:buSzPct val="100000"/>
              <a:buChar char="•"/>
            </a:pPr>
            <a:r>
              <a:rPr lang="en-US" sz="1600" dirty="0">
                <a:solidFill>
                  <a:srgbClr val="151515"/>
                </a:solidFill>
                <a:latin typeface="Red Hat Text" pitchFamily="34" charset="0"/>
                <a:ea typeface="Red Hat Text" pitchFamily="34" charset="-122"/>
                <a:cs typeface="Red Hat Text" pitchFamily="34" charset="-120"/>
              </a:rPr>
              <a:t>Each tag in .env equals the image every service pins for Dev Services, so quarkus:dev, mvn verify, and this compose stack behave the same.</a:t>
            </a:r>
            <a:endParaRPr lang="en-US" sz="1700" dirty="0"/>
          </a:p>
          <a:p>
            <a:pPr marL="228600" indent="-228600">
              <a:spcBef>
                <a:spcPts val="400"/>
              </a:spcBef>
              <a:spcAft>
                <a:spcPts val="1400"/>
              </a:spcAft>
              <a:buSzPct val="100000"/>
              <a:buChar char="•"/>
            </a:pPr>
            <a:r>
              <a:rPr lang="en-US" sz="1600" dirty="0">
                <a:solidFill>
                  <a:srgbClr val="151515"/>
                </a:solidFill>
                <a:latin typeface="Red Hat Text" pitchFamily="34" charset="0"/>
                <a:ea typeface="Red Hat Text" pitchFamily="34" charset="-122"/>
                <a:cs typeface="Red Hat Text" pitchFamily="34" charset="-120"/>
              </a:rPr>
              <a:t>postgres:18 rejects legacy Olson timezone ids such as US/Eastern from a non-UTC host; TZ=UTC on the container and -Duser.timezone=UTC on every JVM keep mvn verify green.</a:t>
            </a:r>
            <a:endParaRPr lang="en-US" sz="17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99</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 DETERMINISM</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ai-rules-service: how determinism was established</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ai-rules-service's pom.xml</a:t>
            </a:r>
            <a:r>
              <a:rPr lang="en-US" sz="1600" dirty="0">
                <a:solidFill>
                  <a:srgbClr val="242424"/>
                </a:solidFill>
                <a:latin typeface="Red Hat Text" pitchFamily="34" charset="0"/>
                <a:ea typeface="Red Hat Text" pitchFamily="34" charset="-122"/>
                <a:cs typeface="Red Hat Text" pitchFamily="34" charset="-120"/>
              </a:rPr>
              <a:t> lacked the quarkus-maven-plugin &lt;build&gt; binding its siblings have, so mvn quarkus:dev did nothing and mvn package produced only a thin jar. Fixed here; the same gap remains in ai-mcp-service, notification-service, and payment-service.</a:t>
            </a:r>
            <a:endParaRPr lang="en-US" sz="1600" dirty="0"/>
          </a:p>
          <a:p>
            <a:pPr lvl="1" marL="457200" indent="-228600">
              <a:spcAft>
                <a:spcPts val="8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The module</a:t>
            </a:r>
            <a:r>
              <a:rPr lang="en-US" sz="1500" dirty="0">
                <a:solidFill>
                  <a:srgbClr val="5A5A5A"/>
                </a:solidFill>
                <a:latin typeface="Red Hat Text" pitchFamily="34" charset="0"/>
                <a:ea typeface="Red Hat Text" pitchFamily="34" charset="-122"/>
                <a:cs typeface="Red Hat Text" pitchFamily="34" charset="-120"/>
              </a:rPr>
              <a:t> has no health endpoint, so the demo waits for any HTTP response as its readiness signal.</a:t>
            </a:r>
            <a:endParaRPr lang="en-US" sz="1600" dirty="0"/>
          </a:p>
          <a:p>
            <a:pPr lvl="1" marL="457200" indent="-228600">
              <a:spcAft>
                <a:spcPts val="8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The three demo-ai-triage.sh inputs</a:t>
            </a:r>
            <a:r>
              <a:rPr lang="en-US" sz="1500" dirty="0">
                <a:solidFill>
                  <a:srgbClr val="5A5A5A"/>
                </a:solidFill>
                <a:latin typeface="Red Hat Text" pitchFamily="34" charset="0"/>
                <a:ea typeface="Red Hat Text" pitchFamily="34" charset="-122"/>
                <a:cs typeface="Red Hat Text" pitchFamily="34" charset="-120"/>
              </a:rPr>
              <a:t> were sampled against the live qwen2.5:3b model, using the TriageService prompt, until riskSignal and amount classified stably.</a:t>
            </a:r>
            <a:endParaRPr lang="en-US" sz="1600" dirty="0"/>
          </a:p>
          <a:p>
            <a:pPr marL="228600" indent="-228600">
              <a:spcBef>
                <a:spcPts val="400"/>
              </a:spcBef>
              <a:spcAft>
                <a:spcPts val="1400"/>
              </a:spcAft>
              <a:buSzPct val="100000"/>
              <a:buChar char="•"/>
            </a:pPr>
            <a:r>
              <a:rPr lang="en-US" sz="1600" dirty="0">
                <a:solidFill>
                  <a:srgbClr val="151515"/>
                </a:solidFill>
                <a:latin typeface="Red Hat Text" pitchFamily="34" charset="0"/>
                <a:ea typeface="Red Hat Text" pitchFamily="34" charset="-122"/>
                <a:cs typeface="Red Hat Text" pitchFamily="34" charset="-120"/>
              </a:rPr>
              <a:t>Drools' decision is a deterministic function of the classified fields, so a stable classification gives a stable decision and the demo asserts the exact decision.</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100</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 GLOSSARY</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Glossary (1 of 3): data mesh and architecture</a:t>
            </a:r>
            <a:endParaRPr lang="en-US" sz="3000" dirty="0"/>
          </a:p>
        </p:txBody>
      </p:sp>
      <p:sp>
        <p:nvSpPr>
          <p:cNvPr id="4" name="Text 2"/>
          <p:cNvSpPr/>
          <p:nvPr/>
        </p:nvSpPr>
        <p:spPr>
          <a:xfrm>
            <a:off x="640080" y="1691640"/>
            <a:ext cx="5303520" cy="4480560"/>
          </a:xfrm>
          <a:prstGeom prst="rect">
            <a:avLst/>
          </a:prstGeom>
          <a:noFill/>
          <a:ln/>
        </p:spPr>
        <p:txBody>
          <a:bodyPr wrap="square" lIns="0" tIns="0" rIns="0" bIns="0" rtlCol="0" anchor="t"/>
          <a:lstStyle/>
          <a:p>
            <a:pPr indent="0" marL="0">
              <a:spcAft>
                <a:spcPts val="200"/>
              </a:spcAft>
              <a:buNone/>
            </a:pPr>
            <a:r>
              <a:rPr lang="en-US" sz="1500" b="1" dirty="0">
                <a:solidFill>
                  <a:srgbClr val="151515"/>
                </a:solidFill>
                <a:latin typeface="Overpass SemiBold" pitchFamily="34" charset="0"/>
                <a:ea typeface="Overpass SemiBold" pitchFamily="34" charset="-122"/>
                <a:cs typeface="Overpass SemiBold" pitchFamily="34" charset="-120"/>
              </a:rPr>
              <a:t>Data product</a:t>
            </a:r>
            <a:endParaRPr lang="en-US" sz="1500" dirty="0"/>
          </a:p>
          <a:p>
            <a:pPr indent="0" marL="0">
              <a:spcAft>
                <a:spcPts val="1400"/>
              </a:spcAft>
              <a:buNone/>
            </a:pPr>
            <a:r>
              <a:rPr lang="en-US" sz="1300" dirty="0">
                <a:solidFill>
                  <a:srgbClr val="242424"/>
                </a:solidFill>
                <a:latin typeface="Red Hat Text" pitchFamily="34" charset="0"/>
                <a:ea typeface="Red Hat Text" pitchFamily="34" charset="-122"/>
                <a:cs typeface="Red Hat Text" pitchFamily="34" charset="-120"/>
              </a:rPr>
              <a:t>A dataset or service a domain team publishes for other teams, with an owner, a contract, and quality commitments.</a:t>
            </a:r>
            <a:endParaRPr lang="en-US" sz="1500" dirty="0"/>
          </a:p>
          <a:p>
            <a:pPr indent="0" marL="0">
              <a:spcAft>
                <a:spcPts val="200"/>
              </a:spcAft>
              <a:buNone/>
            </a:pPr>
            <a:r>
              <a:rPr lang="en-US" sz="1500" b="1" dirty="0">
                <a:solidFill>
                  <a:srgbClr val="151515"/>
                </a:solidFill>
                <a:latin typeface="Overpass SemiBold" pitchFamily="34" charset="0"/>
                <a:ea typeface="Overpass SemiBold" pitchFamily="34" charset="-122"/>
                <a:cs typeface="Overpass SemiBold" pitchFamily="34" charset="-120"/>
              </a:rPr>
              <a:t>Choreography</a:t>
            </a:r>
            <a:endParaRPr lang="en-US" sz="1500" dirty="0"/>
          </a:p>
          <a:p>
            <a:pPr indent="0" marL="0">
              <a:spcAft>
                <a:spcPts val="1400"/>
              </a:spcAft>
              <a:buNone/>
            </a:pPr>
            <a:r>
              <a:rPr lang="en-US" sz="1300" dirty="0">
                <a:solidFill>
                  <a:srgbClr val="242424"/>
                </a:solidFill>
                <a:latin typeface="Red Hat Text" pitchFamily="34" charset="0"/>
                <a:ea typeface="Red Hat Text" pitchFamily="34" charset="-122"/>
                <a:cs typeface="Red Hat Text" pitchFamily="34" charset="-120"/>
              </a:rPr>
              <a:t>Services react to events independently; no central process knows the whole sequence.</a:t>
            </a:r>
            <a:endParaRPr lang="en-US" sz="1500" dirty="0"/>
          </a:p>
          <a:p>
            <a:pPr indent="0" marL="0">
              <a:spcAft>
                <a:spcPts val="200"/>
              </a:spcAft>
              <a:buNone/>
            </a:pPr>
            <a:r>
              <a:rPr lang="en-US" sz="1500" b="1" dirty="0">
                <a:solidFill>
                  <a:srgbClr val="151515"/>
                </a:solidFill>
                <a:latin typeface="Overpass SemiBold" pitchFamily="34" charset="0"/>
                <a:ea typeface="Overpass SemiBold" pitchFamily="34" charset="-122"/>
                <a:cs typeface="Overpass SemiBold" pitchFamily="34" charset="-120"/>
              </a:rPr>
              <a:t>Orchestration</a:t>
            </a:r>
            <a:endParaRPr lang="en-US" sz="1500" dirty="0"/>
          </a:p>
          <a:p>
            <a:pPr indent="0" marL="0">
              <a:spcAft>
                <a:spcPts val="1400"/>
              </a:spcAft>
              <a:buNone/>
            </a:pPr>
            <a:r>
              <a:rPr lang="en-US" sz="1300" dirty="0">
                <a:solidFill>
                  <a:srgbClr val="242424"/>
                </a:solidFill>
                <a:latin typeface="Red Hat Text" pitchFamily="34" charset="0"/>
                <a:ea typeface="Red Hat Text" pitchFamily="34" charset="-122"/>
                <a:cs typeface="Red Hat Text" pitchFamily="34" charset="-120"/>
              </a:rPr>
              <a:t>One component sequences the steps and knows the whole flow, as a Camel route or a Quarkus Flow document.</a:t>
            </a:r>
            <a:endParaRPr lang="en-US" sz="1500" dirty="0"/>
          </a:p>
          <a:p>
            <a:pPr indent="0" marL="0">
              <a:spcAft>
                <a:spcPts val="200"/>
              </a:spcAft>
              <a:buNone/>
            </a:pPr>
            <a:r>
              <a:rPr lang="en-US" sz="1500" b="1" dirty="0">
                <a:solidFill>
                  <a:srgbClr val="151515"/>
                </a:solidFill>
                <a:latin typeface="Overpass SemiBold" pitchFamily="34" charset="0"/>
                <a:ea typeface="Overpass SemiBold" pitchFamily="34" charset="-122"/>
                <a:cs typeface="Overpass SemiBold" pitchFamily="34" charset="-120"/>
              </a:rPr>
              <a:t>CNCF Serverless Workflow</a:t>
            </a:r>
            <a:endParaRPr lang="en-US" sz="1500" dirty="0"/>
          </a:p>
          <a:p>
            <a:pPr indent="0" marL="0">
              <a:spcAft>
                <a:spcPts val="1400"/>
              </a:spcAft>
              <a:buNone/>
            </a:pPr>
            <a:r>
              <a:rPr lang="en-US" sz="1300" dirty="0">
                <a:solidFill>
                  <a:srgbClr val="242424"/>
                </a:solidFill>
                <a:latin typeface="Red Hat Text" pitchFamily="34" charset="0"/>
                <a:ea typeface="Red Hat Text" pitchFamily="34" charset="-122"/>
                <a:cs typeface="Red Hat Text" pitchFamily="34" charset="-120"/>
              </a:rPr>
              <a:t>An open specification for declaring workflow tasks and their order as a document. Quarkus Flow implements it.</a:t>
            </a:r>
            <a:endParaRPr lang="en-US" sz="1500" dirty="0"/>
          </a:p>
        </p:txBody>
      </p:sp>
      <p:sp>
        <p:nvSpPr>
          <p:cNvPr id="5" name="Text 3"/>
          <p:cNvSpPr/>
          <p:nvPr/>
        </p:nvSpPr>
        <p:spPr>
          <a:xfrm>
            <a:off x="6263640" y="1691640"/>
            <a:ext cx="5303520" cy="4480560"/>
          </a:xfrm>
          <a:prstGeom prst="rect">
            <a:avLst/>
          </a:prstGeom>
          <a:noFill/>
          <a:ln/>
        </p:spPr>
        <p:txBody>
          <a:bodyPr wrap="square" lIns="0" tIns="0" rIns="0" bIns="0" rtlCol="0" anchor="t"/>
          <a:lstStyle/>
          <a:p>
            <a:pPr indent="0" marL="0">
              <a:spcAft>
                <a:spcPts val="200"/>
              </a:spcAft>
              <a:buNone/>
            </a:pPr>
            <a:r>
              <a:rPr lang="en-US" sz="1500" b="1" dirty="0">
                <a:solidFill>
                  <a:srgbClr val="151515"/>
                </a:solidFill>
                <a:latin typeface="Overpass SemiBold" pitchFamily="34" charset="0"/>
                <a:ea typeface="Overpass SemiBold" pitchFamily="34" charset="-122"/>
                <a:cs typeface="Overpass SemiBold" pitchFamily="34" charset="-120"/>
              </a:rPr>
              <a:t>Avro / Apicurio Registry</a:t>
            </a:r>
            <a:endParaRPr lang="en-US" sz="1500" dirty="0"/>
          </a:p>
          <a:p>
            <a:pPr indent="0" marL="0">
              <a:spcAft>
                <a:spcPts val="1400"/>
              </a:spcAft>
              <a:buNone/>
            </a:pPr>
            <a:r>
              <a:rPr lang="en-US" sz="1300" dirty="0">
                <a:solidFill>
                  <a:srgbClr val="242424"/>
                </a:solidFill>
                <a:latin typeface="Red Hat Text" pitchFamily="34" charset="0"/>
                <a:ea typeface="Red Hat Text" pitchFamily="34" charset="-122"/>
                <a:cs typeface="Red Hat Text" pitchFamily="34" charset="-120"/>
              </a:rPr>
              <a:t>Avro is the binary, schema-based event format; Apicurio stores the schemas and enforces compatibility.</a:t>
            </a:r>
            <a:endParaRPr lang="en-US" sz="1500" dirty="0"/>
          </a:p>
          <a:p>
            <a:pPr indent="0" marL="0">
              <a:spcAft>
                <a:spcPts val="200"/>
              </a:spcAft>
              <a:buNone/>
            </a:pPr>
            <a:r>
              <a:rPr lang="en-US" sz="1500" b="1" dirty="0">
                <a:solidFill>
                  <a:srgbClr val="151515"/>
                </a:solidFill>
                <a:latin typeface="Overpass SemiBold" pitchFamily="34" charset="0"/>
                <a:ea typeface="Overpass SemiBold" pitchFamily="34" charset="-122"/>
                <a:cs typeface="Overpass SemiBold" pitchFamily="34" charset="-120"/>
              </a:rPr>
              <a:t>MCP</a:t>
            </a:r>
            <a:endParaRPr lang="en-US" sz="1500" dirty="0"/>
          </a:p>
          <a:p>
            <a:pPr indent="0" marL="0">
              <a:spcAft>
                <a:spcPts val="1400"/>
              </a:spcAft>
              <a:buNone/>
            </a:pPr>
            <a:r>
              <a:rPr lang="en-US" sz="1300" dirty="0">
                <a:solidFill>
                  <a:srgbClr val="242424"/>
                </a:solidFill>
                <a:latin typeface="Red Hat Text" pitchFamily="34" charset="0"/>
                <a:ea typeface="Red Hat Text" pitchFamily="34" charset="-122"/>
                <a:cs typeface="Red Hat Text" pitchFamily="34" charset="-120"/>
              </a:rPr>
              <a:t>Model Context Protocol: a JSON-RPC protocol for a client to discover and call tools that a server exposes.</a:t>
            </a:r>
            <a:endParaRPr lang="en-US" sz="1500" dirty="0"/>
          </a:p>
          <a:p>
            <a:pPr indent="0" marL="0">
              <a:spcAft>
                <a:spcPts val="200"/>
              </a:spcAft>
              <a:buNone/>
            </a:pPr>
            <a:r>
              <a:rPr lang="en-US" sz="1500" b="1" dirty="0">
                <a:solidFill>
                  <a:srgbClr val="151515"/>
                </a:solidFill>
                <a:latin typeface="Overpass SemiBold" pitchFamily="34" charset="0"/>
                <a:ea typeface="Overpass SemiBold" pitchFamily="34" charset="-122"/>
                <a:cs typeface="Overpass SemiBold" pitchFamily="34" charset="-120"/>
              </a:rPr>
              <a:t>OIDC</a:t>
            </a:r>
            <a:endParaRPr lang="en-US" sz="1500" dirty="0"/>
          </a:p>
          <a:p>
            <a:pPr indent="0" marL="0">
              <a:spcAft>
                <a:spcPts val="1400"/>
              </a:spcAft>
              <a:buNone/>
            </a:pPr>
            <a:r>
              <a:rPr lang="en-US" sz="1300" dirty="0">
                <a:solidFill>
                  <a:srgbClr val="242424"/>
                </a:solidFill>
                <a:latin typeface="Red Hat Text" pitchFamily="34" charset="0"/>
                <a:ea typeface="Red Hat Text" pitchFamily="34" charset="-122"/>
                <a:cs typeface="Red Hat Text" pitchFamily="34" charset="-120"/>
              </a:rPr>
              <a:t>OpenID Connect: token-based authentication on OAuth 2.0. Here, bearer tokens issued by Keycloak.</a:t>
            </a:r>
            <a:endParaRPr lang="en-US" sz="1500" dirty="0"/>
          </a:p>
        </p:txBody>
      </p:sp>
      <p:sp>
        <p:nvSpPr>
          <p:cNvPr id="6" name="Text 4"/>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101</a:t>
            </a:r>
            <a:endParaRPr lang="en-US" sz="1000" dirty="0"/>
          </a:p>
        </p:txBody>
      </p:sp>
      <p:pic>
        <p:nvPicPr>
          <p:cNvPr id="7"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 GLOSSARY</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Glossary (2 of 3): Quarkus and the JDK</a:t>
            </a:r>
            <a:endParaRPr lang="en-US" sz="3000" dirty="0"/>
          </a:p>
        </p:txBody>
      </p:sp>
      <p:sp>
        <p:nvSpPr>
          <p:cNvPr id="4" name="Text 2"/>
          <p:cNvSpPr/>
          <p:nvPr/>
        </p:nvSpPr>
        <p:spPr>
          <a:xfrm>
            <a:off x="640080" y="1691640"/>
            <a:ext cx="5303520" cy="4480560"/>
          </a:xfrm>
          <a:prstGeom prst="rect">
            <a:avLst/>
          </a:prstGeom>
          <a:noFill/>
          <a:ln/>
        </p:spPr>
        <p:txBody>
          <a:bodyPr wrap="square" lIns="0" tIns="0" rIns="0" bIns="0" rtlCol="0" anchor="t"/>
          <a:lstStyle/>
          <a:p>
            <a:pPr indent="0" marL="0">
              <a:spcAft>
                <a:spcPts val="200"/>
              </a:spcAft>
              <a:buNone/>
            </a:pPr>
            <a:r>
              <a:rPr lang="en-US" sz="1500" b="1" dirty="0">
                <a:solidFill>
                  <a:srgbClr val="151515"/>
                </a:solidFill>
                <a:latin typeface="Overpass SemiBold" pitchFamily="34" charset="0"/>
                <a:ea typeface="Overpass SemiBold" pitchFamily="34" charset="-122"/>
                <a:cs typeface="Overpass SemiBold" pitchFamily="34" charset="-120"/>
              </a:rPr>
              <a:t>Panache</a:t>
            </a:r>
            <a:endParaRPr lang="en-US" sz="1500" dirty="0"/>
          </a:p>
          <a:p>
            <a:pPr indent="0" marL="0">
              <a:spcAft>
                <a:spcPts val="1400"/>
              </a:spcAft>
              <a:buNone/>
            </a:pPr>
            <a:r>
              <a:rPr lang="en-US" sz="1300" dirty="0">
                <a:solidFill>
                  <a:srgbClr val="242424"/>
                </a:solidFill>
                <a:latin typeface="Red Hat Text" pitchFamily="34" charset="0"/>
                <a:ea typeface="Red Hat Text" pitchFamily="34" charset="-122"/>
                <a:cs typeface="Red Hat Text" pitchFamily="34" charset="-120"/>
              </a:rPr>
              <a:t>A Hibernate ORM layer that removes boilerplate. This project uses active record: the entity carries its own finders and persist().</a:t>
            </a:r>
            <a:endParaRPr lang="en-US" sz="1500" dirty="0"/>
          </a:p>
          <a:p>
            <a:pPr indent="0" marL="0">
              <a:spcAft>
                <a:spcPts val="200"/>
              </a:spcAft>
              <a:buNone/>
            </a:pPr>
            <a:r>
              <a:rPr lang="en-US" sz="1500" b="1" dirty="0">
                <a:solidFill>
                  <a:srgbClr val="151515"/>
                </a:solidFill>
                <a:latin typeface="Overpass SemiBold" pitchFamily="34" charset="0"/>
                <a:ea typeface="Overpass SemiBold" pitchFamily="34" charset="-122"/>
                <a:cs typeface="Overpass SemiBold" pitchFamily="34" charset="-120"/>
              </a:rPr>
              <a:t>Dev Services</a:t>
            </a:r>
            <a:endParaRPr lang="en-US" sz="1500" dirty="0"/>
          </a:p>
          <a:p>
            <a:pPr indent="0" marL="0">
              <a:spcAft>
                <a:spcPts val="1400"/>
              </a:spcAft>
              <a:buNone/>
            </a:pPr>
            <a:r>
              <a:rPr lang="en-US" sz="1300" dirty="0">
                <a:solidFill>
                  <a:srgbClr val="242424"/>
                </a:solidFill>
                <a:latin typeface="Red Hat Text" pitchFamily="34" charset="0"/>
                <a:ea typeface="Red Hat Text" pitchFamily="34" charset="-122"/>
                <a:cs typeface="Red Hat Text" pitchFamily="34" charset="-120"/>
              </a:rPr>
              <a:t>Quarkus starts containers (database, Kafka, Keycloak) automatically in dev and test, with no compose file.</a:t>
            </a:r>
            <a:endParaRPr lang="en-US" sz="1500" dirty="0"/>
          </a:p>
          <a:p>
            <a:pPr indent="0" marL="0">
              <a:spcAft>
                <a:spcPts val="200"/>
              </a:spcAft>
              <a:buNone/>
            </a:pPr>
            <a:r>
              <a:rPr lang="en-US" sz="1500" b="1" dirty="0">
                <a:solidFill>
                  <a:srgbClr val="151515"/>
                </a:solidFill>
                <a:latin typeface="Overpass SemiBold" pitchFamily="34" charset="0"/>
                <a:ea typeface="Overpass SemiBold" pitchFamily="34" charset="-122"/>
                <a:cs typeface="Overpass SemiBold" pitchFamily="34" charset="-120"/>
              </a:rPr>
              <a:t>Mutiny Uni</a:t>
            </a:r>
            <a:endParaRPr lang="en-US" sz="1500" dirty="0"/>
          </a:p>
          <a:p>
            <a:pPr indent="0" marL="0">
              <a:spcAft>
                <a:spcPts val="1400"/>
              </a:spcAft>
              <a:buNone/>
            </a:pPr>
            <a:r>
              <a:rPr lang="en-US" sz="1300" dirty="0">
                <a:solidFill>
                  <a:srgbClr val="242424"/>
                </a:solidFill>
                <a:latin typeface="Red Hat Text" pitchFamily="34" charset="0"/>
                <a:ea typeface="Red Hat Text" pitchFamily="34" charset="-122"/>
                <a:cs typeface="Red Hat Text" pitchFamily="34" charset="-120"/>
              </a:rPr>
              <a:t>Mutiny's lazy single-value asynchronous type; it runs when something subscribes.</a:t>
            </a:r>
            <a:endParaRPr lang="en-US" sz="1500" dirty="0"/>
          </a:p>
          <a:p>
            <a:pPr indent="0" marL="0">
              <a:spcAft>
                <a:spcPts val="200"/>
              </a:spcAft>
              <a:buNone/>
            </a:pPr>
            <a:r>
              <a:rPr lang="en-US" sz="1500" b="1" dirty="0">
                <a:solidFill>
                  <a:srgbClr val="151515"/>
                </a:solidFill>
                <a:latin typeface="Overpass SemiBold" pitchFamily="34" charset="0"/>
                <a:ea typeface="Overpass SemiBold" pitchFamily="34" charset="-122"/>
                <a:cs typeface="Overpass SemiBold" pitchFamily="34" charset="-120"/>
              </a:rPr>
              <a:t>WebSockets.Next</a:t>
            </a:r>
            <a:endParaRPr lang="en-US" sz="1500" dirty="0"/>
          </a:p>
          <a:p>
            <a:pPr indent="0" marL="0">
              <a:spcAft>
                <a:spcPts val="1400"/>
              </a:spcAft>
              <a:buNone/>
            </a:pPr>
            <a:r>
              <a:rPr lang="en-US" sz="1300" dirty="0">
                <a:solidFill>
                  <a:srgbClr val="242424"/>
                </a:solidFill>
                <a:latin typeface="Red Hat Text" pitchFamily="34" charset="0"/>
                <a:ea typeface="Red Hat Text" pitchFamily="34" charset="-122"/>
                <a:cs typeface="Red Hat Text" pitchFamily="34" charset="-120"/>
              </a:rPr>
              <a:t>The Vert.x-based Quarkus WebSocket extension: annotated endpoints, injectable OpenConnections, and a client API.</a:t>
            </a:r>
            <a:endParaRPr lang="en-US" sz="1500" dirty="0"/>
          </a:p>
        </p:txBody>
      </p:sp>
      <p:sp>
        <p:nvSpPr>
          <p:cNvPr id="5" name="Text 3"/>
          <p:cNvSpPr/>
          <p:nvPr/>
        </p:nvSpPr>
        <p:spPr>
          <a:xfrm>
            <a:off x="6263640" y="1691640"/>
            <a:ext cx="5303520" cy="4480560"/>
          </a:xfrm>
          <a:prstGeom prst="rect">
            <a:avLst/>
          </a:prstGeom>
          <a:noFill/>
          <a:ln/>
        </p:spPr>
        <p:txBody>
          <a:bodyPr wrap="square" lIns="0" tIns="0" rIns="0" bIns="0" rtlCol="0" anchor="t"/>
          <a:lstStyle/>
          <a:p>
            <a:pPr indent="0" marL="0">
              <a:spcAft>
                <a:spcPts val="200"/>
              </a:spcAft>
              <a:buNone/>
            </a:pPr>
            <a:r>
              <a:rPr lang="en-US" sz="1500" b="1" dirty="0">
                <a:solidFill>
                  <a:srgbClr val="151515"/>
                </a:solidFill>
                <a:latin typeface="Overpass SemiBold" pitchFamily="34" charset="0"/>
                <a:ea typeface="Overpass SemiBold" pitchFamily="34" charset="-122"/>
                <a:cs typeface="Overpass SemiBold" pitchFamily="34" charset="-120"/>
              </a:rPr>
              <a:t>JBang</a:t>
            </a:r>
            <a:endParaRPr lang="en-US" sz="1500" dirty="0"/>
          </a:p>
          <a:p>
            <a:pPr indent="0" marL="0">
              <a:spcAft>
                <a:spcPts val="1400"/>
              </a:spcAft>
              <a:buNone/>
            </a:pPr>
            <a:r>
              <a:rPr lang="en-US" sz="1300" dirty="0">
                <a:solidFill>
                  <a:srgbClr val="242424"/>
                </a:solidFill>
                <a:latin typeface="Red Hat Text" pitchFamily="34" charset="0"/>
                <a:ea typeface="Red Hat Text" pitchFamily="34" charset="-122"/>
                <a:cs typeface="Red Hat Text" pitchFamily="34" charset="-120"/>
              </a:rPr>
              <a:t>Runs a single Java file with inline dependencies; no project or pom.xml.</a:t>
            </a:r>
            <a:endParaRPr lang="en-US" sz="1500" dirty="0"/>
          </a:p>
          <a:p>
            <a:pPr indent="0" marL="0">
              <a:spcAft>
                <a:spcPts val="200"/>
              </a:spcAft>
              <a:buNone/>
            </a:pPr>
            <a:r>
              <a:rPr lang="en-US" sz="1500" b="1" dirty="0">
                <a:solidFill>
                  <a:srgbClr val="151515"/>
                </a:solidFill>
                <a:latin typeface="Overpass SemiBold" pitchFamily="34" charset="0"/>
                <a:ea typeface="Overpass SemiBold" pitchFamily="34" charset="-122"/>
                <a:cs typeface="Overpass SemiBold" pitchFamily="34" charset="-120"/>
              </a:rPr>
              <a:t>Native image (GraalVM / Mandrel)</a:t>
            </a:r>
            <a:endParaRPr lang="en-US" sz="1500" dirty="0"/>
          </a:p>
          <a:p>
            <a:pPr indent="0" marL="0">
              <a:spcAft>
                <a:spcPts val="1400"/>
              </a:spcAft>
              <a:buNone/>
            </a:pPr>
            <a:r>
              <a:rPr lang="en-US" sz="1300" dirty="0">
                <a:solidFill>
                  <a:srgbClr val="242424"/>
                </a:solidFill>
                <a:latin typeface="Red Hat Text" pitchFamily="34" charset="0"/>
                <a:ea typeface="Red Hat Text" pitchFamily="34" charset="-122"/>
                <a:cs typeface="Red Hat Text" pitchFamily="34" charset="-120"/>
              </a:rPr>
              <a:t>Compiles the application ahead of time into an executable with no JVM. The build takes minutes.</a:t>
            </a:r>
            <a:endParaRPr lang="en-US" sz="1500" dirty="0"/>
          </a:p>
          <a:p>
            <a:pPr indent="0" marL="0">
              <a:spcAft>
                <a:spcPts val="200"/>
              </a:spcAft>
              <a:buNone/>
            </a:pPr>
            <a:r>
              <a:rPr lang="en-US" sz="1500" b="1" dirty="0">
                <a:solidFill>
                  <a:srgbClr val="151515"/>
                </a:solidFill>
                <a:latin typeface="Overpass SemiBold" pitchFamily="34" charset="0"/>
                <a:ea typeface="Overpass SemiBold" pitchFamily="34" charset="-122"/>
                <a:cs typeface="Overpass SemiBold" pitchFamily="34" charset="-120"/>
              </a:rPr>
              <a:t>AOT cache (Project Leyden)</a:t>
            </a:r>
            <a:endParaRPr lang="en-US" sz="1500" dirty="0"/>
          </a:p>
          <a:p>
            <a:pPr indent="0" marL="0">
              <a:spcAft>
                <a:spcPts val="1400"/>
              </a:spcAft>
              <a:buNone/>
            </a:pPr>
            <a:r>
              <a:rPr lang="en-US" sz="1300" dirty="0">
                <a:solidFill>
                  <a:srgbClr val="242424"/>
                </a:solidFill>
                <a:latin typeface="Red Hat Text" pitchFamily="34" charset="0"/>
                <a:ea typeface="Red Hat Text" pitchFamily="34" charset="-122"/>
                <a:cs typeface="Red Hat Text" pitchFamily="34" charset="-120"/>
              </a:rPr>
              <a:t>A JDK 25 cache of loaded and linked classes from a training run, used to speed JVM startup.</a:t>
            </a:r>
            <a:endParaRPr lang="en-US" sz="1500" dirty="0"/>
          </a:p>
          <a:p>
            <a:pPr indent="0" marL="0">
              <a:spcAft>
                <a:spcPts val="200"/>
              </a:spcAft>
              <a:buNone/>
            </a:pPr>
            <a:r>
              <a:rPr lang="en-US" sz="1500" b="1" dirty="0">
                <a:solidFill>
                  <a:srgbClr val="151515"/>
                </a:solidFill>
                <a:latin typeface="Overpass SemiBold" pitchFamily="34" charset="0"/>
                <a:ea typeface="Overpass SemiBold" pitchFamily="34" charset="-122"/>
                <a:cs typeface="Overpass SemiBold" pitchFamily="34" charset="-120"/>
              </a:rPr>
              <a:t>Panama FFM</a:t>
            </a:r>
            <a:endParaRPr lang="en-US" sz="1500" dirty="0"/>
          </a:p>
          <a:p>
            <a:pPr indent="0" marL="0">
              <a:spcAft>
                <a:spcPts val="1400"/>
              </a:spcAft>
              <a:buNone/>
            </a:pPr>
            <a:r>
              <a:rPr lang="en-US" sz="1300" dirty="0">
                <a:solidFill>
                  <a:srgbClr val="242424"/>
                </a:solidFill>
                <a:latin typeface="Red Hat Text" pitchFamily="34" charset="0"/>
                <a:ea typeface="Red Hat Text" pitchFamily="34" charset="-122"/>
                <a:cs typeface="Red Hat Text" pitchFamily="34" charset="-120"/>
              </a:rPr>
              <a:t>The JDK's foreign function and memory API: calls native libraries from Java without JNI.</a:t>
            </a:r>
            <a:endParaRPr lang="en-US" sz="1500" dirty="0"/>
          </a:p>
        </p:txBody>
      </p:sp>
      <p:sp>
        <p:nvSpPr>
          <p:cNvPr id="6" name="Text 4"/>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102</a:t>
            </a:r>
            <a:endParaRPr lang="en-US" sz="1000" dirty="0"/>
          </a:p>
        </p:txBody>
      </p:sp>
      <p:pic>
        <p:nvPicPr>
          <p:cNvPr id="7"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 GLOSSARY</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Glossary (3 of 3): platform and AI</a:t>
            </a:r>
            <a:endParaRPr lang="en-US" sz="3000" dirty="0"/>
          </a:p>
        </p:txBody>
      </p:sp>
      <p:sp>
        <p:nvSpPr>
          <p:cNvPr id="4" name="Text 2"/>
          <p:cNvSpPr/>
          <p:nvPr/>
        </p:nvSpPr>
        <p:spPr>
          <a:xfrm>
            <a:off x="640080" y="1691640"/>
            <a:ext cx="5303520" cy="4480560"/>
          </a:xfrm>
          <a:prstGeom prst="rect">
            <a:avLst/>
          </a:prstGeom>
          <a:noFill/>
          <a:ln/>
        </p:spPr>
        <p:txBody>
          <a:bodyPr wrap="square" lIns="0" tIns="0" rIns="0" bIns="0" rtlCol="0" anchor="t"/>
          <a:lstStyle/>
          <a:p>
            <a:pPr indent="0" marL="0">
              <a:spcAft>
                <a:spcPts val="200"/>
              </a:spcAft>
              <a:buNone/>
            </a:pPr>
            <a:r>
              <a:rPr lang="en-US" sz="1500" b="1" dirty="0">
                <a:solidFill>
                  <a:srgbClr val="151515"/>
                </a:solidFill>
                <a:latin typeface="Overpass SemiBold" pitchFamily="34" charset="0"/>
                <a:ea typeface="Overpass SemiBold" pitchFamily="34" charset="-122"/>
                <a:cs typeface="Overpass SemiBold" pitchFamily="34" charset="-120"/>
              </a:rPr>
              <a:t>KEDA / HPA</a:t>
            </a:r>
            <a:endParaRPr lang="en-US" sz="1500" dirty="0"/>
          </a:p>
          <a:p>
            <a:pPr indent="0" marL="0">
              <a:spcAft>
                <a:spcPts val="1400"/>
              </a:spcAft>
              <a:buNone/>
            </a:pPr>
            <a:r>
              <a:rPr lang="en-US" sz="1300" dirty="0">
                <a:solidFill>
                  <a:srgbClr val="242424"/>
                </a:solidFill>
                <a:latin typeface="Red Hat Text" pitchFamily="34" charset="0"/>
                <a:ea typeface="Red Hat Text" pitchFamily="34" charset="-122"/>
                <a:cs typeface="Red Hat Text" pitchFamily="34" charset="-120"/>
              </a:rPr>
              <a:t>The HPA scales pods on CPU or memory. KEDA drives an HPA from external signals and adds scale to zero.</a:t>
            </a:r>
            <a:endParaRPr lang="en-US" sz="1500" dirty="0"/>
          </a:p>
          <a:p>
            <a:pPr indent="0" marL="0">
              <a:spcAft>
                <a:spcPts val="200"/>
              </a:spcAft>
              <a:buNone/>
            </a:pPr>
            <a:r>
              <a:rPr lang="en-US" sz="1500" b="1" dirty="0">
                <a:solidFill>
                  <a:srgbClr val="151515"/>
                </a:solidFill>
                <a:latin typeface="Overpass SemiBold" pitchFamily="34" charset="0"/>
                <a:ea typeface="Overpass SemiBold" pitchFamily="34" charset="-122"/>
                <a:cs typeface="Overpass SemiBold" pitchFamily="34" charset="-120"/>
              </a:rPr>
              <a:t>Istio, sidecar, mTLS</a:t>
            </a:r>
            <a:endParaRPr lang="en-US" sz="1500" dirty="0"/>
          </a:p>
          <a:p>
            <a:pPr indent="0" marL="0">
              <a:spcAft>
                <a:spcPts val="1400"/>
              </a:spcAft>
              <a:buNone/>
            </a:pPr>
            <a:r>
              <a:rPr lang="en-US" sz="1300" dirty="0">
                <a:solidFill>
                  <a:srgbClr val="242424"/>
                </a:solidFill>
                <a:latin typeface="Red Hat Text" pitchFamily="34" charset="0"/>
                <a:ea typeface="Red Hat Text" pitchFamily="34" charset="-122"/>
                <a:cs typeface="Red Hat Text" pitchFamily="34" charset="-120"/>
              </a:rPr>
              <a:t>Istio is a service mesh. A sidecar Envoy proxy sits beside each pod; mTLS authenticates and encrypts calls between sidecars.</a:t>
            </a:r>
            <a:endParaRPr lang="en-US" sz="1500" dirty="0"/>
          </a:p>
          <a:p>
            <a:pPr indent="0" marL="0">
              <a:spcAft>
                <a:spcPts val="200"/>
              </a:spcAft>
              <a:buNone/>
            </a:pPr>
            <a:r>
              <a:rPr lang="en-US" sz="1500" b="1" dirty="0">
                <a:solidFill>
                  <a:srgbClr val="151515"/>
                </a:solidFill>
                <a:latin typeface="Overpass SemiBold" pitchFamily="34" charset="0"/>
                <a:ea typeface="Overpass SemiBold" pitchFamily="34" charset="-122"/>
                <a:cs typeface="Overpass SemiBold" pitchFamily="34" charset="-120"/>
              </a:rPr>
              <a:t>OTLP / OpenTelemetry</a:t>
            </a:r>
            <a:endParaRPr lang="en-US" sz="1500" dirty="0"/>
          </a:p>
          <a:p>
            <a:pPr indent="0" marL="0">
              <a:spcAft>
                <a:spcPts val="1400"/>
              </a:spcAft>
              <a:buNone/>
            </a:pPr>
            <a:r>
              <a:rPr lang="en-US" sz="1300" dirty="0">
                <a:solidFill>
                  <a:srgbClr val="242424"/>
                </a:solidFill>
                <a:latin typeface="Red Hat Text" pitchFamily="34" charset="0"/>
                <a:ea typeface="Red Hat Text" pitchFamily="34" charset="-122"/>
                <a:cs typeface="Red Hat Text" pitchFamily="34" charset="-120"/>
              </a:rPr>
              <a:t>A vendor-neutral standard and wire protocol for exporting metrics, traces, and logs.</a:t>
            </a:r>
            <a:endParaRPr lang="en-US" sz="1500" dirty="0"/>
          </a:p>
        </p:txBody>
      </p:sp>
      <p:sp>
        <p:nvSpPr>
          <p:cNvPr id="5" name="Text 3"/>
          <p:cNvSpPr/>
          <p:nvPr/>
        </p:nvSpPr>
        <p:spPr>
          <a:xfrm>
            <a:off x="6263640" y="1691640"/>
            <a:ext cx="5303520" cy="4480560"/>
          </a:xfrm>
          <a:prstGeom prst="rect">
            <a:avLst/>
          </a:prstGeom>
          <a:noFill/>
          <a:ln/>
        </p:spPr>
        <p:txBody>
          <a:bodyPr wrap="square" lIns="0" tIns="0" rIns="0" bIns="0" rtlCol="0" anchor="t"/>
          <a:lstStyle/>
          <a:p>
            <a:pPr indent="0" marL="0">
              <a:spcAft>
                <a:spcPts val="200"/>
              </a:spcAft>
              <a:buNone/>
            </a:pPr>
            <a:r>
              <a:rPr lang="en-US" sz="1500" b="1" dirty="0">
                <a:solidFill>
                  <a:srgbClr val="151515"/>
                </a:solidFill>
                <a:latin typeface="Overpass SemiBold" pitchFamily="34" charset="0"/>
                <a:ea typeface="Overpass SemiBold" pitchFamily="34" charset="-122"/>
                <a:cs typeface="Overpass SemiBold" pitchFamily="34" charset="-120"/>
              </a:rPr>
              <a:t>langchain4j</a:t>
            </a:r>
            <a:endParaRPr lang="en-US" sz="1500" dirty="0"/>
          </a:p>
          <a:p>
            <a:pPr indent="0" marL="0">
              <a:spcAft>
                <a:spcPts val="1400"/>
              </a:spcAft>
              <a:buNone/>
            </a:pPr>
            <a:r>
              <a:rPr lang="en-US" sz="1300" dirty="0">
                <a:solidFill>
                  <a:srgbClr val="242424"/>
                </a:solidFill>
                <a:latin typeface="Red Hat Text" pitchFamily="34" charset="0"/>
                <a:ea typeface="Red Hat Text" pitchFamily="34" charset="-122"/>
                <a:cs typeface="Red Hat Text" pitchFamily="34" charset="-120"/>
              </a:rPr>
              <a:t>A Java library for LLM integration: chat calls, prompts, and tool calling.</a:t>
            </a:r>
            <a:endParaRPr lang="en-US" sz="1500" dirty="0"/>
          </a:p>
          <a:p>
            <a:pPr indent="0" marL="0">
              <a:spcAft>
                <a:spcPts val="200"/>
              </a:spcAft>
              <a:buNone/>
            </a:pPr>
            <a:r>
              <a:rPr lang="en-US" sz="1500" b="1" dirty="0">
                <a:solidFill>
                  <a:srgbClr val="151515"/>
                </a:solidFill>
                <a:latin typeface="Overpass SemiBold" pitchFamily="34" charset="0"/>
                <a:ea typeface="Overpass SemiBold" pitchFamily="34" charset="-122"/>
                <a:cs typeface="Overpass SemiBold" pitchFamily="34" charset="-120"/>
              </a:rPr>
              <a:t>Drools KieBase / KieSession</a:t>
            </a:r>
            <a:endParaRPr lang="en-US" sz="1500" dirty="0"/>
          </a:p>
          <a:p>
            <a:pPr indent="0" marL="0">
              <a:spcAft>
                <a:spcPts val="1400"/>
              </a:spcAft>
              <a:buNone/>
            </a:pPr>
            <a:r>
              <a:rPr lang="en-US" sz="1300" dirty="0">
                <a:solidFill>
                  <a:srgbClr val="242424"/>
                </a:solidFill>
                <a:latin typeface="Red Hat Text" pitchFamily="34" charset="0"/>
                <a:ea typeface="Red Hat Text" pitchFamily="34" charset="-122"/>
                <a:cs typeface="Red Hat Text" pitchFamily="34" charset="-120"/>
              </a:rPr>
              <a:t>A KieBase is the compiled rule set, built once. A KieSession is per-request working memory.</a:t>
            </a:r>
            <a:endParaRPr lang="en-US" sz="1500" dirty="0"/>
          </a:p>
          <a:p>
            <a:pPr indent="0" marL="0">
              <a:spcAft>
                <a:spcPts val="200"/>
              </a:spcAft>
              <a:buNone/>
            </a:pPr>
            <a:r>
              <a:rPr lang="en-US" sz="1500" b="1" dirty="0">
                <a:solidFill>
                  <a:srgbClr val="151515"/>
                </a:solidFill>
                <a:latin typeface="Overpass SemiBold" pitchFamily="34" charset="0"/>
                <a:ea typeface="Overpass SemiBold" pitchFamily="34" charset="-122"/>
                <a:cs typeface="Overpass SemiBold" pitchFamily="34" charset="-120"/>
              </a:rPr>
              <a:t>UBI</a:t>
            </a:r>
            <a:endParaRPr lang="en-US" sz="1500" dirty="0"/>
          </a:p>
          <a:p>
            <a:pPr indent="0" marL="0">
              <a:spcAft>
                <a:spcPts val="1400"/>
              </a:spcAft>
              <a:buNone/>
            </a:pPr>
            <a:r>
              <a:rPr lang="en-US" sz="1300" dirty="0">
                <a:solidFill>
                  <a:srgbClr val="242424"/>
                </a:solidFill>
                <a:latin typeface="Red Hat Text" pitchFamily="34" charset="0"/>
                <a:ea typeface="Red Hat Text" pitchFamily="34" charset="-122"/>
                <a:cs typeface="Red Hat Text" pitchFamily="34" charset="-120"/>
              </a:rPr>
              <a:t>Universal Base Image: Red Hat's redistributable container base image, used by every multi-stage build here.</a:t>
            </a:r>
            <a:endParaRPr lang="en-US" sz="1500" dirty="0"/>
          </a:p>
        </p:txBody>
      </p:sp>
      <p:sp>
        <p:nvSpPr>
          <p:cNvPr id="6" name="Text 4"/>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103</a:t>
            </a:r>
            <a:endParaRPr lang="en-US" sz="1000" dirty="0"/>
          </a:p>
        </p:txBody>
      </p:sp>
      <p:pic>
        <p:nvPicPr>
          <p:cNvPr id="7"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 BACKGROUND DIAGRAMS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From pipelines to warehouses: the earlier architectures</a:t>
            </a:r>
            <a:endParaRPr lang="en-US" sz="3000" dirty="0"/>
          </a:p>
        </p:txBody>
      </p:sp>
      <p:pic>
        <p:nvPicPr>
          <p:cNvPr id="4" name="Image 0" descr="dpng/01-data-pipeline-architecture.png">    </p:cNvPr>
          <p:cNvPicPr>
            <a:picLocks noChangeAspect="1"/>
          </p:cNvPicPr>
          <p:nvPr/>
        </p:nvPicPr>
        <p:blipFill>
          <a:blip r:embed="rId1"/>
          <a:stretch>
            <a:fillRect/>
          </a:stretch>
        </p:blipFill>
        <p:spPr>
          <a:xfrm>
            <a:off x="640080" y="2200394"/>
            <a:ext cx="5272888" cy="2502933"/>
          </a:xfrm>
          <a:prstGeom prst="rect">
            <a:avLst/>
          </a:prstGeom>
        </p:spPr>
      </p:pic>
      <p:sp>
        <p:nvSpPr>
          <p:cNvPr id="5" name="Text 2"/>
          <p:cNvSpPr/>
          <p:nvPr/>
        </p:nvSpPr>
        <p:spPr>
          <a:xfrm>
            <a:off x="640080" y="5285232"/>
            <a:ext cx="5272888" cy="365760"/>
          </a:xfrm>
          <a:prstGeom prst="rect">
            <a:avLst/>
          </a:prstGeom>
          <a:noFill/>
          <a:ln/>
        </p:spPr>
        <p:txBody>
          <a:bodyPr wrap="square" lIns="0" tIns="0" rIns="0" bIns="0" rtlCol="0" anchor="t"/>
          <a:lstStyle/>
          <a:p>
            <a:pPr algn="ctr" indent="0" marL="0">
              <a:buNone/>
            </a:pPr>
            <a:r>
              <a:rPr lang="en-US" sz="1050" i="1" dirty="0">
                <a:solidFill>
                  <a:srgbClr val="5A5A5A"/>
                </a:solidFill>
                <a:latin typeface="Red Hat Text" pitchFamily="34" charset="0"/>
                <a:ea typeface="Red Hat Text" pitchFamily="34" charset="-122"/>
                <a:cs typeface="Red Hat Text" pitchFamily="34" charset="-120"/>
              </a:rPr>
              <a:t>A linear ETL or ELT pipeline moving data from an operational source through transformation to an analytical destination.</a:t>
            </a:r>
            <a:endParaRPr lang="en-US" sz="1050" dirty="0"/>
          </a:p>
        </p:txBody>
      </p:sp>
      <p:pic>
        <p:nvPicPr>
          <p:cNvPr id="6" name="Image 1" descr="dpng/01-data-warehouse-architecture.png">    </p:cNvPr>
          <p:cNvPicPr>
            <a:picLocks noChangeAspect="1"/>
          </p:cNvPicPr>
          <p:nvPr/>
        </p:nvPicPr>
        <p:blipFill>
          <a:blip r:embed="rId2"/>
          <a:stretch>
            <a:fillRect/>
          </a:stretch>
        </p:blipFill>
        <p:spPr>
          <a:xfrm>
            <a:off x="6278728" y="2290474"/>
            <a:ext cx="5272888" cy="2322773"/>
          </a:xfrm>
          <a:prstGeom prst="rect">
            <a:avLst/>
          </a:prstGeom>
        </p:spPr>
      </p:pic>
      <p:sp>
        <p:nvSpPr>
          <p:cNvPr id="7" name="Text 3"/>
          <p:cNvSpPr/>
          <p:nvPr/>
        </p:nvSpPr>
        <p:spPr>
          <a:xfrm>
            <a:off x="6278728" y="5285232"/>
            <a:ext cx="5272888" cy="365760"/>
          </a:xfrm>
          <a:prstGeom prst="rect">
            <a:avLst/>
          </a:prstGeom>
          <a:noFill/>
          <a:ln/>
        </p:spPr>
        <p:txBody>
          <a:bodyPr wrap="square" lIns="0" tIns="0" rIns="0" bIns="0" rtlCol="0" anchor="t"/>
          <a:lstStyle/>
          <a:p>
            <a:pPr algn="ctr" indent="0" marL="0">
              <a:buNone/>
            </a:pPr>
            <a:r>
              <a:rPr lang="en-US" sz="1050" i="1" dirty="0">
                <a:solidFill>
                  <a:srgbClr val="5A5A5A"/>
                </a:solidFill>
                <a:latin typeface="Red Hat Text" pitchFamily="34" charset="0"/>
                <a:ea typeface="Red Hat Text" pitchFamily="34" charset="-122"/>
                <a:cs typeface="Red Hat Text" pitchFamily="34" charset="-120"/>
              </a:rPr>
              <a:t>Multiple operational sources feeding a centralized, schema-on-write warehouse owned by a central team.</a:t>
            </a:r>
            <a:endParaRPr lang="en-US" sz="1050" dirty="0"/>
          </a:p>
        </p:txBody>
      </p:sp>
      <p:sp>
        <p:nvSpPr>
          <p:cNvPr id="8" name="Text 4"/>
          <p:cNvSpPr/>
          <p:nvPr/>
        </p:nvSpPr>
        <p:spPr>
          <a:xfrm>
            <a:off x="731520" y="6080760"/>
            <a:ext cx="10728655" cy="365760"/>
          </a:xfrm>
          <a:prstGeom prst="rect">
            <a:avLst/>
          </a:prstGeom>
          <a:noFill/>
          <a:ln/>
        </p:spPr>
        <p:txBody>
          <a:bodyPr wrap="square" lIns="0" tIns="0" rIns="0" bIns="0" rtlCol="0" anchor="t"/>
          <a:lstStyle/>
          <a:p>
            <a:pPr algn="ctr" indent="0" marL="0">
              <a:buNone/>
            </a:pPr>
            <a:r>
              <a:rPr lang="en-US" sz="1100" i="1" dirty="0">
                <a:solidFill>
                  <a:srgbClr val="5A5A5A"/>
                </a:solidFill>
                <a:latin typeface="Red Hat Text" pitchFamily="34" charset="0"/>
                <a:ea typeface="Red Hat Text" pitchFamily="34" charset="-122"/>
                <a:cs typeface="Red Hat Text" pitchFamily="34" charset="-120"/>
              </a:rPr>
              <a:t>Background: earlier data architectures, from pipelines to warehouses.</a:t>
            </a:r>
            <a:endParaRPr lang="en-US" sz="1100" dirty="0"/>
          </a:p>
        </p:txBody>
      </p:sp>
      <p:sp>
        <p:nvSpPr>
          <p:cNvPr id="9"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104</a:t>
            </a:r>
            <a:endParaRPr lang="en-US" sz="1000" dirty="0"/>
          </a:p>
        </p:txBody>
      </p:sp>
      <p:pic>
        <p:nvPicPr>
          <p:cNvPr id="10" name="Image 2" descr="brand-logo-dark.png">    </p:cNvPr>
          <p:cNvPicPr>
            <a:picLocks noChangeAspect="1"/>
          </p:cNvPicPr>
          <p:nvPr/>
        </p:nvPicPr>
        <p:blipFill>
          <a:blip r:embed="rId3"/>
          <a:stretch>
            <a:fillRect/>
          </a:stretch>
        </p:blipFill>
        <p:spPr>
          <a:xfrm>
            <a:off x="10591495" y="6353919"/>
            <a:ext cx="1051560" cy="248049"/>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 BACKGROUND DIAGRAMS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data lake, and the shift to decentralization</a:t>
            </a:r>
            <a:endParaRPr lang="en-US" sz="3000" dirty="0"/>
          </a:p>
        </p:txBody>
      </p:sp>
      <p:pic>
        <p:nvPicPr>
          <p:cNvPr id="4" name="Image 0" descr="dpng/01-data-lake-architecture.png">    </p:cNvPr>
          <p:cNvPicPr>
            <a:picLocks noChangeAspect="1"/>
          </p:cNvPicPr>
          <p:nvPr/>
        </p:nvPicPr>
        <p:blipFill>
          <a:blip r:embed="rId1"/>
          <a:stretch>
            <a:fillRect/>
          </a:stretch>
        </p:blipFill>
        <p:spPr>
          <a:xfrm>
            <a:off x="640080" y="2290474"/>
            <a:ext cx="5272888" cy="2322773"/>
          </a:xfrm>
          <a:prstGeom prst="rect">
            <a:avLst/>
          </a:prstGeom>
        </p:spPr>
      </p:pic>
      <p:sp>
        <p:nvSpPr>
          <p:cNvPr id="5" name="Text 2"/>
          <p:cNvSpPr/>
          <p:nvPr/>
        </p:nvSpPr>
        <p:spPr>
          <a:xfrm>
            <a:off x="640080" y="5285232"/>
            <a:ext cx="5272888" cy="365760"/>
          </a:xfrm>
          <a:prstGeom prst="rect">
            <a:avLst/>
          </a:prstGeom>
          <a:noFill/>
          <a:ln/>
        </p:spPr>
        <p:txBody>
          <a:bodyPr wrap="square" lIns="0" tIns="0" rIns="0" bIns="0" rtlCol="0" anchor="t"/>
          <a:lstStyle/>
          <a:p>
            <a:pPr algn="ctr" indent="0" marL="0">
              <a:buNone/>
            </a:pPr>
            <a:r>
              <a:rPr lang="en-US" sz="1050" i="1" dirty="0">
                <a:solidFill>
                  <a:srgbClr val="5A5A5A"/>
                </a:solidFill>
                <a:latin typeface="Red Hat Text" pitchFamily="34" charset="0"/>
                <a:ea typeface="Red Hat Text" pitchFamily="34" charset="-122"/>
                <a:cs typeface="Red Hat Text" pitchFamily="34" charset="-120"/>
              </a:rPr>
              <a:t>A data lake organized into raw, curated, and refined zones, accepting structured, semi-structured, and unstructured data.</a:t>
            </a:r>
            <a:endParaRPr lang="en-US" sz="1050" dirty="0"/>
          </a:p>
        </p:txBody>
      </p:sp>
      <p:pic>
        <p:nvPicPr>
          <p:cNvPr id="6" name="Image 1" descr="dpng/01-data-mesh-decentralized.png">    </p:cNvPr>
          <p:cNvPicPr>
            <a:picLocks noChangeAspect="1"/>
          </p:cNvPicPr>
          <p:nvPr/>
        </p:nvPicPr>
        <p:blipFill>
          <a:blip r:embed="rId2"/>
          <a:stretch>
            <a:fillRect/>
          </a:stretch>
        </p:blipFill>
        <p:spPr>
          <a:xfrm>
            <a:off x="6278728" y="2290474"/>
            <a:ext cx="5272888" cy="2322773"/>
          </a:xfrm>
          <a:prstGeom prst="rect">
            <a:avLst/>
          </a:prstGeom>
        </p:spPr>
      </p:pic>
      <p:sp>
        <p:nvSpPr>
          <p:cNvPr id="7" name="Text 3"/>
          <p:cNvSpPr/>
          <p:nvPr/>
        </p:nvSpPr>
        <p:spPr>
          <a:xfrm>
            <a:off x="6278728" y="5285232"/>
            <a:ext cx="5272888" cy="365760"/>
          </a:xfrm>
          <a:prstGeom prst="rect">
            <a:avLst/>
          </a:prstGeom>
          <a:noFill/>
          <a:ln/>
        </p:spPr>
        <p:txBody>
          <a:bodyPr wrap="square" lIns="0" tIns="0" rIns="0" bIns="0" rtlCol="0" anchor="t"/>
          <a:lstStyle/>
          <a:p>
            <a:pPr algn="ctr" indent="0" marL="0">
              <a:buNone/>
            </a:pPr>
            <a:r>
              <a:rPr lang="en-US" sz="1050" i="1" dirty="0">
                <a:solidFill>
                  <a:srgbClr val="5A5A5A"/>
                </a:solidFill>
                <a:latin typeface="Red Hat Text" pitchFamily="34" charset="0"/>
                <a:ea typeface="Red Hat Text" pitchFamily="34" charset="-122"/>
                <a:cs typeface="Red Hat Text" pitchFamily="34" charset="-120"/>
              </a:rPr>
              <a:t>Multiple domain teams each owning a data product, connected by a shared self-serve platform instead of a central team.</a:t>
            </a:r>
            <a:endParaRPr lang="en-US" sz="1050" dirty="0"/>
          </a:p>
        </p:txBody>
      </p:sp>
      <p:sp>
        <p:nvSpPr>
          <p:cNvPr id="8" name="Text 4"/>
          <p:cNvSpPr/>
          <p:nvPr/>
        </p:nvSpPr>
        <p:spPr>
          <a:xfrm>
            <a:off x="731520" y="6080760"/>
            <a:ext cx="10728655" cy="365760"/>
          </a:xfrm>
          <a:prstGeom prst="rect">
            <a:avLst/>
          </a:prstGeom>
          <a:noFill/>
          <a:ln/>
        </p:spPr>
        <p:txBody>
          <a:bodyPr wrap="square" lIns="0" tIns="0" rIns="0" bIns="0" rtlCol="0" anchor="t"/>
          <a:lstStyle/>
          <a:p>
            <a:pPr algn="ctr" indent="0" marL="0">
              <a:buNone/>
            </a:pPr>
            <a:r>
              <a:rPr lang="en-US" sz="1100" i="1" dirty="0">
                <a:solidFill>
                  <a:srgbClr val="5A5A5A"/>
                </a:solidFill>
                <a:latin typeface="Red Hat Text" pitchFamily="34" charset="0"/>
                <a:ea typeface="Red Hat Text" pitchFamily="34" charset="-122"/>
                <a:cs typeface="Red Hat Text" pitchFamily="34" charset="-120"/>
              </a:rPr>
              <a:t>Background: the data lake and the shift to decentralization.</a:t>
            </a:r>
            <a:endParaRPr lang="en-US" sz="1100" dirty="0"/>
          </a:p>
        </p:txBody>
      </p:sp>
      <p:sp>
        <p:nvSpPr>
          <p:cNvPr id="9"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105</a:t>
            </a:r>
            <a:endParaRPr lang="en-US" sz="1000" dirty="0"/>
          </a:p>
        </p:txBody>
      </p:sp>
      <p:pic>
        <p:nvPicPr>
          <p:cNvPr id="10" name="Image 2" descr="brand-logo-dark.png">    </p:cNvPr>
          <p:cNvPicPr>
            <a:picLocks noChangeAspect="1"/>
          </p:cNvPicPr>
          <p:nvPr/>
        </p:nvPicPr>
        <p:blipFill>
          <a:blip r:embed="rId3"/>
          <a:stretch>
            <a:fillRect/>
          </a:stretch>
        </p:blipFill>
        <p:spPr>
          <a:xfrm>
            <a:off x="10591495" y="6353919"/>
            <a:ext cx="1051560" cy="248049"/>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 BACKGROUND DIAGRAMS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monolith-to-mesh refactor, and its timeline</a:t>
            </a:r>
            <a:endParaRPr lang="en-US" sz="3000" dirty="0"/>
          </a:p>
        </p:txBody>
      </p:sp>
      <p:pic>
        <p:nvPicPr>
          <p:cNvPr id="4" name="Image 0" descr="dpng/01-monolith-to-mesh.png">    </p:cNvPr>
          <p:cNvPicPr>
            <a:picLocks noChangeAspect="1"/>
          </p:cNvPicPr>
          <p:nvPr/>
        </p:nvPicPr>
        <p:blipFill>
          <a:blip r:embed="rId1"/>
          <a:stretch>
            <a:fillRect/>
          </a:stretch>
        </p:blipFill>
        <p:spPr>
          <a:xfrm>
            <a:off x="640080" y="2245434"/>
            <a:ext cx="5272888" cy="2412853"/>
          </a:xfrm>
          <a:prstGeom prst="rect">
            <a:avLst/>
          </a:prstGeom>
        </p:spPr>
      </p:pic>
      <p:sp>
        <p:nvSpPr>
          <p:cNvPr id="5" name="Text 2"/>
          <p:cNvSpPr/>
          <p:nvPr/>
        </p:nvSpPr>
        <p:spPr>
          <a:xfrm>
            <a:off x="640080" y="5285232"/>
            <a:ext cx="5272888" cy="365760"/>
          </a:xfrm>
          <a:prstGeom prst="rect">
            <a:avLst/>
          </a:prstGeom>
          <a:noFill/>
          <a:ln/>
        </p:spPr>
        <p:txBody>
          <a:bodyPr wrap="square" lIns="0" tIns="0" rIns="0" bIns="0" rtlCol="0" anchor="t"/>
          <a:lstStyle/>
          <a:p>
            <a:pPr algn="ctr" indent="0" marL="0">
              <a:buNone/>
            </a:pPr>
            <a:r>
              <a:rPr lang="en-US" sz="1050" i="1" dirty="0">
                <a:solidFill>
                  <a:srgbClr val="5A5A5A"/>
                </a:solidFill>
                <a:latin typeface="Red Hat Text" pitchFamily="34" charset="0"/>
                <a:ea typeface="Red Hat Text" pitchFamily="34" charset="-122"/>
                <a:cs typeface="Red Hat Text" pitchFamily="34" charset="-120"/>
              </a:rPr>
              <a:t>A monolithic application and its monolithic data platform both decomposing into domain-owned services and domain-owned data products.</a:t>
            </a:r>
            <a:endParaRPr lang="en-US" sz="1050" dirty="0"/>
          </a:p>
        </p:txBody>
      </p:sp>
      <p:pic>
        <p:nvPicPr>
          <p:cNvPr id="6" name="Image 1" descr="dpng/01-architecture-evolution.png">    </p:cNvPr>
          <p:cNvPicPr>
            <a:picLocks noChangeAspect="1"/>
          </p:cNvPicPr>
          <p:nvPr/>
        </p:nvPicPr>
        <p:blipFill>
          <a:blip r:embed="rId2"/>
          <a:stretch>
            <a:fillRect/>
          </a:stretch>
        </p:blipFill>
        <p:spPr>
          <a:xfrm>
            <a:off x="6278728" y="2200394"/>
            <a:ext cx="5272888" cy="2502933"/>
          </a:xfrm>
          <a:prstGeom prst="rect">
            <a:avLst/>
          </a:prstGeom>
        </p:spPr>
      </p:pic>
      <p:sp>
        <p:nvSpPr>
          <p:cNvPr id="7" name="Text 3"/>
          <p:cNvSpPr/>
          <p:nvPr/>
        </p:nvSpPr>
        <p:spPr>
          <a:xfrm>
            <a:off x="6278728" y="5285232"/>
            <a:ext cx="5272888" cy="365760"/>
          </a:xfrm>
          <a:prstGeom prst="rect">
            <a:avLst/>
          </a:prstGeom>
          <a:noFill/>
          <a:ln/>
        </p:spPr>
        <p:txBody>
          <a:bodyPr wrap="square" lIns="0" tIns="0" rIns="0" bIns="0" rtlCol="0" anchor="t"/>
          <a:lstStyle/>
          <a:p>
            <a:pPr algn="ctr" indent="0" marL="0">
              <a:buNone/>
            </a:pPr>
            <a:r>
              <a:rPr lang="en-US" sz="1050" i="1" dirty="0">
                <a:solidFill>
                  <a:srgbClr val="5A5A5A"/>
                </a:solidFill>
                <a:latin typeface="Red Hat Text" pitchFamily="34" charset="0"/>
                <a:ea typeface="Red Hat Text" pitchFamily="34" charset="-122"/>
                <a:cs typeface="Red Hat Text" pitchFamily="34" charset="-120"/>
              </a:rPr>
              <a:t>The progression from pipelines to warehouses to lakes to mesh, with the problem each pattern solved.</a:t>
            </a:r>
            <a:endParaRPr lang="en-US" sz="1050" dirty="0"/>
          </a:p>
        </p:txBody>
      </p:sp>
      <p:sp>
        <p:nvSpPr>
          <p:cNvPr id="8" name="Text 4"/>
          <p:cNvSpPr/>
          <p:nvPr/>
        </p:nvSpPr>
        <p:spPr>
          <a:xfrm>
            <a:off x="731520" y="6080760"/>
            <a:ext cx="10728655" cy="365760"/>
          </a:xfrm>
          <a:prstGeom prst="rect">
            <a:avLst/>
          </a:prstGeom>
          <a:noFill/>
          <a:ln/>
        </p:spPr>
        <p:txBody>
          <a:bodyPr wrap="square" lIns="0" tIns="0" rIns="0" bIns="0" rtlCol="0" anchor="t"/>
          <a:lstStyle/>
          <a:p>
            <a:pPr algn="ctr" indent="0" marL="0">
              <a:buNone/>
            </a:pPr>
            <a:r>
              <a:rPr lang="en-US" sz="1100" i="1" dirty="0">
                <a:solidFill>
                  <a:srgbClr val="5A5A5A"/>
                </a:solidFill>
                <a:latin typeface="Red Hat Text" pitchFamily="34" charset="0"/>
                <a:ea typeface="Red Hat Text" pitchFamily="34" charset="-122"/>
                <a:cs typeface="Red Hat Text" pitchFamily="34" charset="-120"/>
              </a:rPr>
              <a:t>Background: the monolith-to-mesh refactor and the evolution of data architectures.</a:t>
            </a:r>
            <a:endParaRPr lang="en-US" sz="1100" dirty="0"/>
          </a:p>
        </p:txBody>
      </p:sp>
      <p:sp>
        <p:nvSpPr>
          <p:cNvPr id="9"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106</a:t>
            </a:r>
            <a:endParaRPr lang="en-US" sz="1000" dirty="0"/>
          </a:p>
        </p:txBody>
      </p:sp>
      <p:pic>
        <p:nvPicPr>
          <p:cNvPr id="10" name="Image 2" descr="brand-logo-dark.png">    </p:cNvPr>
          <p:cNvPicPr>
            <a:picLocks noChangeAspect="1"/>
          </p:cNvPicPr>
          <p:nvPr/>
        </p:nvPicPr>
        <p:blipFill>
          <a:blip r:embed="rId3"/>
          <a:stretch>
            <a:fillRect/>
          </a:stretch>
        </p:blipFill>
        <p:spPr>
          <a:xfrm>
            <a:off x="10591495" y="6353919"/>
            <a:ext cx="1051560" cy="248049"/>
          </a:xfrm>
          <a:prstGeom prst="rect">
            <a:avLst/>
          </a:prstGeom>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 BACKGROUND DIAGRAMS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full project example on Kubernetes</a:t>
            </a:r>
            <a:endParaRPr lang="en-US" sz="3000" dirty="0"/>
          </a:p>
        </p:txBody>
      </p:sp>
      <p:pic>
        <p:nvPicPr>
          <p:cNvPr id="4" name="Image 0" descr="dpng/02-final-project-data-mesh.png">    </p:cNvPr>
          <p:cNvPicPr>
            <a:picLocks noChangeAspect="1"/>
          </p:cNvPicPr>
          <p:nvPr/>
        </p:nvPicPr>
        <p:blipFill>
          <a:blip r:embed="rId1"/>
          <a:stretch>
            <a:fillRect/>
          </a:stretch>
        </p:blipFill>
        <p:spPr>
          <a:xfrm>
            <a:off x="2991847" y="1645920"/>
            <a:ext cx="6208001"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The complete data mesh reference architecture on Kubernetes: domain services, the service mesh, and the self-serve platform tier underneath.</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107</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 BACKGROUND DIAGRAMS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Operational vs. analytical data</a:t>
            </a:r>
            <a:endParaRPr lang="en-US" sz="3000" dirty="0"/>
          </a:p>
        </p:txBody>
      </p:sp>
      <p:pic>
        <p:nvPicPr>
          <p:cNvPr id="4" name="Image 0" descr="dpng/01-operational-vs-analytical.png">    </p:cNvPr>
          <p:cNvPicPr>
            <a:picLocks noChangeAspect="1"/>
          </p:cNvPicPr>
          <p:nvPr/>
        </p:nvPicPr>
        <p:blipFill>
          <a:blip r:embed="rId1"/>
          <a:stretch>
            <a:fillRect/>
          </a:stretch>
        </p:blipFill>
        <p:spPr>
          <a:xfrm>
            <a:off x="1053268" y="1645920"/>
            <a:ext cx="10085159"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The operational plane runs the business; the analytical plane informs decisions. Pipelines have traditionally bridged them; a mesh keeps both owned by the domain.</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108</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109</a:t>
            </a:r>
            <a:endParaRPr lang="en-US" sz="1000" dirty="0"/>
          </a:p>
        </p:txBody>
      </p:sp>
      <p:pic>
        <p:nvPicPr>
          <p:cNvPr id="3"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
        <p:nvSpPr>
          <p:cNvPr id="4" name="Text 1"/>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SCAN TO EXPLORE</a:t>
            </a:r>
            <a:endParaRPr lang="en-US" sz="1200" dirty="0"/>
          </a:p>
        </p:txBody>
      </p:sp>
      <p:sp>
        <p:nvSpPr>
          <p:cNvPr id="5" name="Text 2"/>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Take it with you</a:t>
            </a:r>
            <a:endParaRPr lang="en-US" sz="3000" dirty="0"/>
          </a:p>
        </p:txBody>
      </p:sp>
      <p:pic>
        <p:nvPicPr>
          <p:cNvPr id="6" name="Image 1" descr="qr-site.png">    </p:cNvPr>
          <p:cNvPicPr>
            <a:picLocks noChangeAspect="1"/>
          </p:cNvPicPr>
          <p:nvPr/>
        </p:nvPicPr>
        <p:blipFill>
          <a:blip r:embed="rId2"/>
          <a:stretch>
            <a:fillRect/>
          </a:stretch>
        </p:blipFill>
        <p:spPr>
          <a:xfrm>
            <a:off x="2103120" y="1783080"/>
            <a:ext cx="2834640" cy="2834640"/>
          </a:xfrm>
          <a:prstGeom prst="rect">
            <a:avLst/>
          </a:prstGeom>
        </p:spPr>
      </p:pic>
      <p:sp>
        <p:nvSpPr>
          <p:cNvPr id="7" name="Text 3"/>
          <p:cNvSpPr/>
          <p:nvPr/>
        </p:nvSpPr>
        <p:spPr>
          <a:xfrm>
            <a:off x="1417320" y="4754880"/>
            <a:ext cx="4206240" cy="365760"/>
          </a:xfrm>
          <a:prstGeom prst="rect">
            <a:avLst/>
          </a:prstGeom>
          <a:noFill/>
          <a:ln/>
        </p:spPr>
        <p:txBody>
          <a:bodyPr wrap="square" lIns="0" tIns="0" rIns="0" bIns="0" rtlCol="0" anchor="ctr"/>
          <a:lstStyle/>
          <a:p>
            <a:pPr algn="ctr" indent="0" marL="0">
              <a:buNone/>
            </a:pPr>
            <a:r>
              <a:rPr lang="en-US" sz="1800" b="1" dirty="0">
                <a:solidFill>
                  <a:srgbClr val="151515"/>
                </a:solidFill>
                <a:latin typeface="Overpass SemiBold" pitchFamily="34" charset="0"/>
                <a:ea typeface="Overpass SemiBold" pitchFamily="34" charset="-122"/>
                <a:cs typeface="Overpass SemiBold" pitchFamily="34" charset="-120"/>
              </a:rPr>
              <a:t>The reference architecture</a:t>
            </a:r>
            <a:endParaRPr lang="en-US" sz="1800" dirty="0"/>
          </a:p>
        </p:txBody>
      </p:sp>
      <p:sp>
        <p:nvSpPr>
          <p:cNvPr id="8" name="Text 4"/>
          <p:cNvSpPr/>
          <p:nvPr/>
        </p:nvSpPr>
        <p:spPr>
          <a:xfrm>
            <a:off x="1325880" y="5138928"/>
            <a:ext cx="4389120" cy="640080"/>
          </a:xfrm>
          <a:prstGeom prst="rect">
            <a:avLst/>
          </a:prstGeom>
          <a:noFill/>
          <a:ln/>
        </p:spPr>
        <p:txBody>
          <a:bodyPr wrap="square" lIns="0" tIns="0" rIns="0" bIns="0"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Site, runnable Quarkus services, contracts, and the minikube bootstrap</a:t>
            </a:r>
            <a:endParaRPr lang="en-US" sz="1300" dirty="0"/>
          </a:p>
        </p:txBody>
      </p:sp>
      <p:sp>
        <p:nvSpPr>
          <p:cNvPr id="9" name="Text 5"/>
          <p:cNvSpPr/>
          <p:nvPr/>
        </p:nvSpPr>
        <p:spPr>
          <a:xfrm>
            <a:off x="1325880" y="5760720"/>
            <a:ext cx="4389120" cy="292608"/>
          </a:xfrm>
          <a:prstGeom prst="rect">
            <a:avLst/>
          </a:prstGeom>
          <a:noFill/>
          <a:ln/>
        </p:spPr>
        <p:txBody>
          <a:bodyPr wrap="square" lIns="0" tIns="0" rIns="0" bIns="0" rtlCol="0" anchor="ctr"/>
          <a:lstStyle/>
          <a:p>
            <a:pPr algn="ctr" indent="0" marL="0">
              <a:buNone/>
            </a:pPr>
            <a:r>
              <a:rPr lang="en-US" sz="1000" dirty="0">
                <a:solidFill>
                  <a:srgbClr val="EE0000"/>
                </a:solidFill>
                <a:latin typeface="Red Hat Mono" pitchFamily="34" charset="0"/>
                <a:ea typeface="Red Hat Mono" pitchFamily="34" charset="-122"/>
                <a:cs typeface="Red Hat Mono" pitchFamily="34" charset="-120"/>
              </a:rPr>
              <a:t>patterncatalyst.github.io/datamesh-reference-arch-quarkus</a:t>
            </a:r>
            <a:endParaRPr lang="en-US" sz="1000" dirty="0"/>
          </a:p>
        </p:txBody>
      </p:sp>
      <p:pic>
        <p:nvPicPr>
          <p:cNvPr id="10" name="Image 2" descr="qr-hub.png">    </p:cNvPr>
          <p:cNvPicPr>
            <a:picLocks noChangeAspect="1"/>
          </p:cNvPicPr>
          <p:nvPr/>
        </p:nvPicPr>
        <p:blipFill>
          <a:blip r:embed="rId3"/>
          <a:stretch>
            <a:fillRect/>
          </a:stretch>
        </p:blipFill>
        <p:spPr>
          <a:xfrm>
            <a:off x="7251192" y="1783080"/>
            <a:ext cx="2834640" cy="2834640"/>
          </a:xfrm>
          <a:prstGeom prst="rect">
            <a:avLst/>
          </a:prstGeom>
        </p:spPr>
      </p:pic>
      <p:sp>
        <p:nvSpPr>
          <p:cNvPr id="11" name="Text 6"/>
          <p:cNvSpPr/>
          <p:nvPr/>
        </p:nvSpPr>
        <p:spPr>
          <a:xfrm>
            <a:off x="6565392" y="4754880"/>
            <a:ext cx="4206240" cy="365760"/>
          </a:xfrm>
          <a:prstGeom prst="rect">
            <a:avLst/>
          </a:prstGeom>
          <a:noFill/>
          <a:ln/>
        </p:spPr>
        <p:txBody>
          <a:bodyPr wrap="square" lIns="0" tIns="0" rIns="0" bIns="0" rtlCol="0" anchor="ctr"/>
          <a:lstStyle/>
          <a:p>
            <a:pPr algn="ctr" indent="0" marL="0">
              <a:buNone/>
            </a:pPr>
            <a:r>
              <a:rPr lang="en-US" sz="1800" b="1" dirty="0">
                <a:solidFill>
                  <a:srgbClr val="151515"/>
                </a:solidFill>
                <a:latin typeface="Overpass SemiBold" pitchFamily="34" charset="0"/>
                <a:ea typeface="Overpass SemiBold" pitchFamily="34" charset="-122"/>
                <a:cs typeface="Overpass SemiBold" pitchFamily="34" charset="-120"/>
              </a:rPr>
              <a:t>Workshops &amp; Tutorials</a:t>
            </a:r>
            <a:endParaRPr lang="en-US" sz="1800" dirty="0"/>
          </a:p>
        </p:txBody>
      </p:sp>
      <p:sp>
        <p:nvSpPr>
          <p:cNvPr id="12" name="Text 7"/>
          <p:cNvSpPr/>
          <p:nvPr/>
        </p:nvSpPr>
        <p:spPr>
          <a:xfrm>
            <a:off x="6473952" y="5138928"/>
            <a:ext cx="4389120" cy="640080"/>
          </a:xfrm>
          <a:prstGeom prst="rect">
            <a:avLst/>
          </a:prstGeom>
          <a:noFill/>
          <a:ln/>
        </p:spPr>
        <p:txBody>
          <a:bodyPr wrap="square" lIns="0" tIns="0" rIns="0" bIns="0"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whole series: every workshop, tutorial, and deck in one place</a:t>
            </a:r>
            <a:endParaRPr lang="en-US" sz="1300" dirty="0"/>
          </a:p>
        </p:txBody>
      </p:sp>
      <p:sp>
        <p:nvSpPr>
          <p:cNvPr id="13" name="Text 8"/>
          <p:cNvSpPr/>
          <p:nvPr/>
        </p:nvSpPr>
        <p:spPr>
          <a:xfrm>
            <a:off x="6382512" y="5760720"/>
            <a:ext cx="4572000" cy="292608"/>
          </a:xfrm>
          <a:prstGeom prst="rect">
            <a:avLst/>
          </a:prstGeom>
          <a:noFill/>
          <a:ln/>
        </p:spPr>
        <p:txBody>
          <a:bodyPr wrap="square" lIns="0" tIns="0" rIns="0" bIns="0"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patterncatalyst.github.io/patterncatalyst-workshops-tutorials-list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110</Slides>
  <Notes>110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110</vt:i4>
      </vt:variant>
    </vt:vector>
  </HeadingPairs>
  <TitlesOfParts>
    <vt:vector size="1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a Datamesh using Quarkus and Kubernetes</dc:title>
  <dc:subject>PptxGenJS Presentation</dc:subject>
  <dc:creator>Robert Sedor</dc:creator>
  <cp:lastModifiedBy>Robert Sedor</cp:lastModifiedBy>
  <cp:revision>1</cp:revision>
  <dcterms:created xsi:type="dcterms:W3CDTF">2026-10-23T02:04:57Z</dcterms:created>
  <dcterms:modified xsi:type="dcterms:W3CDTF">2026-10-23T02:04:57Z</dcterms:modified>
</cp:coreProperties>
</file>